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diagrams/layout3.xml" ContentType="application/vnd.openxmlformats-officedocument.drawingml.diagramLayout+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ppt/diagrams/colors3.xml" ContentType="application/vnd.openxmlformats-officedocument.drawingml.diagramColors+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diagrams/quickStyle3.xml" ContentType="application/vnd.openxmlformats-officedocument.drawingml.diagramStyl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Default Extension="jpeg" ContentType="image/jpeg"/>
  <Override PartName="/ppt/slideLayouts/slideLayout3.xml" ContentType="application/vnd.openxmlformats-officedocument.presentationml.slideLayout+xml"/>
  <Override PartName="/ppt/diagrams/quickStyle1.xml" ContentType="application/vnd.openxmlformats-officedocument.drawingml.diagramStyle+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data3.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65" r:id="rId3"/>
    <p:sldId id="266" r:id="rId4"/>
    <p:sldId id="260" r:id="rId5"/>
    <p:sldId id="258" r:id="rId6"/>
    <p:sldId id="270" r:id="rId7"/>
    <p:sldId id="274" r:id="rId8"/>
    <p:sldId id="273" r:id="rId9"/>
    <p:sldId id="272" r:id="rId10"/>
    <p:sldId id="259" r:id="rId11"/>
    <p:sldId id="271" r:id="rId12"/>
    <p:sldId id="261" r:id="rId13"/>
    <p:sldId id="280" r:id="rId14"/>
    <p:sldId id="262" r:id="rId15"/>
    <p:sldId id="275" r:id="rId16"/>
    <p:sldId id="263" r:id="rId17"/>
    <p:sldId id="269" r:id="rId18"/>
    <p:sldId id="296" r:id="rId19"/>
    <p:sldId id="297" r:id="rId20"/>
    <p:sldId id="326" r:id="rId21"/>
    <p:sldId id="298" r:id="rId22"/>
    <p:sldId id="299" r:id="rId23"/>
    <p:sldId id="300" r:id="rId24"/>
    <p:sldId id="301" r:id="rId25"/>
    <p:sldId id="310" r:id="rId26"/>
    <p:sldId id="311" r:id="rId27"/>
    <p:sldId id="312" r:id="rId28"/>
    <p:sldId id="313" r:id="rId29"/>
    <p:sldId id="314" r:id="rId30"/>
    <p:sldId id="315" r:id="rId31"/>
    <p:sldId id="316" r:id="rId32"/>
    <p:sldId id="317" r:id="rId33"/>
    <p:sldId id="318" r:id="rId34"/>
    <p:sldId id="319" r:id="rId35"/>
    <p:sldId id="320" r:id="rId36"/>
    <p:sldId id="321" r:id="rId37"/>
    <p:sldId id="322" r:id="rId38"/>
    <p:sldId id="323" r:id="rId39"/>
    <p:sldId id="325" r:id="rId40"/>
    <p:sldId id="324" r:id="rId41"/>
    <p:sldId id="264" r:id="rId42"/>
    <p:sldId id="267" r:id="rId43"/>
    <p:sldId id="268" r:id="rId44"/>
    <p:sldId id="276" r:id="rId45"/>
    <p:sldId id="277" r:id="rId46"/>
    <p:sldId id="288" r:id="rId47"/>
    <p:sldId id="289" r:id="rId48"/>
    <p:sldId id="290" r:id="rId49"/>
    <p:sldId id="291" r:id="rId50"/>
    <p:sldId id="292" r:id="rId51"/>
    <p:sldId id="293" r:id="rId52"/>
    <p:sldId id="294" r:id="rId53"/>
    <p:sldId id="281"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10" d="100"/>
          <a:sy n="110" d="100"/>
        </p:scale>
        <p:origin x="-1644"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5CB4AA-4157-4C84-A5F6-100166C87A9A}"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AD1EE45B-EFC8-45AE-9C15-AB6F0AE92930}">
      <dgm:prSet phldrT="[Text]"/>
      <dgm:spPr/>
      <dgm:t>
        <a:bodyPr/>
        <a:lstStyle/>
        <a:p>
          <a:r>
            <a:rPr lang="en-US" dirty="0" smtClean="0"/>
            <a:t>Macroscopic</a:t>
          </a:r>
          <a:endParaRPr lang="en-US" dirty="0"/>
        </a:p>
      </dgm:t>
    </dgm:pt>
    <dgm:pt modelId="{BDC2F798-6ED4-48BF-8694-64B453BE6168}" type="parTrans" cxnId="{A1E2ECD4-8EA1-45EE-8EB4-A9D1048AD606}">
      <dgm:prSet/>
      <dgm:spPr/>
      <dgm:t>
        <a:bodyPr/>
        <a:lstStyle/>
        <a:p>
          <a:endParaRPr lang="en-US"/>
        </a:p>
      </dgm:t>
    </dgm:pt>
    <dgm:pt modelId="{016768BE-E807-4969-A6B2-62E84E9A7FE9}" type="sibTrans" cxnId="{A1E2ECD4-8EA1-45EE-8EB4-A9D1048AD606}">
      <dgm:prSet/>
      <dgm:spPr/>
      <dgm:t>
        <a:bodyPr/>
        <a:lstStyle/>
        <a:p>
          <a:endParaRPr lang="en-US"/>
        </a:p>
      </dgm:t>
    </dgm:pt>
    <dgm:pt modelId="{EB3A6DC6-59FB-4991-BA98-1D06E1AC4629}">
      <dgm:prSet phldrT="[Text]"/>
      <dgm:spPr/>
      <dgm:t>
        <a:bodyPr/>
        <a:lstStyle/>
        <a:p>
          <a:r>
            <a:rPr lang="en-US" dirty="0" smtClean="0"/>
            <a:t>A </a:t>
          </a:r>
          <a:r>
            <a:rPr lang="en-US" b="1" dirty="0" smtClean="0">
              <a:solidFill>
                <a:srgbClr val="0070C0"/>
              </a:solidFill>
            </a:rPr>
            <a:t>quantity of matter </a:t>
          </a:r>
          <a:r>
            <a:rPr lang="en-US" dirty="0" smtClean="0"/>
            <a:t>is taken into account for analysis .It does not consider matter at molecular level.</a:t>
          </a:r>
        </a:p>
      </dgm:t>
    </dgm:pt>
    <dgm:pt modelId="{070AB78D-6740-4411-9B36-7A2A52FF81FE}" type="parTrans" cxnId="{250BEF9A-4608-4E24-A082-2980C40FCE35}">
      <dgm:prSet/>
      <dgm:spPr/>
      <dgm:t>
        <a:bodyPr/>
        <a:lstStyle/>
        <a:p>
          <a:endParaRPr lang="en-US" dirty="0"/>
        </a:p>
      </dgm:t>
    </dgm:pt>
    <dgm:pt modelId="{95478DFC-8086-4D9A-BE3F-708A10DC8B3F}" type="sibTrans" cxnId="{250BEF9A-4608-4E24-A082-2980C40FCE35}">
      <dgm:prSet/>
      <dgm:spPr/>
      <dgm:t>
        <a:bodyPr/>
        <a:lstStyle/>
        <a:p>
          <a:endParaRPr lang="en-US"/>
        </a:p>
      </dgm:t>
    </dgm:pt>
    <dgm:pt modelId="{41DD08FC-77CA-44EF-8294-B6A9A319837A}">
      <dgm:prSet phldrT="[Text]"/>
      <dgm:spPr/>
      <dgm:t>
        <a:bodyPr/>
        <a:lstStyle/>
        <a:p>
          <a:r>
            <a:rPr lang="en-US" dirty="0" smtClean="0"/>
            <a:t>This kind of approach is made in </a:t>
          </a:r>
          <a:r>
            <a:rPr lang="en-US" b="1" dirty="0" smtClean="0">
              <a:solidFill>
                <a:srgbClr val="00B0F0"/>
              </a:solidFill>
            </a:rPr>
            <a:t>classical thermodynamics</a:t>
          </a:r>
          <a:r>
            <a:rPr lang="en-US" dirty="0" smtClean="0">
              <a:solidFill>
                <a:srgbClr val="00B0F0"/>
              </a:solidFill>
            </a:rPr>
            <a:t>.</a:t>
          </a:r>
          <a:endParaRPr lang="en-US" dirty="0">
            <a:solidFill>
              <a:srgbClr val="00B0F0"/>
            </a:solidFill>
          </a:endParaRPr>
        </a:p>
      </dgm:t>
    </dgm:pt>
    <dgm:pt modelId="{8D6B327D-D07D-4882-8E02-0BAE46798F86}" type="parTrans" cxnId="{688EDFBE-19C9-4CDB-9BEE-284ED465FE4F}">
      <dgm:prSet/>
      <dgm:spPr/>
      <dgm:t>
        <a:bodyPr/>
        <a:lstStyle/>
        <a:p>
          <a:endParaRPr lang="en-US" dirty="0"/>
        </a:p>
      </dgm:t>
    </dgm:pt>
    <dgm:pt modelId="{8613183D-1CC7-41E0-BB2D-BB10D3B059B6}" type="sibTrans" cxnId="{688EDFBE-19C9-4CDB-9BEE-284ED465FE4F}">
      <dgm:prSet/>
      <dgm:spPr/>
      <dgm:t>
        <a:bodyPr/>
        <a:lstStyle/>
        <a:p>
          <a:endParaRPr lang="en-US"/>
        </a:p>
      </dgm:t>
    </dgm:pt>
    <dgm:pt modelId="{143E5CB0-EA5D-4E12-90B6-504B7ABA522A}">
      <dgm:prSet phldrT="[Text]"/>
      <dgm:spPr/>
      <dgm:t>
        <a:bodyPr/>
        <a:lstStyle/>
        <a:p>
          <a:r>
            <a:rPr lang="en-US" dirty="0" smtClean="0"/>
            <a:t>Microscopic</a:t>
          </a:r>
          <a:endParaRPr lang="en-US" dirty="0"/>
        </a:p>
      </dgm:t>
    </dgm:pt>
    <dgm:pt modelId="{2E5A9154-09FE-4E53-A763-9ECF4DDB9086}" type="parTrans" cxnId="{E4D3130B-F87E-499C-ABB8-4CF3359BC784}">
      <dgm:prSet/>
      <dgm:spPr/>
      <dgm:t>
        <a:bodyPr/>
        <a:lstStyle/>
        <a:p>
          <a:endParaRPr lang="en-US"/>
        </a:p>
      </dgm:t>
    </dgm:pt>
    <dgm:pt modelId="{F040F984-22A6-4FE6-9A03-DB97B3275E2B}" type="sibTrans" cxnId="{E4D3130B-F87E-499C-ABB8-4CF3359BC784}">
      <dgm:prSet/>
      <dgm:spPr/>
      <dgm:t>
        <a:bodyPr/>
        <a:lstStyle/>
        <a:p>
          <a:endParaRPr lang="en-US"/>
        </a:p>
      </dgm:t>
    </dgm:pt>
    <dgm:pt modelId="{D5D1173C-AB35-45DB-BE8E-B237EEF1F955}">
      <dgm:prSet phldrT="[Text]"/>
      <dgm:spPr/>
      <dgm:t>
        <a:bodyPr/>
        <a:lstStyle/>
        <a:p>
          <a:r>
            <a:rPr lang="en-US" dirty="0" smtClean="0"/>
            <a:t>In this approach analysis is done on </a:t>
          </a:r>
          <a:r>
            <a:rPr lang="en-US" b="1" dirty="0" smtClean="0">
              <a:solidFill>
                <a:srgbClr val="0000FF"/>
              </a:solidFill>
            </a:rPr>
            <a:t>molecular level</a:t>
          </a:r>
          <a:r>
            <a:rPr lang="en-US" dirty="0" smtClean="0"/>
            <a:t>. By adding up the behavior of each molecule analysis can be done.</a:t>
          </a:r>
          <a:endParaRPr lang="en-US" dirty="0"/>
        </a:p>
      </dgm:t>
    </dgm:pt>
    <dgm:pt modelId="{83B94BEB-E3B2-4A51-A5A0-88E6B5F95AE5}" type="parTrans" cxnId="{95AF315E-EFE1-4210-A933-7F9D01C10D39}">
      <dgm:prSet/>
      <dgm:spPr/>
      <dgm:t>
        <a:bodyPr/>
        <a:lstStyle/>
        <a:p>
          <a:endParaRPr lang="en-US" dirty="0"/>
        </a:p>
      </dgm:t>
    </dgm:pt>
    <dgm:pt modelId="{8EC49E80-6CD2-4A4E-8548-152678CF6227}" type="sibTrans" cxnId="{95AF315E-EFE1-4210-A933-7F9D01C10D39}">
      <dgm:prSet/>
      <dgm:spPr/>
      <dgm:t>
        <a:bodyPr/>
        <a:lstStyle/>
        <a:p>
          <a:endParaRPr lang="en-US"/>
        </a:p>
      </dgm:t>
    </dgm:pt>
    <dgm:pt modelId="{0E5619C7-D625-456D-9A67-F1905BF4B862}">
      <dgm:prSet phldrT="[Text]"/>
      <dgm:spPr/>
      <dgm:t>
        <a:bodyPr/>
        <a:lstStyle/>
        <a:p>
          <a:r>
            <a:rPr lang="en-US" dirty="0" smtClean="0"/>
            <a:t>This kind of approach is made in </a:t>
          </a:r>
          <a:r>
            <a:rPr lang="en-US" b="1" dirty="0" smtClean="0">
              <a:solidFill>
                <a:srgbClr val="7030A0"/>
              </a:solidFill>
            </a:rPr>
            <a:t>Statistical thermodynamics</a:t>
          </a:r>
          <a:r>
            <a:rPr lang="en-US" dirty="0" smtClean="0">
              <a:solidFill>
                <a:srgbClr val="7030A0"/>
              </a:solidFill>
            </a:rPr>
            <a:t>.</a:t>
          </a:r>
          <a:endParaRPr lang="en-US" dirty="0">
            <a:solidFill>
              <a:srgbClr val="7030A0"/>
            </a:solidFill>
          </a:endParaRPr>
        </a:p>
      </dgm:t>
    </dgm:pt>
    <dgm:pt modelId="{58060752-15CE-42ED-8FB0-3B1575F83669}" type="parTrans" cxnId="{ED399E93-3AF8-4F57-AF2F-CA7AE545D6F2}">
      <dgm:prSet/>
      <dgm:spPr/>
      <dgm:t>
        <a:bodyPr/>
        <a:lstStyle/>
        <a:p>
          <a:endParaRPr lang="en-US" dirty="0"/>
        </a:p>
      </dgm:t>
    </dgm:pt>
    <dgm:pt modelId="{DE3FCB23-7A20-44EF-9603-178A4AC38726}" type="sibTrans" cxnId="{ED399E93-3AF8-4F57-AF2F-CA7AE545D6F2}">
      <dgm:prSet/>
      <dgm:spPr/>
      <dgm:t>
        <a:bodyPr/>
        <a:lstStyle/>
        <a:p>
          <a:endParaRPr lang="en-US"/>
        </a:p>
      </dgm:t>
    </dgm:pt>
    <dgm:pt modelId="{AC5FAF37-2349-4BA2-9377-2BD725F4BF73}" type="pres">
      <dgm:prSet presAssocID="{675CB4AA-4157-4C84-A5F6-100166C87A9A}" presName="diagram" presStyleCnt="0">
        <dgm:presLayoutVars>
          <dgm:chPref val="1"/>
          <dgm:dir/>
          <dgm:animOne val="branch"/>
          <dgm:animLvl val="lvl"/>
          <dgm:resizeHandles/>
        </dgm:presLayoutVars>
      </dgm:prSet>
      <dgm:spPr/>
      <dgm:t>
        <a:bodyPr/>
        <a:lstStyle/>
        <a:p>
          <a:endParaRPr lang="en-US"/>
        </a:p>
      </dgm:t>
    </dgm:pt>
    <dgm:pt modelId="{0F637EFB-9FEE-4A0C-BB8E-8F69B94106E5}" type="pres">
      <dgm:prSet presAssocID="{AD1EE45B-EFC8-45AE-9C15-AB6F0AE92930}" presName="root" presStyleCnt="0"/>
      <dgm:spPr/>
    </dgm:pt>
    <dgm:pt modelId="{86766634-CF58-4C61-BE61-9C07DE0A490A}" type="pres">
      <dgm:prSet presAssocID="{AD1EE45B-EFC8-45AE-9C15-AB6F0AE92930}" presName="rootComposite" presStyleCnt="0"/>
      <dgm:spPr/>
    </dgm:pt>
    <dgm:pt modelId="{23AABEC0-00DC-45F9-BE57-9D065DFBCA20}" type="pres">
      <dgm:prSet presAssocID="{AD1EE45B-EFC8-45AE-9C15-AB6F0AE92930}" presName="rootText" presStyleLbl="node1" presStyleIdx="0" presStyleCnt="2"/>
      <dgm:spPr/>
      <dgm:t>
        <a:bodyPr/>
        <a:lstStyle/>
        <a:p>
          <a:endParaRPr lang="en-US"/>
        </a:p>
      </dgm:t>
    </dgm:pt>
    <dgm:pt modelId="{692E2B2E-033B-49EF-8CF6-95B745B032EE}" type="pres">
      <dgm:prSet presAssocID="{AD1EE45B-EFC8-45AE-9C15-AB6F0AE92930}" presName="rootConnector" presStyleLbl="node1" presStyleIdx="0" presStyleCnt="2"/>
      <dgm:spPr/>
      <dgm:t>
        <a:bodyPr/>
        <a:lstStyle/>
        <a:p>
          <a:endParaRPr lang="en-US"/>
        </a:p>
      </dgm:t>
    </dgm:pt>
    <dgm:pt modelId="{38C5CBC9-A5F9-4F8A-BF8B-0CCD2FFD5F81}" type="pres">
      <dgm:prSet presAssocID="{AD1EE45B-EFC8-45AE-9C15-AB6F0AE92930}" presName="childShape" presStyleCnt="0"/>
      <dgm:spPr/>
    </dgm:pt>
    <dgm:pt modelId="{2EAE997C-D7B8-4B91-8BEA-46F4392BBD66}" type="pres">
      <dgm:prSet presAssocID="{070AB78D-6740-4411-9B36-7A2A52FF81FE}" presName="Name13" presStyleLbl="parChTrans1D2" presStyleIdx="0" presStyleCnt="4"/>
      <dgm:spPr/>
      <dgm:t>
        <a:bodyPr/>
        <a:lstStyle/>
        <a:p>
          <a:endParaRPr lang="en-US"/>
        </a:p>
      </dgm:t>
    </dgm:pt>
    <dgm:pt modelId="{C4E4BEDC-E144-4F71-9422-CD4EDFF4ADF3}" type="pres">
      <dgm:prSet presAssocID="{EB3A6DC6-59FB-4991-BA98-1D06E1AC4629}" presName="childText" presStyleLbl="bgAcc1" presStyleIdx="0" presStyleCnt="4">
        <dgm:presLayoutVars>
          <dgm:bulletEnabled val="1"/>
        </dgm:presLayoutVars>
      </dgm:prSet>
      <dgm:spPr/>
      <dgm:t>
        <a:bodyPr/>
        <a:lstStyle/>
        <a:p>
          <a:endParaRPr lang="en-US"/>
        </a:p>
      </dgm:t>
    </dgm:pt>
    <dgm:pt modelId="{393BF6A3-9A0D-435C-92C4-236A7E3A3873}" type="pres">
      <dgm:prSet presAssocID="{8D6B327D-D07D-4882-8E02-0BAE46798F86}" presName="Name13" presStyleLbl="parChTrans1D2" presStyleIdx="1" presStyleCnt="4"/>
      <dgm:spPr/>
      <dgm:t>
        <a:bodyPr/>
        <a:lstStyle/>
        <a:p>
          <a:endParaRPr lang="en-US"/>
        </a:p>
      </dgm:t>
    </dgm:pt>
    <dgm:pt modelId="{E69DF667-0E2C-4C51-9868-0DC2124B9A1D}" type="pres">
      <dgm:prSet presAssocID="{41DD08FC-77CA-44EF-8294-B6A9A319837A}" presName="childText" presStyleLbl="bgAcc1" presStyleIdx="1" presStyleCnt="4">
        <dgm:presLayoutVars>
          <dgm:bulletEnabled val="1"/>
        </dgm:presLayoutVars>
      </dgm:prSet>
      <dgm:spPr/>
      <dgm:t>
        <a:bodyPr/>
        <a:lstStyle/>
        <a:p>
          <a:endParaRPr lang="en-US"/>
        </a:p>
      </dgm:t>
    </dgm:pt>
    <dgm:pt modelId="{E38ABAB5-FA80-4805-A1A2-935D4444FEA3}" type="pres">
      <dgm:prSet presAssocID="{143E5CB0-EA5D-4E12-90B6-504B7ABA522A}" presName="root" presStyleCnt="0"/>
      <dgm:spPr/>
    </dgm:pt>
    <dgm:pt modelId="{E595E229-8DCA-4E16-9902-AE10044ACAC2}" type="pres">
      <dgm:prSet presAssocID="{143E5CB0-EA5D-4E12-90B6-504B7ABA522A}" presName="rootComposite" presStyleCnt="0"/>
      <dgm:spPr/>
    </dgm:pt>
    <dgm:pt modelId="{8FDA204C-DF8A-4486-8E39-BC67CDEE7E00}" type="pres">
      <dgm:prSet presAssocID="{143E5CB0-EA5D-4E12-90B6-504B7ABA522A}" presName="rootText" presStyleLbl="node1" presStyleIdx="1" presStyleCnt="2"/>
      <dgm:spPr/>
      <dgm:t>
        <a:bodyPr/>
        <a:lstStyle/>
        <a:p>
          <a:endParaRPr lang="en-US"/>
        </a:p>
      </dgm:t>
    </dgm:pt>
    <dgm:pt modelId="{CB0FECA7-7AD5-407A-8C25-A75E84F8ECE6}" type="pres">
      <dgm:prSet presAssocID="{143E5CB0-EA5D-4E12-90B6-504B7ABA522A}" presName="rootConnector" presStyleLbl="node1" presStyleIdx="1" presStyleCnt="2"/>
      <dgm:spPr/>
      <dgm:t>
        <a:bodyPr/>
        <a:lstStyle/>
        <a:p>
          <a:endParaRPr lang="en-US"/>
        </a:p>
      </dgm:t>
    </dgm:pt>
    <dgm:pt modelId="{5C83A15B-8D1B-4BED-9A18-B7B21AEEC3BA}" type="pres">
      <dgm:prSet presAssocID="{143E5CB0-EA5D-4E12-90B6-504B7ABA522A}" presName="childShape" presStyleCnt="0"/>
      <dgm:spPr/>
    </dgm:pt>
    <dgm:pt modelId="{4DA63D90-D7A5-4516-9AA8-2E0A7FF94554}" type="pres">
      <dgm:prSet presAssocID="{83B94BEB-E3B2-4A51-A5A0-88E6B5F95AE5}" presName="Name13" presStyleLbl="parChTrans1D2" presStyleIdx="2" presStyleCnt="4"/>
      <dgm:spPr/>
      <dgm:t>
        <a:bodyPr/>
        <a:lstStyle/>
        <a:p>
          <a:endParaRPr lang="en-US"/>
        </a:p>
      </dgm:t>
    </dgm:pt>
    <dgm:pt modelId="{6EDC05FB-8531-4F66-8C0D-F26285479294}" type="pres">
      <dgm:prSet presAssocID="{D5D1173C-AB35-45DB-BE8E-B237EEF1F955}" presName="childText" presStyleLbl="bgAcc1" presStyleIdx="2" presStyleCnt="4">
        <dgm:presLayoutVars>
          <dgm:bulletEnabled val="1"/>
        </dgm:presLayoutVars>
      </dgm:prSet>
      <dgm:spPr/>
      <dgm:t>
        <a:bodyPr/>
        <a:lstStyle/>
        <a:p>
          <a:endParaRPr lang="en-US"/>
        </a:p>
      </dgm:t>
    </dgm:pt>
    <dgm:pt modelId="{1A60F0B1-CD5A-4FF3-B6F2-EBE608361698}" type="pres">
      <dgm:prSet presAssocID="{58060752-15CE-42ED-8FB0-3B1575F83669}" presName="Name13" presStyleLbl="parChTrans1D2" presStyleIdx="3" presStyleCnt="4"/>
      <dgm:spPr/>
      <dgm:t>
        <a:bodyPr/>
        <a:lstStyle/>
        <a:p>
          <a:endParaRPr lang="en-US"/>
        </a:p>
      </dgm:t>
    </dgm:pt>
    <dgm:pt modelId="{1D1EB800-6AB8-4828-BF06-E0AAD1878F8E}" type="pres">
      <dgm:prSet presAssocID="{0E5619C7-D625-456D-9A67-F1905BF4B862}" presName="childText" presStyleLbl="bgAcc1" presStyleIdx="3" presStyleCnt="4">
        <dgm:presLayoutVars>
          <dgm:bulletEnabled val="1"/>
        </dgm:presLayoutVars>
      </dgm:prSet>
      <dgm:spPr/>
      <dgm:t>
        <a:bodyPr/>
        <a:lstStyle/>
        <a:p>
          <a:endParaRPr lang="en-US"/>
        </a:p>
      </dgm:t>
    </dgm:pt>
  </dgm:ptLst>
  <dgm:cxnLst>
    <dgm:cxn modelId="{527A23F2-3B01-4C9D-9D9F-7274E3E814D5}" type="presOf" srcId="{675CB4AA-4157-4C84-A5F6-100166C87A9A}" destId="{AC5FAF37-2349-4BA2-9377-2BD725F4BF73}" srcOrd="0" destOrd="0" presId="urn:microsoft.com/office/officeart/2005/8/layout/hierarchy3"/>
    <dgm:cxn modelId="{C5923F70-0881-4231-A35F-8A075269321C}" type="presOf" srcId="{AD1EE45B-EFC8-45AE-9C15-AB6F0AE92930}" destId="{692E2B2E-033B-49EF-8CF6-95B745B032EE}" srcOrd="1" destOrd="0" presId="urn:microsoft.com/office/officeart/2005/8/layout/hierarchy3"/>
    <dgm:cxn modelId="{C3654D7A-B57E-4F8B-A378-89AFD3DEAF8E}" type="presOf" srcId="{0E5619C7-D625-456D-9A67-F1905BF4B862}" destId="{1D1EB800-6AB8-4828-BF06-E0AAD1878F8E}" srcOrd="0" destOrd="0" presId="urn:microsoft.com/office/officeart/2005/8/layout/hierarchy3"/>
    <dgm:cxn modelId="{28231275-7B22-4F97-9E4D-6FFDCFB9BFE3}" type="presOf" srcId="{070AB78D-6740-4411-9B36-7A2A52FF81FE}" destId="{2EAE997C-D7B8-4B91-8BEA-46F4392BBD66}" srcOrd="0" destOrd="0" presId="urn:microsoft.com/office/officeart/2005/8/layout/hierarchy3"/>
    <dgm:cxn modelId="{95AF315E-EFE1-4210-A933-7F9D01C10D39}" srcId="{143E5CB0-EA5D-4E12-90B6-504B7ABA522A}" destId="{D5D1173C-AB35-45DB-BE8E-B237EEF1F955}" srcOrd="0" destOrd="0" parTransId="{83B94BEB-E3B2-4A51-A5A0-88E6B5F95AE5}" sibTransId="{8EC49E80-6CD2-4A4E-8548-152678CF6227}"/>
    <dgm:cxn modelId="{1173A2E8-E3DB-4816-BB5A-115D959A1F7B}" type="presOf" srcId="{D5D1173C-AB35-45DB-BE8E-B237EEF1F955}" destId="{6EDC05FB-8531-4F66-8C0D-F26285479294}" srcOrd="0" destOrd="0" presId="urn:microsoft.com/office/officeart/2005/8/layout/hierarchy3"/>
    <dgm:cxn modelId="{250BEF9A-4608-4E24-A082-2980C40FCE35}" srcId="{AD1EE45B-EFC8-45AE-9C15-AB6F0AE92930}" destId="{EB3A6DC6-59FB-4991-BA98-1D06E1AC4629}" srcOrd="0" destOrd="0" parTransId="{070AB78D-6740-4411-9B36-7A2A52FF81FE}" sibTransId="{95478DFC-8086-4D9A-BE3F-708A10DC8B3F}"/>
    <dgm:cxn modelId="{79F0BFD8-C3A2-45F2-AA89-5E0F0EDBD173}" type="presOf" srcId="{143E5CB0-EA5D-4E12-90B6-504B7ABA522A}" destId="{CB0FECA7-7AD5-407A-8C25-A75E84F8ECE6}" srcOrd="1" destOrd="0" presId="urn:microsoft.com/office/officeart/2005/8/layout/hierarchy3"/>
    <dgm:cxn modelId="{E4D3130B-F87E-499C-ABB8-4CF3359BC784}" srcId="{675CB4AA-4157-4C84-A5F6-100166C87A9A}" destId="{143E5CB0-EA5D-4E12-90B6-504B7ABA522A}" srcOrd="1" destOrd="0" parTransId="{2E5A9154-09FE-4E53-A763-9ECF4DDB9086}" sibTransId="{F040F984-22A6-4FE6-9A03-DB97B3275E2B}"/>
    <dgm:cxn modelId="{1FCA31EE-98A0-47A1-8D4A-F94C72B9C397}" type="presOf" srcId="{8D6B327D-D07D-4882-8E02-0BAE46798F86}" destId="{393BF6A3-9A0D-435C-92C4-236A7E3A3873}" srcOrd="0" destOrd="0" presId="urn:microsoft.com/office/officeart/2005/8/layout/hierarchy3"/>
    <dgm:cxn modelId="{A22A9286-F041-443A-B146-E17CF37BB3BB}" type="presOf" srcId="{41DD08FC-77CA-44EF-8294-B6A9A319837A}" destId="{E69DF667-0E2C-4C51-9868-0DC2124B9A1D}" srcOrd="0" destOrd="0" presId="urn:microsoft.com/office/officeart/2005/8/layout/hierarchy3"/>
    <dgm:cxn modelId="{3CF0F57E-7AB7-45E1-A67C-34BAFE207BFB}" type="presOf" srcId="{143E5CB0-EA5D-4E12-90B6-504B7ABA522A}" destId="{8FDA204C-DF8A-4486-8E39-BC67CDEE7E00}" srcOrd="0" destOrd="0" presId="urn:microsoft.com/office/officeart/2005/8/layout/hierarchy3"/>
    <dgm:cxn modelId="{ED399E93-3AF8-4F57-AF2F-CA7AE545D6F2}" srcId="{143E5CB0-EA5D-4E12-90B6-504B7ABA522A}" destId="{0E5619C7-D625-456D-9A67-F1905BF4B862}" srcOrd="1" destOrd="0" parTransId="{58060752-15CE-42ED-8FB0-3B1575F83669}" sibTransId="{DE3FCB23-7A20-44EF-9603-178A4AC38726}"/>
    <dgm:cxn modelId="{E2742193-2CDE-4E0F-A80F-4CEE8FEB454F}" type="presOf" srcId="{58060752-15CE-42ED-8FB0-3B1575F83669}" destId="{1A60F0B1-CD5A-4FF3-B6F2-EBE608361698}" srcOrd="0" destOrd="0" presId="urn:microsoft.com/office/officeart/2005/8/layout/hierarchy3"/>
    <dgm:cxn modelId="{A1E2ECD4-8EA1-45EE-8EB4-A9D1048AD606}" srcId="{675CB4AA-4157-4C84-A5F6-100166C87A9A}" destId="{AD1EE45B-EFC8-45AE-9C15-AB6F0AE92930}" srcOrd="0" destOrd="0" parTransId="{BDC2F798-6ED4-48BF-8694-64B453BE6168}" sibTransId="{016768BE-E807-4969-A6B2-62E84E9A7FE9}"/>
    <dgm:cxn modelId="{C74A4C81-797F-4A34-92CD-73F756DE4919}" type="presOf" srcId="{83B94BEB-E3B2-4A51-A5A0-88E6B5F95AE5}" destId="{4DA63D90-D7A5-4516-9AA8-2E0A7FF94554}" srcOrd="0" destOrd="0" presId="urn:microsoft.com/office/officeart/2005/8/layout/hierarchy3"/>
    <dgm:cxn modelId="{A68ED94B-7AC0-440E-B733-31586197E0D8}" type="presOf" srcId="{EB3A6DC6-59FB-4991-BA98-1D06E1AC4629}" destId="{C4E4BEDC-E144-4F71-9422-CD4EDFF4ADF3}" srcOrd="0" destOrd="0" presId="urn:microsoft.com/office/officeart/2005/8/layout/hierarchy3"/>
    <dgm:cxn modelId="{688EDFBE-19C9-4CDB-9BEE-284ED465FE4F}" srcId="{AD1EE45B-EFC8-45AE-9C15-AB6F0AE92930}" destId="{41DD08FC-77CA-44EF-8294-B6A9A319837A}" srcOrd="1" destOrd="0" parTransId="{8D6B327D-D07D-4882-8E02-0BAE46798F86}" sibTransId="{8613183D-1CC7-41E0-BB2D-BB10D3B059B6}"/>
    <dgm:cxn modelId="{27364E53-B30E-4023-83D6-B16E147040FE}" type="presOf" srcId="{AD1EE45B-EFC8-45AE-9C15-AB6F0AE92930}" destId="{23AABEC0-00DC-45F9-BE57-9D065DFBCA20}" srcOrd="0" destOrd="0" presId="urn:microsoft.com/office/officeart/2005/8/layout/hierarchy3"/>
    <dgm:cxn modelId="{474229AF-7476-47F4-AAA5-A8E3301629FE}" type="presParOf" srcId="{AC5FAF37-2349-4BA2-9377-2BD725F4BF73}" destId="{0F637EFB-9FEE-4A0C-BB8E-8F69B94106E5}" srcOrd="0" destOrd="0" presId="urn:microsoft.com/office/officeart/2005/8/layout/hierarchy3"/>
    <dgm:cxn modelId="{99A6FD84-FA68-47B9-A596-20DA784F2060}" type="presParOf" srcId="{0F637EFB-9FEE-4A0C-BB8E-8F69B94106E5}" destId="{86766634-CF58-4C61-BE61-9C07DE0A490A}" srcOrd="0" destOrd="0" presId="urn:microsoft.com/office/officeart/2005/8/layout/hierarchy3"/>
    <dgm:cxn modelId="{5F610821-D6C0-439B-B588-CE5CEB969A1D}" type="presParOf" srcId="{86766634-CF58-4C61-BE61-9C07DE0A490A}" destId="{23AABEC0-00DC-45F9-BE57-9D065DFBCA20}" srcOrd="0" destOrd="0" presId="urn:microsoft.com/office/officeart/2005/8/layout/hierarchy3"/>
    <dgm:cxn modelId="{7B6DA764-8CB3-40E8-8B97-3EE4BCDAD4A5}" type="presParOf" srcId="{86766634-CF58-4C61-BE61-9C07DE0A490A}" destId="{692E2B2E-033B-49EF-8CF6-95B745B032EE}" srcOrd="1" destOrd="0" presId="urn:microsoft.com/office/officeart/2005/8/layout/hierarchy3"/>
    <dgm:cxn modelId="{EE00EF36-0565-4D53-8170-C9CF3BBBF481}" type="presParOf" srcId="{0F637EFB-9FEE-4A0C-BB8E-8F69B94106E5}" destId="{38C5CBC9-A5F9-4F8A-BF8B-0CCD2FFD5F81}" srcOrd="1" destOrd="0" presId="urn:microsoft.com/office/officeart/2005/8/layout/hierarchy3"/>
    <dgm:cxn modelId="{87C3D04D-BE57-478D-A142-00D15781A330}" type="presParOf" srcId="{38C5CBC9-A5F9-4F8A-BF8B-0CCD2FFD5F81}" destId="{2EAE997C-D7B8-4B91-8BEA-46F4392BBD66}" srcOrd="0" destOrd="0" presId="urn:microsoft.com/office/officeart/2005/8/layout/hierarchy3"/>
    <dgm:cxn modelId="{7BD9A984-E490-48C9-892E-15ED41E603FA}" type="presParOf" srcId="{38C5CBC9-A5F9-4F8A-BF8B-0CCD2FFD5F81}" destId="{C4E4BEDC-E144-4F71-9422-CD4EDFF4ADF3}" srcOrd="1" destOrd="0" presId="urn:microsoft.com/office/officeart/2005/8/layout/hierarchy3"/>
    <dgm:cxn modelId="{E91641FA-65E2-4246-9C16-4EB49D7E8863}" type="presParOf" srcId="{38C5CBC9-A5F9-4F8A-BF8B-0CCD2FFD5F81}" destId="{393BF6A3-9A0D-435C-92C4-236A7E3A3873}" srcOrd="2" destOrd="0" presId="urn:microsoft.com/office/officeart/2005/8/layout/hierarchy3"/>
    <dgm:cxn modelId="{8F8FC392-8E29-4412-8C01-315075C9E691}" type="presParOf" srcId="{38C5CBC9-A5F9-4F8A-BF8B-0CCD2FFD5F81}" destId="{E69DF667-0E2C-4C51-9868-0DC2124B9A1D}" srcOrd="3" destOrd="0" presId="urn:microsoft.com/office/officeart/2005/8/layout/hierarchy3"/>
    <dgm:cxn modelId="{6563BCA5-7DFB-4702-8F44-E61A08564787}" type="presParOf" srcId="{AC5FAF37-2349-4BA2-9377-2BD725F4BF73}" destId="{E38ABAB5-FA80-4805-A1A2-935D4444FEA3}" srcOrd="1" destOrd="0" presId="urn:microsoft.com/office/officeart/2005/8/layout/hierarchy3"/>
    <dgm:cxn modelId="{E65F5AA5-AA81-4250-AAD0-F74C050F26D5}" type="presParOf" srcId="{E38ABAB5-FA80-4805-A1A2-935D4444FEA3}" destId="{E595E229-8DCA-4E16-9902-AE10044ACAC2}" srcOrd="0" destOrd="0" presId="urn:microsoft.com/office/officeart/2005/8/layout/hierarchy3"/>
    <dgm:cxn modelId="{365D420B-FF87-4521-AC49-72DC33698F52}" type="presParOf" srcId="{E595E229-8DCA-4E16-9902-AE10044ACAC2}" destId="{8FDA204C-DF8A-4486-8E39-BC67CDEE7E00}" srcOrd="0" destOrd="0" presId="urn:microsoft.com/office/officeart/2005/8/layout/hierarchy3"/>
    <dgm:cxn modelId="{2862CCD6-AA97-4912-B171-48313C0D52C9}" type="presParOf" srcId="{E595E229-8DCA-4E16-9902-AE10044ACAC2}" destId="{CB0FECA7-7AD5-407A-8C25-A75E84F8ECE6}" srcOrd="1" destOrd="0" presId="urn:microsoft.com/office/officeart/2005/8/layout/hierarchy3"/>
    <dgm:cxn modelId="{B7CC714C-B7A9-48FE-8D3D-2CA9EA1DD3CA}" type="presParOf" srcId="{E38ABAB5-FA80-4805-A1A2-935D4444FEA3}" destId="{5C83A15B-8D1B-4BED-9A18-B7B21AEEC3BA}" srcOrd="1" destOrd="0" presId="urn:microsoft.com/office/officeart/2005/8/layout/hierarchy3"/>
    <dgm:cxn modelId="{008E06DC-4DE3-40DA-8BD8-19B4BB760B36}" type="presParOf" srcId="{5C83A15B-8D1B-4BED-9A18-B7B21AEEC3BA}" destId="{4DA63D90-D7A5-4516-9AA8-2E0A7FF94554}" srcOrd="0" destOrd="0" presId="urn:microsoft.com/office/officeart/2005/8/layout/hierarchy3"/>
    <dgm:cxn modelId="{08C40CAC-A7E6-4C25-B9BE-D9B25D699587}" type="presParOf" srcId="{5C83A15B-8D1B-4BED-9A18-B7B21AEEC3BA}" destId="{6EDC05FB-8531-4F66-8C0D-F26285479294}" srcOrd="1" destOrd="0" presId="urn:microsoft.com/office/officeart/2005/8/layout/hierarchy3"/>
    <dgm:cxn modelId="{013F0082-420F-49E3-9AF4-5342DC280E70}" type="presParOf" srcId="{5C83A15B-8D1B-4BED-9A18-B7B21AEEC3BA}" destId="{1A60F0B1-CD5A-4FF3-B6F2-EBE608361698}" srcOrd="2" destOrd="0" presId="urn:microsoft.com/office/officeart/2005/8/layout/hierarchy3"/>
    <dgm:cxn modelId="{836EEBAE-F925-4AB2-BB76-30D30D6EF876}" type="presParOf" srcId="{5C83A15B-8D1B-4BED-9A18-B7B21AEEC3BA}" destId="{1D1EB800-6AB8-4828-BF06-E0AAD1878F8E}" srcOrd="3" destOrd="0" presId="urn:microsoft.com/office/officeart/2005/8/layout/hierarchy3"/>
  </dgm:cxnLst>
  <dgm:bg/>
  <dgm:whole/>
</dgm:dataModel>
</file>

<file path=ppt/diagrams/data2.xml><?xml version="1.0" encoding="utf-8"?>
<dgm:dataModel xmlns:dgm="http://schemas.openxmlformats.org/drawingml/2006/diagram" xmlns:a="http://schemas.openxmlformats.org/drawingml/2006/main">
  <dgm:ptLst>
    <dgm:pt modelId="{4F3810D1-2A57-4012-9A1C-F1464ED66EE2}"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00281B79-6FDC-4B05-BD18-979245FABFB0}">
      <dgm:prSet phldrT="[Text]"/>
      <dgm:spPr/>
      <dgm:t>
        <a:bodyPr/>
        <a:lstStyle/>
        <a:p>
          <a:r>
            <a:rPr lang="en-US" dirty="0" smtClean="0"/>
            <a:t>Open system</a:t>
          </a:r>
          <a:endParaRPr lang="en-US" dirty="0"/>
        </a:p>
      </dgm:t>
    </dgm:pt>
    <dgm:pt modelId="{56013B79-C44E-431B-8091-5F2AC9D9C4AC}" type="parTrans" cxnId="{A7DC30AD-353C-43D3-92D4-3F76F42A53DC}">
      <dgm:prSet/>
      <dgm:spPr/>
      <dgm:t>
        <a:bodyPr/>
        <a:lstStyle/>
        <a:p>
          <a:endParaRPr lang="en-US"/>
        </a:p>
      </dgm:t>
    </dgm:pt>
    <dgm:pt modelId="{B85850D7-559B-451D-82FE-0CDF3D4CB1CB}" type="sibTrans" cxnId="{A7DC30AD-353C-43D3-92D4-3F76F42A53DC}">
      <dgm:prSet/>
      <dgm:spPr/>
      <dgm:t>
        <a:bodyPr/>
        <a:lstStyle/>
        <a:p>
          <a:endParaRPr lang="en-US"/>
        </a:p>
      </dgm:t>
    </dgm:pt>
    <dgm:pt modelId="{6440AD9C-950B-4E90-8804-8BBB3BD750D6}">
      <dgm:prSet phldrT="[Text]" custT="1"/>
      <dgm:spPr/>
      <dgm:t>
        <a:bodyPr/>
        <a:lstStyle/>
        <a:p>
          <a:r>
            <a:rPr lang="en-US" sz="1800" dirty="0" smtClean="0"/>
            <a:t>Both mass and energy can cross the boundary</a:t>
          </a:r>
          <a:endParaRPr lang="en-US" sz="1800" dirty="0"/>
        </a:p>
      </dgm:t>
    </dgm:pt>
    <dgm:pt modelId="{24919769-375F-4584-AAB1-CBEBA2EC5D39}" type="parTrans" cxnId="{53F5E58D-8A4C-4A47-9324-0382BB6AADE1}">
      <dgm:prSet/>
      <dgm:spPr/>
      <dgm:t>
        <a:bodyPr/>
        <a:lstStyle/>
        <a:p>
          <a:endParaRPr lang="en-US"/>
        </a:p>
      </dgm:t>
    </dgm:pt>
    <dgm:pt modelId="{8259556A-B980-4464-B09B-B673706854F1}" type="sibTrans" cxnId="{53F5E58D-8A4C-4A47-9324-0382BB6AADE1}">
      <dgm:prSet/>
      <dgm:spPr/>
      <dgm:t>
        <a:bodyPr/>
        <a:lstStyle/>
        <a:p>
          <a:endParaRPr lang="en-US"/>
        </a:p>
      </dgm:t>
    </dgm:pt>
    <dgm:pt modelId="{E3C1DCA7-CE00-4F92-BAAA-60B9C96F623E}">
      <dgm:prSet phldrT="[Text]" custT="1"/>
      <dgm:spPr/>
      <dgm:t>
        <a:bodyPr/>
        <a:lstStyle/>
        <a:p>
          <a:r>
            <a:rPr lang="en-US" sz="1800" dirty="0" smtClean="0"/>
            <a:t>e.g. Pump, compressor, turbine, Heat exchanger</a:t>
          </a:r>
          <a:endParaRPr lang="en-US" sz="1800" dirty="0"/>
        </a:p>
      </dgm:t>
    </dgm:pt>
    <dgm:pt modelId="{84ABA95D-6F25-4E88-8ABD-03AE1F2EB4ED}" type="parTrans" cxnId="{ACA64199-CA8E-46E7-9193-8E54CD9178E4}">
      <dgm:prSet/>
      <dgm:spPr/>
      <dgm:t>
        <a:bodyPr/>
        <a:lstStyle/>
        <a:p>
          <a:endParaRPr lang="en-US"/>
        </a:p>
      </dgm:t>
    </dgm:pt>
    <dgm:pt modelId="{04954B72-F5B0-4462-9094-0A8E34920F84}" type="sibTrans" cxnId="{ACA64199-CA8E-46E7-9193-8E54CD9178E4}">
      <dgm:prSet/>
      <dgm:spPr/>
      <dgm:t>
        <a:bodyPr/>
        <a:lstStyle/>
        <a:p>
          <a:endParaRPr lang="en-US"/>
        </a:p>
      </dgm:t>
    </dgm:pt>
    <dgm:pt modelId="{727DF44A-284A-451B-9097-9E1FF3F2222F}">
      <dgm:prSet phldrT="[Text]"/>
      <dgm:spPr/>
      <dgm:t>
        <a:bodyPr/>
        <a:lstStyle/>
        <a:p>
          <a:r>
            <a:rPr lang="en-US" dirty="0" smtClean="0"/>
            <a:t>Closed system </a:t>
          </a:r>
          <a:endParaRPr lang="en-US" dirty="0"/>
        </a:p>
      </dgm:t>
    </dgm:pt>
    <dgm:pt modelId="{00EC4E61-148C-4FCB-83CA-A98C458FD6FE}" type="parTrans" cxnId="{2E9FEAD8-85D9-46CA-9CC1-5BB7F615AC7D}">
      <dgm:prSet/>
      <dgm:spPr/>
      <dgm:t>
        <a:bodyPr/>
        <a:lstStyle/>
        <a:p>
          <a:endParaRPr lang="en-US"/>
        </a:p>
      </dgm:t>
    </dgm:pt>
    <dgm:pt modelId="{B4502C69-28BD-4E26-946A-BD2355D1ED97}" type="sibTrans" cxnId="{2E9FEAD8-85D9-46CA-9CC1-5BB7F615AC7D}">
      <dgm:prSet/>
      <dgm:spPr/>
      <dgm:t>
        <a:bodyPr/>
        <a:lstStyle/>
        <a:p>
          <a:endParaRPr lang="en-US"/>
        </a:p>
      </dgm:t>
    </dgm:pt>
    <dgm:pt modelId="{64C9B0C7-0828-4137-B5D4-072381EED516}">
      <dgm:prSet phldrT="[Text]" custT="1"/>
      <dgm:spPr/>
      <dgm:t>
        <a:bodyPr/>
        <a:lstStyle/>
        <a:p>
          <a:r>
            <a:rPr lang="en-US" sz="1800" dirty="0" smtClean="0"/>
            <a:t>Only energy can cross the boundary</a:t>
          </a:r>
          <a:endParaRPr lang="en-US" sz="1800" dirty="0"/>
        </a:p>
      </dgm:t>
    </dgm:pt>
    <dgm:pt modelId="{94EEE4C4-93D5-4C58-AA21-4EC628EEF546}" type="parTrans" cxnId="{2610A2D5-D38E-4FD5-9E0B-2EF2BD6AA91D}">
      <dgm:prSet/>
      <dgm:spPr/>
      <dgm:t>
        <a:bodyPr/>
        <a:lstStyle/>
        <a:p>
          <a:endParaRPr lang="en-US"/>
        </a:p>
      </dgm:t>
    </dgm:pt>
    <dgm:pt modelId="{67DE75F9-2A7E-4B9F-B1E0-A82BEB076FBC}" type="sibTrans" cxnId="{2610A2D5-D38E-4FD5-9E0B-2EF2BD6AA91D}">
      <dgm:prSet/>
      <dgm:spPr/>
      <dgm:t>
        <a:bodyPr/>
        <a:lstStyle/>
        <a:p>
          <a:endParaRPr lang="en-US"/>
        </a:p>
      </dgm:t>
    </dgm:pt>
    <dgm:pt modelId="{6874B25F-B3F8-4CF9-85EA-BD2DCEC1B12E}">
      <dgm:prSet phldrT="[Text]"/>
      <dgm:spPr/>
      <dgm:t>
        <a:bodyPr/>
        <a:lstStyle/>
        <a:p>
          <a:r>
            <a:rPr lang="en-US" dirty="0" smtClean="0"/>
            <a:t>Isolated system</a:t>
          </a:r>
          <a:endParaRPr lang="en-US" dirty="0"/>
        </a:p>
      </dgm:t>
    </dgm:pt>
    <dgm:pt modelId="{ED9F49CC-B5CC-417E-8E79-7F581EA6620A}" type="parTrans" cxnId="{099C0D12-BC00-41B3-803B-18CE215810E7}">
      <dgm:prSet/>
      <dgm:spPr/>
      <dgm:t>
        <a:bodyPr/>
        <a:lstStyle/>
        <a:p>
          <a:endParaRPr lang="en-US"/>
        </a:p>
      </dgm:t>
    </dgm:pt>
    <dgm:pt modelId="{669F00E0-B534-4639-AE77-D9BB4F29670F}" type="sibTrans" cxnId="{099C0D12-BC00-41B3-803B-18CE215810E7}">
      <dgm:prSet/>
      <dgm:spPr/>
      <dgm:t>
        <a:bodyPr/>
        <a:lstStyle/>
        <a:p>
          <a:endParaRPr lang="en-US"/>
        </a:p>
      </dgm:t>
    </dgm:pt>
    <dgm:pt modelId="{C454FB33-825D-4EEA-B844-1FCBD832BCFC}">
      <dgm:prSet phldrT="[Text]" custT="1"/>
      <dgm:spPr/>
      <dgm:t>
        <a:bodyPr/>
        <a:lstStyle/>
        <a:p>
          <a:r>
            <a:rPr lang="en-US" sz="1800" dirty="0" smtClean="0"/>
            <a:t>No transfer of energy and matter across the boundary</a:t>
          </a:r>
          <a:endParaRPr lang="en-US" sz="1800" dirty="0"/>
        </a:p>
      </dgm:t>
    </dgm:pt>
    <dgm:pt modelId="{7CAFCDDE-7FAB-4775-BA85-0E239BE8D061}" type="parTrans" cxnId="{2C14E863-30D1-4E58-AF95-A9BB48D29B31}">
      <dgm:prSet/>
      <dgm:spPr/>
      <dgm:t>
        <a:bodyPr/>
        <a:lstStyle/>
        <a:p>
          <a:endParaRPr lang="en-US"/>
        </a:p>
      </dgm:t>
    </dgm:pt>
    <dgm:pt modelId="{4A63AE53-E455-4F4A-804F-BDD6B9F2F664}" type="sibTrans" cxnId="{2C14E863-30D1-4E58-AF95-A9BB48D29B31}">
      <dgm:prSet/>
      <dgm:spPr/>
      <dgm:t>
        <a:bodyPr/>
        <a:lstStyle/>
        <a:p>
          <a:endParaRPr lang="en-US"/>
        </a:p>
      </dgm:t>
    </dgm:pt>
    <dgm:pt modelId="{FE31D8C5-3A2E-4BB9-9D67-8D5BC35B1BF7}">
      <dgm:prSet phldrT="[Text]" custT="1"/>
      <dgm:spPr/>
      <dgm:t>
        <a:bodyPr/>
        <a:lstStyle/>
        <a:p>
          <a:r>
            <a:rPr lang="en-US" sz="1800" dirty="0" smtClean="0"/>
            <a:t>e.g.        Thermo flask, universe</a:t>
          </a:r>
          <a:endParaRPr lang="en-US" sz="1800" dirty="0"/>
        </a:p>
      </dgm:t>
    </dgm:pt>
    <dgm:pt modelId="{55908DBB-2C2F-4441-96D4-8140DF23ABBC}" type="parTrans" cxnId="{DCAECD90-F096-4171-BBC2-C7EE7F32F598}">
      <dgm:prSet/>
      <dgm:spPr/>
      <dgm:t>
        <a:bodyPr/>
        <a:lstStyle/>
        <a:p>
          <a:endParaRPr lang="en-US"/>
        </a:p>
      </dgm:t>
    </dgm:pt>
    <dgm:pt modelId="{B194071D-08ED-44F2-834B-323833B3A25F}" type="sibTrans" cxnId="{DCAECD90-F096-4171-BBC2-C7EE7F32F598}">
      <dgm:prSet/>
      <dgm:spPr/>
      <dgm:t>
        <a:bodyPr/>
        <a:lstStyle/>
        <a:p>
          <a:endParaRPr lang="en-US"/>
        </a:p>
      </dgm:t>
    </dgm:pt>
    <dgm:pt modelId="{48D234DA-3B21-4044-94A3-3C6F88540BA0}">
      <dgm:prSet phldrT="[Text]" custT="1"/>
      <dgm:spPr/>
      <dgm:t>
        <a:bodyPr/>
        <a:lstStyle/>
        <a:p>
          <a:r>
            <a:rPr lang="en-US" sz="1800" dirty="0" smtClean="0"/>
            <a:t>e.g. Refrigerator, AC</a:t>
          </a:r>
          <a:endParaRPr lang="en-US" sz="1800" dirty="0"/>
        </a:p>
      </dgm:t>
    </dgm:pt>
    <dgm:pt modelId="{5F3E5080-1F87-4030-AF29-E143E10C7779}" type="parTrans" cxnId="{6CF42741-A985-4CA2-AE9D-D7C83B46FC23}">
      <dgm:prSet/>
      <dgm:spPr/>
    </dgm:pt>
    <dgm:pt modelId="{E6CE6C83-3469-4F11-B7B4-E8DC77A266EB}" type="sibTrans" cxnId="{6CF42741-A985-4CA2-AE9D-D7C83B46FC23}">
      <dgm:prSet/>
      <dgm:spPr/>
    </dgm:pt>
    <dgm:pt modelId="{F8D8982B-A509-4314-8B63-ECB0FE28A74A}" type="pres">
      <dgm:prSet presAssocID="{4F3810D1-2A57-4012-9A1C-F1464ED66EE2}" presName="Name0" presStyleCnt="0">
        <dgm:presLayoutVars>
          <dgm:dir/>
          <dgm:animLvl val="lvl"/>
          <dgm:resizeHandles val="exact"/>
        </dgm:presLayoutVars>
      </dgm:prSet>
      <dgm:spPr/>
      <dgm:t>
        <a:bodyPr/>
        <a:lstStyle/>
        <a:p>
          <a:endParaRPr lang="en-US"/>
        </a:p>
      </dgm:t>
    </dgm:pt>
    <dgm:pt modelId="{7A56BDB4-BBF3-42F8-B375-68663FAA1D32}" type="pres">
      <dgm:prSet presAssocID="{00281B79-6FDC-4B05-BD18-979245FABFB0}" presName="composite" presStyleCnt="0"/>
      <dgm:spPr/>
    </dgm:pt>
    <dgm:pt modelId="{BC4209B9-1071-4B84-AE31-74DF88B9E45B}" type="pres">
      <dgm:prSet presAssocID="{00281B79-6FDC-4B05-BD18-979245FABFB0}" presName="parTx" presStyleLbl="alignNode1" presStyleIdx="0" presStyleCnt="3">
        <dgm:presLayoutVars>
          <dgm:chMax val="0"/>
          <dgm:chPref val="0"/>
          <dgm:bulletEnabled val="1"/>
        </dgm:presLayoutVars>
      </dgm:prSet>
      <dgm:spPr/>
      <dgm:t>
        <a:bodyPr/>
        <a:lstStyle/>
        <a:p>
          <a:endParaRPr lang="en-US"/>
        </a:p>
      </dgm:t>
    </dgm:pt>
    <dgm:pt modelId="{9B25288E-7B42-43D0-923E-ABEA1866B97B}" type="pres">
      <dgm:prSet presAssocID="{00281B79-6FDC-4B05-BD18-979245FABFB0}" presName="desTx" presStyleLbl="alignAccFollowNode1" presStyleIdx="0" presStyleCnt="3">
        <dgm:presLayoutVars>
          <dgm:bulletEnabled val="1"/>
        </dgm:presLayoutVars>
      </dgm:prSet>
      <dgm:spPr/>
      <dgm:t>
        <a:bodyPr/>
        <a:lstStyle/>
        <a:p>
          <a:endParaRPr lang="en-US"/>
        </a:p>
      </dgm:t>
    </dgm:pt>
    <dgm:pt modelId="{22E5176B-610E-4D0B-B51C-0BE3550E8AB5}" type="pres">
      <dgm:prSet presAssocID="{B85850D7-559B-451D-82FE-0CDF3D4CB1CB}" presName="space" presStyleCnt="0"/>
      <dgm:spPr/>
    </dgm:pt>
    <dgm:pt modelId="{AD3D1062-1C08-4A3C-8F67-E2751722062B}" type="pres">
      <dgm:prSet presAssocID="{727DF44A-284A-451B-9097-9E1FF3F2222F}" presName="composite" presStyleCnt="0"/>
      <dgm:spPr/>
    </dgm:pt>
    <dgm:pt modelId="{F4CF58E8-EA8E-422B-AE6D-92709F0DA22F}" type="pres">
      <dgm:prSet presAssocID="{727DF44A-284A-451B-9097-9E1FF3F2222F}" presName="parTx" presStyleLbl="alignNode1" presStyleIdx="1" presStyleCnt="3">
        <dgm:presLayoutVars>
          <dgm:chMax val="0"/>
          <dgm:chPref val="0"/>
          <dgm:bulletEnabled val="1"/>
        </dgm:presLayoutVars>
      </dgm:prSet>
      <dgm:spPr/>
      <dgm:t>
        <a:bodyPr/>
        <a:lstStyle/>
        <a:p>
          <a:endParaRPr lang="en-US"/>
        </a:p>
      </dgm:t>
    </dgm:pt>
    <dgm:pt modelId="{711E00B8-3524-4438-867D-D86C9BF153F1}" type="pres">
      <dgm:prSet presAssocID="{727DF44A-284A-451B-9097-9E1FF3F2222F}" presName="desTx" presStyleLbl="alignAccFollowNode1" presStyleIdx="1" presStyleCnt="3">
        <dgm:presLayoutVars>
          <dgm:bulletEnabled val="1"/>
        </dgm:presLayoutVars>
      </dgm:prSet>
      <dgm:spPr/>
      <dgm:t>
        <a:bodyPr/>
        <a:lstStyle/>
        <a:p>
          <a:endParaRPr lang="en-US"/>
        </a:p>
      </dgm:t>
    </dgm:pt>
    <dgm:pt modelId="{1B649EF3-1DB2-474C-B67F-AB5D782EFB4E}" type="pres">
      <dgm:prSet presAssocID="{B4502C69-28BD-4E26-946A-BD2355D1ED97}" presName="space" presStyleCnt="0"/>
      <dgm:spPr/>
    </dgm:pt>
    <dgm:pt modelId="{A6FAF624-A725-4A7D-9049-0AF7C9565DA8}" type="pres">
      <dgm:prSet presAssocID="{6874B25F-B3F8-4CF9-85EA-BD2DCEC1B12E}" presName="composite" presStyleCnt="0"/>
      <dgm:spPr/>
    </dgm:pt>
    <dgm:pt modelId="{8F80C66F-E49C-434C-8D3B-967CB65D499E}" type="pres">
      <dgm:prSet presAssocID="{6874B25F-B3F8-4CF9-85EA-BD2DCEC1B12E}" presName="parTx" presStyleLbl="alignNode1" presStyleIdx="2" presStyleCnt="3">
        <dgm:presLayoutVars>
          <dgm:chMax val="0"/>
          <dgm:chPref val="0"/>
          <dgm:bulletEnabled val="1"/>
        </dgm:presLayoutVars>
      </dgm:prSet>
      <dgm:spPr/>
      <dgm:t>
        <a:bodyPr/>
        <a:lstStyle/>
        <a:p>
          <a:endParaRPr lang="en-US"/>
        </a:p>
      </dgm:t>
    </dgm:pt>
    <dgm:pt modelId="{B1F2269E-EA74-401B-8237-62EC0D7C2547}" type="pres">
      <dgm:prSet presAssocID="{6874B25F-B3F8-4CF9-85EA-BD2DCEC1B12E}" presName="desTx" presStyleLbl="alignAccFollowNode1" presStyleIdx="2" presStyleCnt="3">
        <dgm:presLayoutVars>
          <dgm:bulletEnabled val="1"/>
        </dgm:presLayoutVars>
      </dgm:prSet>
      <dgm:spPr/>
      <dgm:t>
        <a:bodyPr/>
        <a:lstStyle/>
        <a:p>
          <a:endParaRPr lang="en-US"/>
        </a:p>
      </dgm:t>
    </dgm:pt>
  </dgm:ptLst>
  <dgm:cxnLst>
    <dgm:cxn modelId="{B7D56A5D-8396-4C1B-9405-EBA9159CDDD1}" type="presOf" srcId="{FE31D8C5-3A2E-4BB9-9D67-8D5BC35B1BF7}" destId="{B1F2269E-EA74-401B-8237-62EC0D7C2547}" srcOrd="0" destOrd="1" presId="urn:microsoft.com/office/officeart/2005/8/layout/hList1"/>
    <dgm:cxn modelId="{D7E64A57-1F4C-41B7-9B8B-DE0A6D2BED00}" type="presOf" srcId="{64C9B0C7-0828-4137-B5D4-072381EED516}" destId="{711E00B8-3524-4438-867D-D86C9BF153F1}" srcOrd="0" destOrd="0" presId="urn:microsoft.com/office/officeart/2005/8/layout/hList1"/>
    <dgm:cxn modelId="{2E9FEAD8-85D9-46CA-9CC1-5BB7F615AC7D}" srcId="{4F3810D1-2A57-4012-9A1C-F1464ED66EE2}" destId="{727DF44A-284A-451B-9097-9E1FF3F2222F}" srcOrd="1" destOrd="0" parTransId="{00EC4E61-148C-4FCB-83CA-A98C458FD6FE}" sibTransId="{B4502C69-28BD-4E26-946A-BD2355D1ED97}"/>
    <dgm:cxn modelId="{92AC94E4-CB39-4FDA-B099-A2A23835D470}" type="presOf" srcId="{E3C1DCA7-CE00-4F92-BAAA-60B9C96F623E}" destId="{9B25288E-7B42-43D0-923E-ABEA1866B97B}" srcOrd="0" destOrd="1" presId="urn:microsoft.com/office/officeart/2005/8/layout/hList1"/>
    <dgm:cxn modelId="{9F1D742E-EDD1-467E-B698-1E24F61CC5FE}" type="presOf" srcId="{4F3810D1-2A57-4012-9A1C-F1464ED66EE2}" destId="{F8D8982B-A509-4314-8B63-ECB0FE28A74A}" srcOrd="0" destOrd="0" presId="urn:microsoft.com/office/officeart/2005/8/layout/hList1"/>
    <dgm:cxn modelId="{53F5E58D-8A4C-4A47-9324-0382BB6AADE1}" srcId="{00281B79-6FDC-4B05-BD18-979245FABFB0}" destId="{6440AD9C-950B-4E90-8804-8BBB3BD750D6}" srcOrd="0" destOrd="0" parTransId="{24919769-375F-4584-AAB1-CBEBA2EC5D39}" sibTransId="{8259556A-B980-4464-B09B-B673706854F1}"/>
    <dgm:cxn modelId="{80E98261-0611-4372-ABD6-33CDFA766ECC}" type="presOf" srcId="{6874B25F-B3F8-4CF9-85EA-BD2DCEC1B12E}" destId="{8F80C66F-E49C-434C-8D3B-967CB65D499E}" srcOrd="0" destOrd="0" presId="urn:microsoft.com/office/officeart/2005/8/layout/hList1"/>
    <dgm:cxn modelId="{6CF42741-A985-4CA2-AE9D-D7C83B46FC23}" srcId="{727DF44A-284A-451B-9097-9E1FF3F2222F}" destId="{48D234DA-3B21-4044-94A3-3C6F88540BA0}" srcOrd="1" destOrd="0" parTransId="{5F3E5080-1F87-4030-AF29-E143E10C7779}" sibTransId="{E6CE6C83-3469-4F11-B7B4-E8DC77A266EB}"/>
    <dgm:cxn modelId="{3F7F83FE-3425-4822-A7C9-6448EC444DA6}" type="presOf" srcId="{00281B79-6FDC-4B05-BD18-979245FABFB0}" destId="{BC4209B9-1071-4B84-AE31-74DF88B9E45B}" srcOrd="0" destOrd="0" presId="urn:microsoft.com/office/officeart/2005/8/layout/hList1"/>
    <dgm:cxn modelId="{2610A2D5-D38E-4FD5-9E0B-2EF2BD6AA91D}" srcId="{727DF44A-284A-451B-9097-9E1FF3F2222F}" destId="{64C9B0C7-0828-4137-B5D4-072381EED516}" srcOrd="0" destOrd="0" parTransId="{94EEE4C4-93D5-4C58-AA21-4EC628EEF546}" sibTransId="{67DE75F9-2A7E-4B9F-B1E0-A82BEB076FBC}"/>
    <dgm:cxn modelId="{ACA64199-CA8E-46E7-9193-8E54CD9178E4}" srcId="{00281B79-6FDC-4B05-BD18-979245FABFB0}" destId="{E3C1DCA7-CE00-4F92-BAAA-60B9C96F623E}" srcOrd="1" destOrd="0" parTransId="{84ABA95D-6F25-4E88-8ABD-03AE1F2EB4ED}" sibTransId="{04954B72-F5B0-4462-9094-0A8E34920F84}"/>
    <dgm:cxn modelId="{099C0D12-BC00-41B3-803B-18CE215810E7}" srcId="{4F3810D1-2A57-4012-9A1C-F1464ED66EE2}" destId="{6874B25F-B3F8-4CF9-85EA-BD2DCEC1B12E}" srcOrd="2" destOrd="0" parTransId="{ED9F49CC-B5CC-417E-8E79-7F581EA6620A}" sibTransId="{669F00E0-B534-4639-AE77-D9BB4F29670F}"/>
    <dgm:cxn modelId="{A7DC30AD-353C-43D3-92D4-3F76F42A53DC}" srcId="{4F3810D1-2A57-4012-9A1C-F1464ED66EE2}" destId="{00281B79-6FDC-4B05-BD18-979245FABFB0}" srcOrd="0" destOrd="0" parTransId="{56013B79-C44E-431B-8091-5F2AC9D9C4AC}" sibTransId="{B85850D7-559B-451D-82FE-0CDF3D4CB1CB}"/>
    <dgm:cxn modelId="{DCAECD90-F096-4171-BBC2-C7EE7F32F598}" srcId="{6874B25F-B3F8-4CF9-85EA-BD2DCEC1B12E}" destId="{FE31D8C5-3A2E-4BB9-9D67-8D5BC35B1BF7}" srcOrd="1" destOrd="0" parTransId="{55908DBB-2C2F-4441-96D4-8140DF23ABBC}" sibTransId="{B194071D-08ED-44F2-834B-323833B3A25F}"/>
    <dgm:cxn modelId="{F5CACCEC-8C94-41E4-9BCA-2D5F824C8749}" type="presOf" srcId="{6440AD9C-950B-4E90-8804-8BBB3BD750D6}" destId="{9B25288E-7B42-43D0-923E-ABEA1866B97B}" srcOrd="0" destOrd="0" presId="urn:microsoft.com/office/officeart/2005/8/layout/hList1"/>
    <dgm:cxn modelId="{80D20915-0396-4E15-BFA5-90B5406C3FDD}" type="presOf" srcId="{C454FB33-825D-4EEA-B844-1FCBD832BCFC}" destId="{B1F2269E-EA74-401B-8237-62EC0D7C2547}" srcOrd="0" destOrd="0" presId="urn:microsoft.com/office/officeart/2005/8/layout/hList1"/>
    <dgm:cxn modelId="{932FBC2A-88D1-4BD8-86B9-14F89CE83D66}" type="presOf" srcId="{727DF44A-284A-451B-9097-9E1FF3F2222F}" destId="{F4CF58E8-EA8E-422B-AE6D-92709F0DA22F}" srcOrd="0" destOrd="0" presId="urn:microsoft.com/office/officeart/2005/8/layout/hList1"/>
    <dgm:cxn modelId="{2C14E863-30D1-4E58-AF95-A9BB48D29B31}" srcId="{6874B25F-B3F8-4CF9-85EA-BD2DCEC1B12E}" destId="{C454FB33-825D-4EEA-B844-1FCBD832BCFC}" srcOrd="0" destOrd="0" parTransId="{7CAFCDDE-7FAB-4775-BA85-0E239BE8D061}" sibTransId="{4A63AE53-E455-4F4A-804F-BDD6B9F2F664}"/>
    <dgm:cxn modelId="{602304FD-7431-4D21-8355-2B403DB3856E}" type="presOf" srcId="{48D234DA-3B21-4044-94A3-3C6F88540BA0}" destId="{711E00B8-3524-4438-867D-D86C9BF153F1}" srcOrd="0" destOrd="1" presId="urn:microsoft.com/office/officeart/2005/8/layout/hList1"/>
    <dgm:cxn modelId="{629C1C4E-C3BB-4DC2-B418-96B275B29DA4}" type="presParOf" srcId="{F8D8982B-A509-4314-8B63-ECB0FE28A74A}" destId="{7A56BDB4-BBF3-42F8-B375-68663FAA1D32}" srcOrd="0" destOrd="0" presId="urn:microsoft.com/office/officeart/2005/8/layout/hList1"/>
    <dgm:cxn modelId="{2A9E28A4-5CDE-48A1-B834-C8B1FE36B8DA}" type="presParOf" srcId="{7A56BDB4-BBF3-42F8-B375-68663FAA1D32}" destId="{BC4209B9-1071-4B84-AE31-74DF88B9E45B}" srcOrd="0" destOrd="0" presId="urn:microsoft.com/office/officeart/2005/8/layout/hList1"/>
    <dgm:cxn modelId="{3842520B-8B88-4358-B829-D82D6D8CC2B5}" type="presParOf" srcId="{7A56BDB4-BBF3-42F8-B375-68663FAA1D32}" destId="{9B25288E-7B42-43D0-923E-ABEA1866B97B}" srcOrd="1" destOrd="0" presId="urn:microsoft.com/office/officeart/2005/8/layout/hList1"/>
    <dgm:cxn modelId="{17622011-990A-4C34-B9D6-EA4559B1C41D}" type="presParOf" srcId="{F8D8982B-A509-4314-8B63-ECB0FE28A74A}" destId="{22E5176B-610E-4D0B-B51C-0BE3550E8AB5}" srcOrd="1" destOrd="0" presId="urn:microsoft.com/office/officeart/2005/8/layout/hList1"/>
    <dgm:cxn modelId="{B55022BD-F3F4-45E5-A862-4EF315AEE6AD}" type="presParOf" srcId="{F8D8982B-A509-4314-8B63-ECB0FE28A74A}" destId="{AD3D1062-1C08-4A3C-8F67-E2751722062B}" srcOrd="2" destOrd="0" presId="urn:microsoft.com/office/officeart/2005/8/layout/hList1"/>
    <dgm:cxn modelId="{AB87F0BE-6010-4E02-A20F-277EFAF7A699}" type="presParOf" srcId="{AD3D1062-1C08-4A3C-8F67-E2751722062B}" destId="{F4CF58E8-EA8E-422B-AE6D-92709F0DA22F}" srcOrd="0" destOrd="0" presId="urn:microsoft.com/office/officeart/2005/8/layout/hList1"/>
    <dgm:cxn modelId="{3F4C3263-7441-4F53-B867-F02E52AB7301}" type="presParOf" srcId="{AD3D1062-1C08-4A3C-8F67-E2751722062B}" destId="{711E00B8-3524-4438-867D-D86C9BF153F1}" srcOrd="1" destOrd="0" presId="urn:microsoft.com/office/officeart/2005/8/layout/hList1"/>
    <dgm:cxn modelId="{2B280D9B-7BED-4E52-8761-30C676E43BA1}" type="presParOf" srcId="{F8D8982B-A509-4314-8B63-ECB0FE28A74A}" destId="{1B649EF3-1DB2-474C-B67F-AB5D782EFB4E}" srcOrd="3" destOrd="0" presId="urn:microsoft.com/office/officeart/2005/8/layout/hList1"/>
    <dgm:cxn modelId="{73E6CB43-4E16-40D1-B241-01A14E4CEC9F}" type="presParOf" srcId="{F8D8982B-A509-4314-8B63-ECB0FE28A74A}" destId="{A6FAF624-A725-4A7D-9049-0AF7C9565DA8}" srcOrd="4" destOrd="0" presId="urn:microsoft.com/office/officeart/2005/8/layout/hList1"/>
    <dgm:cxn modelId="{3694203D-18CB-485D-BDF5-67DAD8393293}" type="presParOf" srcId="{A6FAF624-A725-4A7D-9049-0AF7C9565DA8}" destId="{8F80C66F-E49C-434C-8D3B-967CB65D499E}" srcOrd="0" destOrd="0" presId="urn:microsoft.com/office/officeart/2005/8/layout/hList1"/>
    <dgm:cxn modelId="{2A5BC990-2D30-4454-BF4F-AE5B6E55E8D3}" type="presParOf" srcId="{A6FAF624-A725-4A7D-9049-0AF7C9565DA8}" destId="{B1F2269E-EA74-401B-8237-62EC0D7C2547}" srcOrd="1" destOrd="0" presId="urn:microsoft.com/office/officeart/2005/8/layout/hList1"/>
  </dgm:cxnLst>
  <dgm:bg/>
  <dgm:whole/>
</dgm:dataModel>
</file>

<file path=ppt/diagrams/data3.xml><?xml version="1.0" encoding="utf-8"?>
<dgm:dataModel xmlns:dgm="http://schemas.openxmlformats.org/drawingml/2006/diagram" xmlns:a="http://schemas.openxmlformats.org/drawingml/2006/main">
  <dgm:ptLst>
    <dgm:pt modelId="{F7250C07-724D-49FD-930F-CB678E5106F2}"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CDF50FA0-5746-4007-B4D2-2521EBD317D2}">
      <dgm:prSet phldrT="[Text]" custT="1"/>
      <dgm:spPr/>
      <dgm:t>
        <a:bodyPr/>
        <a:lstStyle/>
        <a:p>
          <a:r>
            <a:rPr lang="en-US" sz="3200" dirty="0" smtClean="0"/>
            <a:t>Point function</a:t>
          </a:r>
          <a:endParaRPr lang="en-US" sz="3200" dirty="0"/>
        </a:p>
      </dgm:t>
    </dgm:pt>
    <dgm:pt modelId="{BB86EE09-6C5B-437F-A19E-69620384568A}" type="parTrans" cxnId="{9B2DD06D-B9D2-45AE-9957-364B3E9C2A2D}">
      <dgm:prSet/>
      <dgm:spPr/>
      <dgm:t>
        <a:bodyPr/>
        <a:lstStyle/>
        <a:p>
          <a:endParaRPr lang="en-US"/>
        </a:p>
      </dgm:t>
    </dgm:pt>
    <dgm:pt modelId="{9F4A74C7-A228-41F4-B799-8CFD9B196D9E}" type="sibTrans" cxnId="{9B2DD06D-B9D2-45AE-9957-364B3E9C2A2D}">
      <dgm:prSet/>
      <dgm:spPr/>
      <dgm:t>
        <a:bodyPr/>
        <a:lstStyle/>
        <a:p>
          <a:endParaRPr lang="en-US"/>
        </a:p>
      </dgm:t>
    </dgm:pt>
    <dgm:pt modelId="{C8810AF5-6B33-4C34-B058-A46AFAE026FD}">
      <dgm:prSet phldrT="[Text]" custT="1"/>
      <dgm:spPr/>
      <dgm:t>
        <a:bodyPr/>
        <a:lstStyle/>
        <a:p>
          <a:r>
            <a:rPr lang="en-US" sz="2400" dirty="0" smtClean="0"/>
            <a:t>Properties whose value depends on end states</a:t>
          </a:r>
          <a:endParaRPr lang="en-US" sz="2400" dirty="0"/>
        </a:p>
      </dgm:t>
    </dgm:pt>
    <dgm:pt modelId="{6A72B5FC-0046-41FB-B626-5403C281B892}" type="parTrans" cxnId="{89E86841-F9B3-4709-9679-26B695DB5C38}">
      <dgm:prSet/>
      <dgm:spPr/>
      <dgm:t>
        <a:bodyPr/>
        <a:lstStyle/>
        <a:p>
          <a:endParaRPr lang="en-US"/>
        </a:p>
      </dgm:t>
    </dgm:pt>
    <dgm:pt modelId="{09678DD8-BC3F-41CF-9541-4651E69D8BA3}" type="sibTrans" cxnId="{89E86841-F9B3-4709-9679-26B695DB5C38}">
      <dgm:prSet/>
      <dgm:spPr/>
      <dgm:t>
        <a:bodyPr/>
        <a:lstStyle/>
        <a:p>
          <a:endParaRPr lang="en-US"/>
        </a:p>
      </dgm:t>
    </dgm:pt>
    <dgm:pt modelId="{F0B8634C-F21F-42B0-884E-D9E6B96CDF64}">
      <dgm:prSet phldrT="[Text]" custT="1"/>
      <dgm:spPr/>
      <dgm:t>
        <a:bodyPr/>
        <a:lstStyle/>
        <a:p>
          <a:r>
            <a:rPr lang="en-US" sz="2400" dirty="0" smtClean="0"/>
            <a:t>exact or perfect differentials</a:t>
          </a:r>
          <a:endParaRPr lang="en-US" sz="2400" dirty="0"/>
        </a:p>
      </dgm:t>
    </dgm:pt>
    <dgm:pt modelId="{09C98E77-965E-4B2D-9929-782797445014}" type="parTrans" cxnId="{1DF37DA4-53DA-4837-9464-1AE12E247B52}">
      <dgm:prSet/>
      <dgm:spPr/>
      <dgm:t>
        <a:bodyPr/>
        <a:lstStyle/>
        <a:p>
          <a:endParaRPr lang="en-US"/>
        </a:p>
      </dgm:t>
    </dgm:pt>
    <dgm:pt modelId="{BD826335-F99D-4804-9C8F-F1C1981C053F}" type="sibTrans" cxnId="{1DF37DA4-53DA-4837-9464-1AE12E247B52}">
      <dgm:prSet/>
      <dgm:spPr/>
      <dgm:t>
        <a:bodyPr/>
        <a:lstStyle/>
        <a:p>
          <a:endParaRPr lang="en-US"/>
        </a:p>
      </dgm:t>
    </dgm:pt>
    <dgm:pt modelId="{572CF3D5-4186-4665-906F-56E9EA3BD4E7}">
      <dgm:prSet phldrT="[Text]" custT="1"/>
      <dgm:spPr/>
      <dgm:t>
        <a:bodyPr/>
        <a:lstStyle/>
        <a:p>
          <a:r>
            <a:rPr lang="en-US" sz="3200" dirty="0" smtClean="0"/>
            <a:t>Path function</a:t>
          </a:r>
          <a:endParaRPr lang="en-US" sz="3200" dirty="0"/>
        </a:p>
      </dgm:t>
    </dgm:pt>
    <dgm:pt modelId="{AEC7BFB8-6C61-4ED1-BA8F-590A6C202517}" type="parTrans" cxnId="{FBC1A0AC-37D1-4F2B-A84A-15CAD79816E3}">
      <dgm:prSet/>
      <dgm:spPr/>
      <dgm:t>
        <a:bodyPr/>
        <a:lstStyle/>
        <a:p>
          <a:endParaRPr lang="en-US"/>
        </a:p>
      </dgm:t>
    </dgm:pt>
    <dgm:pt modelId="{64EA3D96-FCEB-44F7-B4FF-2FC0C1585163}" type="sibTrans" cxnId="{FBC1A0AC-37D1-4F2B-A84A-15CAD79816E3}">
      <dgm:prSet/>
      <dgm:spPr/>
      <dgm:t>
        <a:bodyPr/>
        <a:lstStyle/>
        <a:p>
          <a:endParaRPr lang="en-US"/>
        </a:p>
      </dgm:t>
    </dgm:pt>
    <dgm:pt modelId="{149FD039-1333-49A8-9A74-2781BCC1D7DB}">
      <dgm:prSet phldrT="[Text]" custT="1"/>
      <dgm:spPr/>
      <dgm:t>
        <a:bodyPr/>
        <a:lstStyle/>
        <a:p>
          <a:r>
            <a:rPr lang="en-US" sz="2400" dirty="0" smtClean="0"/>
            <a:t>Properties whose value depend on path</a:t>
          </a:r>
          <a:endParaRPr lang="en-US" sz="2400" dirty="0"/>
        </a:p>
      </dgm:t>
    </dgm:pt>
    <dgm:pt modelId="{04319514-EC5C-4ED6-9354-E7A309F96088}" type="parTrans" cxnId="{F3F56972-EE08-4196-AE4A-072DE09BECAB}">
      <dgm:prSet/>
      <dgm:spPr/>
      <dgm:t>
        <a:bodyPr/>
        <a:lstStyle/>
        <a:p>
          <a:endParaRPr lang="en-US"/>
        </a:p>
      </dgm:t>
    </dgm:pt>
    <dgm:pt modelId="{490B154D-37FB-4778-99B5-FE418F66DDFB}" type="sibTrans" cxnId="{F3F56972-EE08-4196-AE4A-072DE09BECAB}">
      <dgm:prSet/>
      <dgm:spPr/>
      <dgm:t>
        <a:bodyPr/>
        <a:lstStyle/>
        <a:p>
          <a:endParaRPr lang="en-US"/>
        </a:p>
      </dgm:t>
    </dgm:pt>
    <dgm:pt modelId="{7CE03F29-A00D-4CFB-ABFF-BCD2B4AF5A65}">
      <dgm:prSet phldrT="[Text]" custT="1"/>
      <dgm:spPr/>
      <dgm:t>
        <a:bodyPr/>
        <a:lstStyle/>
        <a:p>
          <a:r>
            <a:rPr lang="en-US" sz="2400" dirty="0" smtClean="0"/>
            <a:t>Inexact differentials</a:t>
          </a:r>
          <a:endParaRPr lang="en-US" sz="2400" dirty="0"/>
        </a:p>
      </dgm:t>
    </dgm:pt>
    <dgm:pt modelId="{FBEA5AA6-D737-4A5C-9154-5F60F9086D65}" type="parTrans" cxnId="{91E12DCB-9F9C-4B19-A9EA-2CC9D7C1CED6}">
      <dgm:prSet/>
      <dgm:spPr/>
      <dgm:t>
        <a:bodyPr/>
        <a:lstStyle/>
        <a:p>
          <a:endParaRPr lang="en-US"/>
        </a:p>
      </dgm:t>
    </dgm:pt>
    <dgm:pt modelId="{EC568988-EC5A-4B20-AA7B-B288CF631433}" type="sibTrans" cxnId="{91E12DCB-9F9C-4B19-A9EA-2CC9D7C1CED6}">
      <dgm:prSet/>
      <dgm:spPr/>
      <dgm:t>
        <a:bodyPr/>
        <a:lstStyle/>
        <a:p>
          <a:endParaRPr lang="en-US"/>
        </a:p>
      </dgm:t>
    </dgm:pt>
    <dgm:pt modelId="{FAC62BC4-AFF4-4CE4-990E-5161C0DE2611}">
      <dgm:prSet phldrT="[Text]" custT="1"/>
      <dgm:spPr/>
      <dgm:t>
        <a:bodyPr/>
        <a:lstStyle/>
        <a:p>
          <a:r>
            <a:rPr lang="en-US" sz="2400" dirty="0" smtClean="0"/>
            <a:t>e.g. Pressure, Temperature , Volume</a:t>
          </a:r>
          <a:endParaRPr lang="en-US" sz="2400" dirty="0"/>
        </a:p>
      </dgm:t>
    </dgm:pt>
    <dgm:pt modelId="{1800BA54-486E-4190-8894-A0791BAE700F}" type="parTrans" cxnId="{CB03535E-639A-4B50-93A9-117EE1BC33EC}">
      <dgm:prSet/>
      <dgm:spPr/>
    </dgm:pt>
    <dgm:pt modelId="{8F67EC29-16C2-4FC7-AB97-59E2288513D4}" type="sibTrans" cxnId="{CB03535E-639A-4B50-93A9-117EE1BC33EC}">
      <dgm:prSet/>
      <dgm:spPr/>
    </dgm:pt>
    <dgm:pt modelId="{9B1E8593-B668-422C-9A0D-2FEB8089EF28}">
      <dgm:prSet phldrT="[Text]" custT="1"/>
      <dgm:spPr/>
      <dgm:t>
        <a:bodyPr/>
        <a:lstStyle/>
        <a:p>
          <a:r>
            <a:rPr lang="en-US" sz="2400" dirty="0" smtClean="0"/>
            <a:t>e.g. Work , Heat</a:t>
          </a:r>
          <a:endParaRPr lang="en-US" sz="2400" dirty="0"/>
        </a:p>
      </dgm:t>
    </dgm:pt>
    <dgm:pt modelId="{3EBFB7F0-223A-4227-8FF1-82F3D3001DBC}" type="parTrans" cxnId="{2FD7E36F-EA32-40AC-ADFB-E7CE41F520B9}">
      <dgm:prSet/>
      <dgm:spPr/>
    </dgm:pt>
    <dgm:pt modelId="{9608D2DD-C7BA-46CD-BF86-0427A50FF985}" type="sibTrans" cxnId="{2FD7E36F-EA32-40AC-ADFB-E7CE41F520B9}">
      <dgm:prSet/>
      <dgm:spPr/>
    </dgm:pt>
    <dgm:pt modelId="{027052F5-D614-4979-B047-84A65DE54331}" type="pres">
      <dgm:prSet presAssocID="{F7250C07-724D-49FD-930F-CB678E5106F2}" presName="Name0" presStyleCnt="0">
        <dgm:presLayoutVars>
          <dgm:dir/>
          <dgm:animLvl val="lvl"/>
          <dgm:resizeHandles val="exact"/>
        </dgm:presLayoutVars>
      </dgm:prSet>
      <dgm:spPr/>
      <dgm:t>
        <a:bodyPr/>
        <a:lstStyle/>
        <a:p>
          <a:endParaRPr lang="en-US"/>
        </a:p>
      </dgm:t>
    </dgm:pt>
    <dgm:pt modelId="{17FDD042-4C4E-4C17-A52E-4CABAD290F83}" type="pres">
      <dgm:prSet presAssocID="{CDF50FA0-5746-4007-B4D2-2521EBD317D2}" presName="composite" presStyleCnt="0"/>
      <dgm:spPr/>
    </dgm:pt>
    <dgm:pt modelId="{ABE367BC-F346-428C-BDB1-2E6CCDEE51B4}" type="pres">
      <dgm:prSet presAssocID="{CDF50FA0-5746-4007-B4D2-2521EBD317D2}" presName="parTx" presStyleLbl="alignNode1" presStyleIdx="0" presStyleCnt="2">
        <dgm:presLayoutVars>
          <dgm:chMax val="0"/>
          <dgm:chPref val="0"/>
          <dgm:bulletEnabled val="1"/>
        </dgm:presLayoutVars>
      </dgm:prSet>
      <dgm:spPr/>
      <dgm:t>
        <a:bodyPr/>
        <a:lstStyle/>
        <a:p>
          <a:endParaRPr lang="en-US"/>
        </a:p>
      </dgm:t>
    </dgm:pt>
    <dgm:pt modelId="{DFC3DAE8-C919-40AF-A23B-4D4AD6A036A8}" type="pres">
      <dgm:prSet presAssocID="{CDF50FA0-5746-4007-B4D2-2521EBD317D2}" presName="desTx" presStyleLbl="alignAccFollowNode1" presStyleIdx="0" presStyleCnt="2">
        <dgm:presLayoutVars>
          <dgm:bulletEnabled val="1"/>
        </dgm:presLayoutVars>
      </dgm:prSet>
      <dgm:spPr/>
      <dgm:t>
        <a:bodyPr/>
        <a:lstStyle/>
        <a:p>
          <a:endParaRPr lang="en-US"/>
        </a:p>
      </dgm:t>
    </dgm:pt>
    <dgm:pt modelId="{CDB8A58A-6898-4D74-9E03-60BA8ACE9622}" type="pres">
      <dgm:prSet presAssocID="{9F4A74C7-A228-41F4-B799-8CFD9B196D9E}" presName="space" presStyleCnt="0"/>
      <dgm:spPr/>
    </dgm:pt>
    <dgm:pt modelId="{2344614E-2CE2-4149-B1FA-797E18E5A410}" type="pres">
      <dgm:prSet presAssocID="{572CF3D5-4186-4665-906F-56E9EA3BD4E7}" presName="composite" presStyleCnt="0"/>
      <dgm:spPr/>
    </dgm:pt>
    <dgm:pt modelId="{CC328EE2-E6DA-4503-92B9-4553A534FC23}" type="pres">
      <dgm:prSet presAssocID="{572CF3D5-4186-4665-906F-56E9EA3BD4E7}" presName="parTx" presStyleLbl="alignNode1" presStyleIdx="1" presStyleCnt="2">
        <dgm:presLayoutVars>
          <dgm:chMax val="0"/>
          <dgm:chPref val="0"/>
          <dgm:bulletEnabled val="1"/>
        </dgm:presLayoutVars>
      </dgm:prSet>
      <dgm:spPr/>
      <dgm:t>
        <a:bodyPr/>
        <a:lstStyle/>
        <a:p>
          <a:endParaRPr lang="en-US"/>
        </a:p>
      </dgm:t>
    </dgm:pt>
    <dgm:pt modelId="{7DAC42EC-B577-4D99-B0F0-A54B78522001}" type="pres">
      <dgm:prSet presAssocID="{572CF3D5-4186-4665-906F-56E9EA3BD4E7}" presName="desTx" presStyleLbl="alignAccFollowNode1" presStyleIdx="1" presStyleCnt="2">
        <dgm:presLayoutVars>
          <dgm:bulletEnabled val="1"/>
        </dgm:presLayoutVars>
      </dgm:prSet>
      <dgm:spPr/>
      <dgm:t>
        <a:bodyPr/>
        <a:lstStyle/>
        <a:p>
          <a:endParaRPr lang="en-US"/>
        </a:p>
      </dgm:t>
    </dgm:pt>
  </dgm:ptLst>
  <dgm:cxnLst>
    <dgm:cxn modelId="{B7C1CE57-0E20-4CC2-987F-C8ADEBCDA540}" type="presOf" srcId="{C8810AF5-6B33-4C34-B058-A46AFAE026FD}" destId="{DFC3DAE8-C919-40AF-A23B-4D4AD6A036A8}" srcOrd="0" destOrd="0" presId="urn:microsoft.com/office/officeart/2005/8/layout/hList1"/>
    <dgm:cxn modelId="{89E86841-F9B3-4709-9679-26B695DB5C38}" srcId="{CDF50FA0-5746-4007-B4D2-2521EBD317D2}" destId="{C8810AF5-6B33-4C34-B058-A46AFAE026FD}" srcOrd="0" destOrd="0" parTransId="{6A72B5FC-0046-41FB-B626-5403C281B892}" sibTransId="{09678DD8-BC3F-41CF-9541-4651E69D8BA3}"/>
    <dgm:cxn modelId="{897CB09C-895D-48F3-845A-165A29DD1E45}" type="presOf" srcId="{CDF50FA0-5746-4007-B4D2-2521EBD317D2}" destId="{ABE367BC-F346-428C-BDB1-2E6CCDEE51B4}" srcOrd="0" destOrd="0" presId="urn:microsoft.com/office/officeart/2005/8/layout/hList1"/>
    <dgm:cxn modelId="{96715AE8-B88B-442D-AD27-98577404704B}" type="presOf" srcId="{7CE03F29-A00D-4CFB-ABFF-BCD2B4AF5A65}" destId="{7DAC42EC-B577-4D99-B0F0-A54B78522001}" srcOrd="0" destOrd="1" presId="urn:microsoft.com/office/officeart/2005/8/layout/hList1"/>
    <dgm:cxn modelId="{E3BD234C-5ADE-4428-9906-CF1D36AD9AFD}" type="presOf" srcId="{149FD039-1333-49A8-9A74-2781BCC1D7DB}" destId="{7DAC42EC-B577-4D99-B0F0-A54B78522001}" srcOrd="0" destOrd="0" presId="urn:microsoft.com/office/officeart/2005/8/layout/hList1"/>
    <dgm:cxn modelId="{CB03535E-639A-4B50-93A9-117EE1BC33EC}" srcId="{CDF50FA0-5746-4007-B4D2-2521EBD317D2}" destId="{FAC62BC4-AFF4-4CE4-990E-5161C0DE2611}" srcOrd="2" destOrd="0" parTransId="{1800BA54-486E-4190-8894-A0791BAE700F}" sibTransId="{8F67EC29-16C2-4FC7-AB97-59E2288513D4}"/>
    <dgm:cxn modelId="{5D52F9F6-C21D-4AA7-AE71-E15A5AE352BB}" type="presOf" srcId="{F0B8634C-F21F-42B0-884E-D9E6B96CDF64}" destId="{DFC3DAE8-C919-40AF-A23B-4D4AD6A036A8}" srcOrd="0" destOrd="1" presId="urn:microsoft.com/office/officeart/2005/8/layout/hList1"/>
    <dgm:cxn modelId="{9B2DD06D-B9D2-45AE-9957-364B3E9C2A2D}" srcId="{F7250C07-724D-49FD-930F-CB678E5106F2}" destId="{CDF50FA0-5746-4007-B4D2-2521EBD317D2}" srcOrd="0" destOrd="0" parTransId="{BB86EE09-6C5B-437F-A19E-69620384568A}" sibTransId="{9F4A74C7-A228-41F4-B799-8CFD9B196D9E}"/>
    <dgm:cxn modelId="{FBC1A0AC-37D1-4F2B-A84A-15CAD79816E3}" srcId="{F7250C07-724D-49FD-930F-CB678E5106F2}" destId="{572CF3D5-4186-4665-906F-56E9EA3BD4E7}" srcOrd="1" destOrd="0" parTransId="{AEC7BFB8-6C61-4ED1-BA8F-590A6C202517}" sibTransId="{64EA3D96-FCEB-44F7-B4FF-2FC0C1585163}"/>
    <dgm:cxn modelId="{1DF37DA4-53DA-4837-9464-1AE12E247B52}" srcId="{CDF50FA0-5746-4007-B4D2-2521EBD317D2}" destId="{F0B8634C-F21F-42B0-884E-D9E6B96CDF64}" srcOrd="1" destOrd="0" parTransId="{09C98E77-965E-4B2D-9929-782797445014}" sibTransId="{BD826335-F99D-4804-9C8F-F1C1981C053F}"/>
    <dgm:cxn modelId="{51825860-FC2F-420B-874F-82834B248591}" type="presOf" srcId="{F7250C07-724D-49FD-930F-CB678E5106F2}" destId="{027052F5-D614-4979-B047-84A65DE54331}" srcOrd="0" destOrd="0" presId="urn:microsoft.com/office/officeart/2005/8/layout/hList1"/>
    <dgm:cxn modelId="{0AC1F9E4-1D91-418C-AE37-DBD3D32686A6}" type="presOf" srcId="{9B1E8593-B668-422C-9A0D-2FEB8089EF28}" destId="{7DAC42EC-B577-4D99-B0F0-A54B78522001}" srcOrd="0" destOrd="2" presId="urn:microsoft.com/office/officeart/2005/8/layout/hList1"/>
    <dgm:cxn modelId="{2FD7E36F-EA32-40AC-ADFB-E7CE41F520B9}" srcId="{572CF3D5-4186-4665-906F-56E9EA3BD4E7}" destId="{9B1E8593-B668-422C-9A0D-2FEB8089EF28}" srcOrd="2" destOrd="0" parTransId="{3EBFB7F0-223A-4227-8FF1-82F3D3001DBC}" sibTransId="{9608D2DD-C7BA-46CD-BF86-0427A50FF985}"/>
    <dgm:cxn modelId="{5700CFDD-8CF2-4C19-859B-C75212B8EE70}" type="presOf" srcId="{572CF3D5-4186-4665-906F-56E9EA3BD4E7}" destId="{CC328EE2-E6DA-4503-92B9-4553A534FC23}" srcOrd="0" destOrd="0" presId="urn:microsoft.com/office/officeart/2005/8/layout/hList1"/>
    <dgm:cxn modelId="{63ADAFFE-7294-43F6-85F0-B5244C7ED2B4}" type="presOf" srcId="{FAC62BC4-AFF4-4CE4-990E-5161C0DE2611}" destId="{DFC3DAE8-C919-40AF-A23B-4D4AD6A036A8}" srcOrd="0" destOrd="2" presId="urn:microsoft.com/office/officeart/2005/8/layout/hList1"/>
    <dgm:cxn modelId="{F3F56972-EE08-4196-AE4A-072DE09BECAB}" srcId="{572CF3D5-4186-4665-906F-56E9EA3BD4E7}" destId="{149FD039-1333-49A8-9A74-2781BCC1D7DB}" srcOrd="0" destOrd="0" parTransId="{04319514-EC5C-4ED6-9354-E7A309F96088}" sibTransId="{490B154D-37FB-4778-99B5-FE418F66DDFB}"/>
    <dgm:cxn modelId="{91E12DCB-9F9C-4B19-A9EA-2CC9D7C1CED6}" srcId="{572CF3D5-4186-4665-906F-56E9EA3BD4E7}" destId="{7CE03F29-A00D-4CFB-ABFF-BCD2B4AF5A65}" srcOrd="1" destOrd="0" parTransId="{FBEA5AA6-D737-4A5C-9154-5F60F9086D65}" sibTransId="{EC568988-EC5A-4B20-AA7B-B288CF631433}"/>
    <dgm:cxn modelId="{D50D9F16-EE5F-4C3A-8FBA-E37D49FAE6E5}" type="presParOf" srcId="{027052F5-D614-4979-B047-84A65DE54331}" destId="{17FDD042-4C4E-4C17-A52E-4CABAD290F83}" srcOrd="0" destOrd="0" presId="urn:microsoft.com/office/officeart/2005/8/layout/hList1"/>
    <dgm:cxn modelId="{D27B3C7D-32A5-443A-BB11-9609AF5023C0}" type="presParOf" srcId="{17FDD042-4C4E-4C17-A52E-4CABAD290F83}" destId="{ABE367BC-F346-428C-BDB1-2E6CCDEE51B4}" srcOrd="0" destOrd="0" presId="urn:microsoft.com/office/officeart/2005/8/layout/hList1"/>
    <dgm:cxn modelId="{B72CC2FA-1BC6-419F-B41A-19B1C87D40EA}" type="presParOf" srcId="{17FDD042-4C4E-4C17-A52E-4CABAD290F83}" destId="{DFC3DAE8-C919-40AF-A23B-4D4AD6A036A8}" srcOrd="1" destOrd="0" presId="urn:microsoft.com/office/officeart/2005/8/layout/hList1"/>
    <dgm:cxn modelId="{EFF2B777-952A-4F1A-BA9C-B08BA490E9E8}" type="presParOf" srcId="{027052F5-D614-4979-B047-84A65DE54331}" destId="{CDB8A58A-6898-4D74-9E03-60BA8ACE9622}" srcOrd="1" destOrd="0" presId="urn:microsoft.com/office/officeart/2005/8/layout/hList1"/>
    <dgm:cxn modelId="{5B442560-B17A-4041-8FCC-53DE52ECBBC0}" type="presParOf" srcId="{027052F5-D614-4979-B047-84A65DE54331}" destId="{2344614E-2CE2-4149-B1FA-797E18E5A410}" srcOrd="2" destOrd="0" presId="urn:microsoft.com/office/officeart/2005/8/layout/hList1"/>
    <dgm:cxn modelId="{84E1D591-2686-46E4-8D8B-263E606F2A5A}" type="presParOf" srcId="{2344614E-2CE2-4149-B1FA-797E18E5A410}" destId="{CC328EE2-E6DA-4503-92B9-4553A534FC23}" srcOrd="0" destOrd="0" presId="urn:microsoft.com/office/officeart/2005/8/layout/hList1"/>
    <dgm:cxn modelId="{FC2410FF-42DA-4494-86C3-2BFD9746FFC8}" type="presParOf" srcId="{2344614E-2CE2-4149-B1FA-797E18E5A410}" destId="{7DAC42EC-B577-4D99-B0F0-A54B78522001}" srcOrd="1" destOrd="0" presId="urn:microsoft.com/office/officeart/2005/8/layout/hList1"/>
  </dgm:cxnLst>
  <dgm:bg/>
  <dgm:whole/>
</dgm:dataModel>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6E254BAA-C169-40AD-9DAD-DA04B5A418BE}" type="datetimeFigureOut">
              <a:rPr lang="en-US" smtClean="0"/>
              <a:pPr/>
              <a:t>8/21/2026</a:t>
            </a:fld>
            <a:endParaRPr lang="en-US" dirty="0"/>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US" dirty="0"/>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3499F8D8-F593-4288-9803-7C59DF776E93}"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E254BAA-C169-40AD-9DAD-DA04B5A418BE}" type="datetimeFigureOut">
              <a:rPr lang="en-US" smtClean="0"/>
              <a:pPr/>
              <a:t>8/21/2026</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3499F8D8-F593-4288-9803-7C59DF776E93}"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6E254BAA-C169-40AD-9DAD-DA04B5A418BE}" type="datetimeFigureOut">
              <a:rPr lang="en-US" smtClean="0"/>
              <a:pPr/>
              <a:t>8/21/2026</a:t>
            </a:fld>
            <a:endParaRPr lang="en-US" dirty="0"/>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US" dirty="0"/>
          </a:p>
        </p:txBody>
      </p:sp>
      <p:sp>
        <p:nvSpPr>
          <p:cNvPr id="6" name="Slide Number Placeholder 5"/>
          <p:cNvSpPr>
            <a:spLocks noGrp="1"/>
          </p:cNvSpPr>
          <p:nvPr>
            <p:ph type="sldNum" sz="quarter" idx="12"/>
          </p:nvPr>
        </p:nvSpPr>
        <p:spPr>
          <a:xfrm>
            <a:off x="6733952" y="6555112"/>
            <a:ext cx="588336" cy="228600"/>
          </a:xfrm>
        </p:spPr>
        <p:txBody>
          <a:bodyPr/>
          <a:lstStyle>
            <a:extLst/>
          </a:lstStyle>
          <a:p>
            <a:fld id="{3499F8D8-F593-4288-9803-7C59DF776E93}"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6E254BAA-C169-40AD-9DAD-DA04B5A418BE}" type="datetimeFigureOut">
              <a:rPr lang="en-US" smtClean="0"/>
              <a:pPr/>
              <a:t>8/21/2026</a:t>
            </a:fld>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3499F8D8-F593-4288-9803-7C59DF776E93}"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6E254BAA-C169-40AD-9DAD-DA04B5A418BE}" type="datetimeFigureOut">
              <a:rPr lang="en-US" smtClean="0"/>
              <a:pPr/>
              <a:t>8/21/2026</a:t>
            </a:fld>
            <a:endParaRPr lang="en-US" dirty="0"/>
          </a:p>
        </p:txBody>
      </p:sp>
      <p:sp>
        <p:nvSpPr>
          <p:cNvPr id="8" name="Footer Placeholder 7"/>
          <p:cNvSpPr>
            <a:spLocks noGrp="1"/>
          </p:cNvSpPr>
          <p:nvPr>
            <p:ph type="ftr" sz="quarter" idx="11"/>
          </p:nvPr>
        </p:nvSpPr>
        <p:spPr/>
        <p:txBody>
          <a:bodyPr/>
          <a:lstStyle>
            <a:extLst/>
          </a:lstStyle>
          <a:p>
            <a:endParaRPr lang="en-US" dirty="0"/>
          </a:p>
        </p:txBody>
      </p:sp>
      <p:sp>
        <p:nvSpPr>
          <p:cNvPr id="9" name="Slide Number Placeholder 8"/>
          <p:cNvSpPr>
            <a:spLocks noGrp="1"/>
          </p:cNvSpPr>
          <p:nvPr>
            <p:ph type="sldNum" sz="quarter" idx="12"/>
          </p:nvPr>
        </p:nvSpPr>
        <p:spPr/>
        <p:txBody>
          <a:bodyPr/>
          <a:lstStyle>
            <a:extLst/>
          </a:lstStyle>
          <a:p>
            <a:fld id="{3499F8D8-F593-4288-9803-7C59DF776E93}"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6E254BAA-C169-40AD-9DAD-DA04B5A418BE}" type="datetimeFigureOut">
              <a:rPr lang="en-US" smtClean="0"/>
              <a:pPr/>
              <a:t>8/21/2026</a:t>
            </a:fld>
            <a:endParaRPr lang="en-US" dirty="0"/>
          </a:p>
        </p:txBody>
      </p:sp>
      <p:sp>
        <p:nvSpPr>
          <p:cNvPr id="4" name="Footer Placeholder 3"/>
          <p:cNvSpPr>
            <a:spLocks noGrp="1"/>
          </p:cNvSpPr>
          <p:nvPr>
            <p:ph type="ftr" sz="quarter" idx="11"/>
          </p:nvPr>
        </p:nvSpPr>
        <p:spPr/>
        <p:txBody>
          <a:bodyPr/>
          <a:lstStyle>
            <a:extLst/>
          </a:lstStyle>
          <a:p>
            <a:endParaRPr lang="en-US" dirty="0"/>
          </a:p>
        </p:txBody>
      </p:sp>
      <p:sp>
        <p:nvSpPr>
          <p:cNvPr id="5" name="Slide Number Placeholder 4"/>
          <p:cNvSpPr>
            <a:spLocks noGrp="1"/>
          </p:cNvSpPr>
          <p:nvPr>
            <p:ph type="sldNum" sz="quarter" idx="12"/>
          </p:nvPr>
        </p:nvSpPr>
        <p:spPr/>
        <p:txBody>
          <a:bodyPr/>
          <a:lstStyle>
            <a:extLst/>
          </a:lstStyle>
          <a:p>
            <a:fld id="{3499F8D8-F593-4288-9803-7C59DF776E93}"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6E254BAA-C169-40AD-9DAD-DA04B5A418BE}" type="datetimeFigureOut">
              <a:rPr lang="en-US" smtClean="0"/>
              <a:pPr/>
              <a:t>8/21/2026</a:t>
            </a:fld>
            <a:endParaRPr lang="en-US" dirty="0"/>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dirty="0"/>
          </a:p>
        </p:txBody>
      </p:sp>
      <p:sp>
        <p:nvSpPr>
          <p:cNvPr id="4" name="Slide Number Placeholder 3"/>
          <p:cNvSpPr>
            <a:spLocks noGrp="1"/>
          </p:cNvSpPr>
          <p:nvPr>
            <p:ph type="sldNum" sz="quarter" idx="12"/>
          </p:nvPr>
        </p:nvSpPr>
        <p:spPr/>
        <p:txBody>
          <a:bodyPr/>
          <a:lstStyle>
            <a:extLst/>
          </a:lstStyle>
          <a:p>
            <a:fld id="{3499F8D8-F593-4288-9803-7C59DF776E93}"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6E254BAA-C169-40AD-9DAD-DA04B5A418BE}" type="datetimeFigureOut">
              <a:rPr lang="en-US" smtClean="0"/>
              <a:pPr/>
              <a:t>8/21/2026</a:t>
            </a:fld>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3499F8D8-F593-4288-9803-7C59DF776E93}"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dirty="0"/>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dirty="0"/>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6E254BAA-C169-40AD-9DAD-DA04B5A418BE}" type="datetimeFigureOut">
              <a:rPr lang="en-US" smtClean="0"/>
              <a:pPr/>
              <a:t>8/21/2026</a:t>
            </a:fld>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3499F8D8-F593-4288-9803-7C59DF776E93}" type="slidenum">
              <a:rPr lang="en-US" smtClean="0"/>
              <a:pPr/>
              <a:t>‹#›</a:t>
            </a:fld>
            <a:endParaRPr lang="en-US" dirty="0"/>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dirty="0"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E254BAA-C169-40AD-9DAD-DA04B5A418BE}" type="datetimeFigureOut">
              <a:rPr lang="en-US" smtClean="0"/>
              <a:pPr/>
              <a:t>8/21/2026</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3499F8D8-F593-4288-9803-7C59DF776E93}"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extLst/>
          </a:lstStyle>
          <a:p>
            <a:fld id="{6E254BAA-C169-40AD-9DAD-DA04B5A418BE}" type="datetimeFigureOut">
              <a:rPr lang="en-US" smtClean="0"/>
              <a:pPr/>
              <a:t>8/21/2026</a:t>
            </a:fld>
            <a:endParaRPr lang="en-US" dirty="0"/>
          </a:p>
        </p:txBody>
      </p:sp>
      <p:sp>
        <p:nvSpPr>
          <p:cNvPr id="5" name="Footer Placeholder 4"/>
          <p:cNvSpPr>
            <a:spLocks noGrp="1"/>
          </p:cNvSpPr>
          <p:nvPr>
            <p:ph type="ftr" sz="quarter" idx="11"/>
          </p:nvPr>
        </p:nvSpPr>
        <p:spPr>
          <a:xfrm>
            <a:off x="457200" y="6556248"/>
            <a:ext cx="3657600" cy="228600"/>
          </a:xfrm>
        </p:spPr>
        <p:txBody>
          <a:bodyPr/>
          <a:lstStyle>
            <a:extLst/>
          </a:lstStyle>
          <a:p>
            <a:endParaRPr lang="en-US" dirty="0"/>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3499F8D8-F593-4288-9803-7C59DF776E93}"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6E254BAA-C169-40AD-9DAD-DA04B5A418BE}" type="datetimeFigureOut">
              <a:rPr lang="en-US" smtClean="0"/>
              <a:pPr/>
              <a:t>8/21/2026</a:t>
            </a:fld>
            <a:endParaRPr lang="en-US" dirty="0"/>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US" dirty="0"/>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3499F8D8-F593-4288-9803-7C59DF776E93}"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diagramLayout" Target="../diagrams/layout2.xml"/><Relationship Id="rId7" Type="http://schemas.openxmlformats.org/officeDocument/2006/relationships/image" Target="../media/image11.jpe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THERMODYNAMICS?</a:t>
            </a:r>
            <a:endParaRPr lang="en-US" dirty="0"/>
          </a:p>
        </p:txBody>
      </p:sp>
      <p:sp>
        <p:nvSpPr>
          <p:cNvPr id="3" name="Content Placeholder 2"/>
          <p:cNvSpPr>
            <a:spLocks noGrp="1"/>
          </p:cNvSpPr>
          <p:nvPr>
            <p:ph idx="1"/>
          </p:nvPr>
        </p:nvSpPr>
        <p:spPr>
          <a:xfrm>
            <a:off x="609600" y="2011680"/>
            <a:ext cx="6934200" cy="4312920"/>
          </a:xfrm>
        </p:spPr>
        <p:txBody>
          <a:bodyPr/>
          <a:lstStyle/>
          <a:p>
            <a:r>
              <a:rPr lang="en-US" dirty="0" smtClean="0">
                <a:solidFill>
                  <a:srgbClr val="C00000"/>
                </a:solidFill>
              </a:rPr>
              <a:t>Thermo</a:t>
            </a:r>
            <a:r>
              <a:rPr lang="en-US" dirty="0" smtClean="0"/>
              <a:t> means Heat </a:t>
            </a:r>
          </a:p>
          <a:p>
            <a:r>
              <a:rPr lang="en-US" dirty="0" smtClean="0">
                <a:solidFill>
                  <a:srgbClr val="0070C0"/>
                </a:solidFill>
              </a:rPr>
              <a:t>Dynamics</a:t>
            </a:r>
            <a:r>
              <a:rPr lang="en-US" dirty="0" smtClean="0"/>
              <a:t> means motion under the action of force</a:t>
            </a:r>
          </a:p>
          <a:p>
            <a:r>
              <a:rPr lang="en-US" dirty="0" smtClean="0">
                <a:solidFill>
                  <a:srgbClr val="FF0000"/>
                </a:solidFill>
              </a:rPr>
              <a:t>Thermodynamics</a:t>
            </a:r>
            <a:r>
              <a:rPr lang="en-US" dirty="0" smtClean="0"/>
              <a:t> is the branch of science dealing with heat or work (Broadly energy interaction) and related changes in the physical properties of substance.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514600"/>
            <a:ext cx="7239000" cy="3941136"/>
          </a:xfrm>
        </p:spPr>
        <p:txBody>
          <a:bodyPr/>
          <a:lstStyle/>
          <a:p>
            <a:pPr algn="just">
              <a:buFont typeface="Wingdings" panose="05000000000000000000" pitchFamily="2" charset="2"/>
              <a:buChar char="Ø"/>
            </a:pPr>
            <a:r>
              <a:rPr lang="en-GB" dirty="0" smtClean="0">
                <a:latin typeface="Times New Roman" panose="02020603050405020304" pitchFamily="18" charset="0"/>
                <a:cs typeface="Times New Roman" panose="02020603050405020304" pitchFamily="18" charset="0"/>
              </a:rPr>
              <a:t>Engineering application of thermodynamic principles is the design of various systems using fluid properties to cause energy transformation</a:t>
            </a:r>
          </a:p>
          <a:p>
            <a:pPr algn="just">
              <a:buFont typeface="Wingdings" panose="05000000000000000000" pitchFamily="2" charset="2"/>
              <a:buChar char="Ø"/>
            </a:pPr>
            <a:endParaRPr lang="en-GB"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GB" dirty="0" smtClean="0">
                <a:latin typeface="Times New Roman" panose="02020603050405020304" pitchFamily="18" charset="0"/>
                <a:cs typeface="Times New Roman" panose="02020603050405020304" pitchFamily="18" charset="0"/>
              </a:rPr>
              <a:t>Applications in design of heat engines, refrigeration machines, air conditioning systems</a:t>
            </a:r>
          </a:p>
          <a:p>
            <a:pPr algn="just"/>
            <a:endParaRPr lang="en-GB" dirty="0" smtClean="0"/>
          </a:p>
          <a:p>
            <a:endParaRPr lang="en-US" dirty="0"/>
          </a:p>
        </p:txBody>
      </p:sp>
      <p:sp>
        <p:nvSpPr>
          <p:cNvPr id="4" name="Title 1"/>
          <p:cNvSpPr>
            <a:spLocks noGrp="1"/>
          </p:cNvSpPr>
          <p:nvPr>
            <p:ph type="title"/>
          </p:nvPr>
        </p:nvSpPr>
        <p:spPr/>
        <p:txBody>
          <a:bodyPr>
            <a:normAutofit fontScale="90000"/>
          </a:bodyPr>
          <a:lstStyle/>
          <a:p>
            <a:pPr algn="ctr"/>
            <a:r>
              <a:rPr lang="en-GB" b="1" dirty="0">
                <a:solidFill>
                  <a:srgbClr val="002060"/>
                </a:solidFill>
                <a:latin typeface="Times New Roman" panose="02020603050405020304" pitchFamily="18" charset="0"/>
                <a:cs typeface="Times New Roman" panose="02020603050405020304" pitchFamily="18" charset="0"/>
              </a:rPr>
              <a:t>Applications of Engineering Thermodynamics</a:t>
            </a:r>
            <a:endParaRPr lang="en-US"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solidFill>
                  <a:srgbClr val="002060"/>
                </a:solidFill>
                <a:latin typeface="Times New Roman" panose="02020603050405020304" pitchFamily="18" charset="0"/>
                <a:cs typeface="Times New Roman" panose="02020603050405020304" pitchFamily="18" charset="0"/>
              </a:rPr>
              <a:t>  Scope of Thermodynamics</a:t>
            </a:r>
            <a:endParaRPr lang="en-US" dirty="0"/>
          </a:p>
        </p:txBody>
      </p:sp>
      <p:sp>
        <p:nvSpPr>
          <p:cNvPr id="3" name="Content Placeholder 2"/>
          <p:cNvSpPr>
            <a:spLocks noGrp="1"/>
          </p:cNvSpPr>
          <p:nvPr>
            <p:ph idx="1"/>
          </p:nvPr>
        </p:nvSpPr>
        <p:spPr>
          <a:xfrm>
            <a:off x="457200" y="2286000"/>
            <a:ext cx="7239000" cy="4169736"/>
          </a:xfrm>
        </p:spPr>
        <p:txBody>
          <a:bodyPr/>
          <a:lstStyle/>
          <a:p>
            <a:pPr algn="just">
              <a:buFont typeface="Wingdings" panose="05000000000000000000" pitchFamily="2" charset="2"/>
              <a:buChar char="Ø"/>
            </a:pPr>
            <a:r>
              <a:rPr lang="en-GB" dirty="0" smtClean="0">
                <a:latin typeface="Times New Roman" panose="02020603050405020304" pitchFamily="18" charset="0"/>
                <a:cs typeface="Times New Roman" panose="02020603050405020304" pitchFamily="18" charset="0"/>
              </a:rPr>
              <a:t>It is limited to macroscopic properties of matter i.e. properties of large number of particles of systems</a:t>
            </a:r>
          </a:p>
          <a:p>
            <a:pPr algn="just">
              <a:buFont typeface="Wingdings" panose="05000000000000000000" pitchFamily="2" charset="2"/>
              <a:buChar char="Ø"/>
            </a:pPr>
            <a:endParaRPr lang="en-GB"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GB" dirty="0" smtClean="0">
                <a:latin typeface="Times New Roman" panose="02020603050405020304" pitchFamily="18" charset="0"/>
                <a:cs typeface="Times New Roman" panose="02020603050405020304" pitchFamily="18" charset="0"/>
              </a:rPr>
              <a:t>It considers the initial and final states of a system and not the mechanism of the process</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Macroscopic Vs. microscopic approach</a:t>
            </a:r>
            <a:endParaRPr lang="en-US" dirty="0"/>
          </a:p>
        </p:txBody>
      </p:sp>
      <p:graphicFrame>
        <p:nvGraphicFramePr>
          <p:cNvPr id="4" name="Content Placeholder 3"/>
          <p:cNvGraphicFramePr>
            <a:graphicFrameLocks noGrp="1"/>
          </p:cNvGraphicFramePr>
          <p:nvPr>
            <p:ph idx="1"/>
          </p:nvPr>
        </p:nvGraphicFramePr>
        <p:xfrm>
          <a:off x="457200" y="1609725"/>
          <a:ext cx="7239000" cy="484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81000"/>
            <a:ext cx="7239000" cy="4846320"/>
          </a:xfrm>
        </p:spPr>
        <p:txBody>
          <a:bodyPr>
            <a:normAutofit fontScale="92500" lnSpcReduction="20000"/>
          </a:bodyPr>
          <a:lstStyle/>
          <a:p>
            <a:r>
              <a:rPr lang="en-US" dirty="0" smtClean="0">
                <a:solidFill>
                  <a:srgbClr val="FF0000"/>
                </a:solidFill>
              </a:rPr>
              <a:t>System</a:t>
            </a:r>
            <a:r>
              <a:rPr lang="en-US" dirty="0" smtClean="0"/>
              <a:t>-</a:t>
            </a:r>
            <a:r>
              <a:rPr lang="en-US" dirty="0" smtClean="0">
                <a:cs typeface="Times New Roman" panose="02020603050405020304" pitchFamily="18" charset="0"/>
              </a:rPr>
              <a:t> A thermodynamic system is defined as the quantity of matter or a region in space upon which attention is concentrated in the analysis of a problem. Here quantity of matter may be gas, solid or liquid, magnetic field, electric field or even photons. </a:t>
            </a:r>
            <a:endParaRPr lang="en-US" dirty="0" smtClean="0"/>
          </a:p>
          <a:p>
            <a:r>
              <a:rPr lang="en-US" dirty="0" smtClean="0">
                <a:solidFill>
                  <a:srgbClr val="00B0F0"/>
                </a:solidFill>
              </a:rPr>
              <a:t>Surrounding</a:t>
            </a:r>
            <a:r>
              <a:rPr lang="en-US" dirty="0" smtClean="0"/>
              <a:t>-Everything external to the system is surrounding</a:t>
            </a:r>
          </a:p>
          <a:p>
            <a:r>
              <a:rPr lang="en-US" dirty="0" smtClean="0">
                <a:solidFill>
                  <a:srgbClr val="00B050"/>
                </a:solidFill>
              </a:rPr>
              <a:t>Universe</a:t>
            </a:r>
            <a:r>
              <a:rPr lang="en-US" dirty="0" smtClean="0"/>
              <a:t>-System and surrounding together constitute Universe.</a:t>
            </a:r>
          </a:p>
          <a:p>
            <a:r>
              <a:rPr lang="en-US" dirty="0" smtClean="0">
                <a:solidFill>
                  <a:srgbClr val="C00000"/>
                </a:solidFill>
              </a:rPr>
              <a:t>Boundary</a:t>
            </a:r>
            <a:r>
              <a:rPr lang="en-US" dirty="0" smtClean="0"/>
              <a:t>-System and surrounding is separated by Boundary.</a:t>
            </a:r>
          </a:p>
          <a:p>
            <a:r>
              <a:rPr lang="en-US" dirty="0" smtClean="0"/>
              <a:t>Boundary can be 1.</a:t>
            </a:r>
            <a:r>
              <a:rPr lang="en-US" dirty="0" smtClean="0">
                <a:solidFill>
                  <a:schemeClr val="accent4">
                    <a:lumMod val="75000"/>
                  </a:schemeClr>
                </a:solidFill>
              </a:rPr>
              <a:t>Fixed</a:t>
            </a:r>
            <a:r>
              <a:rPr lang="en-US" dirty="0" smtClean="0"/>
              <a:t>(gas inside a rigid box)2.</a:t>
            </a:r>
            <a:r>
              <a:rPr lang="en-US" dirty="0" smtClean="0">
                <a:solidFill>
                  <a:schemeClr val="accent6">
                    <a:lumMod val="75000"/>
                  </a:schemeClr>
                </a:solidFill>
              </a:rPr>
              <a:t>Movable</a:t>
            </a:r>
            <a:r>
              <a:rPr lang="en-US" dirty="0" smtClean="0"/>
              <a:t> (piston cylinder arrangement)</a:t>
            </a:r>
          </a:p>
        </p:txBody>
      </p:sp>
      <p:pic>
        <p:nvPicPr>
          <p:cNvPr id="5" name="Picture 4" descr="456.JPG"/>
          <p:cNvPicPr>
            <a:picLocks noChangeAspect="1"/>
          </p:cNvPicPr>
          <p:nvPr/>
        </p:nvPicPr>
        <p:blipFill>
          <a:blip r:embed="rId2"/>
          <a:stretch>
            <a:fillRect/>
          </a:stretch>
        </p:blipFill>
        <p:spPr>
          <a:xfrm>
            <a:off x="2590800" y="4953000"/>
            <a:ext cx="2900623" cy="16764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4" descr="fig1.1"/>
          <p:cNvPicPr>
            <a:picLocks noGrp="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1828800" y="1981200"/>
            <a:ext cx="4004430" cy="3047999"/>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ph idx="1"/>
          </p:nvPr>
        </p:nvSpPr>
        <p:spPr>
          <a:xfrm>
            <a:off x="381000" y="609600"/>
            <a:ext cx="7467600" cy="5410200"/>
          </a:xfrm>
        </p:spPr>
        <p:txBody>
          <a:bodyPr>
            <a:normAutofit fontScale="92500" lnSpcReduction="20000"/>
          </a:bodyPr>
          <a:lstStyle/>
          <a:p>
            <a:pPr marL="45720" indent="0">
              <a:buNone/>
            </a:pPr>
            <a:endParaRPr lang="en-US" b="1" dirty="0" smtClean="0">
              <a:solidFill>
                <a:schemeClr val="tx1"/>
              </a:solidFill>
              <a:latin typeface="Times New Roman" panose="02020603050405020304" pitchFamily="18" charset="0"/>
              <a:cs typeface="Times New Roman" panose="02020603050405020304" pitchFamily="18" charset="0"/>
            </a:endParaRPr>
          </a:p>
          <a:p>
            <a:pPr marL="45720" indent="0" algn="just">
              <a:buNone/>
            </a:pPr>
            <a:r>
              <a:rPr lang="en-US" sz="2400" b="1" dirty="0" smtClean="0">
                <a:solidFill>
                  <a:schemeClr val="tx1"/>
                </a:solidFill>
                <a:latin typeface="Times New Roman" panose="02020603050405020304" pitchFamily="18" charset="0"/>
                <a:cs typeface="Times New Roman" panose="02020603050405020304" pitchFamily="18" charset="0"/>
              </a:rPr>
              <a:t>Closed </a:t>
            </a:r>
            <a:r>
              <a:rPr lang="en-US" sz="2400" b="1" dirty="0">
                <a:solidFill>
                  <a:schemeClr val="tx1"/>
                </a:solidFill>
                <a:latin typeface="Times New Roman" panose="02020603050405020304" pitchFamily="18" charset="0"/>
                <a:cs typeface="Times New Roman" panose="02020603050405020304" pitchFamily="18" charset="0"/>
              </a:rPr>
              <a:t>system</a:t>
            </a:r>
            <a:r>
              <a:rPr lang="en-US" sz="2400" dirty="0">
                <a:solidFill>
                  <a:schemeClr val="tx1"/>
                </a:solidFill>
                <a:latin typeface="Times New Roman" panose="02020603050405020304" pitchFamily="18" charset="0"/>
                <a:cs typeface="Times New Roman" panose="02020603050405020304" pitchFamily="18" charset="0"/>
              </a:rPr>
              <a:t>-in </a:t>
            </a:r>
            <a:r>
              <a:rPr lang="en-US" dirty="0">
                <a:solidFill>
                  <a:schemeClr val="tx1"/>
                </a:solidFill>
                <a:latin typeface="Times New Roman" panose="02020603050405020304" pitchFamily="18" charset="0"/>
                <a:cs typeface="Times New Roman" panose="02020603050405020304" pitchFamily="18" charset="0"/>
              </a:rPr>
              <a:t>which no mass is permitted to cross the system boundary i.e. we would always consider a system of constant mass. We won’t permit heat and work to enter or leave but not mass.</a:t>
            </a:r>
          </a:p>
          <a:p>
            <a:endParaRPr lang="en-US" dirty="0">
              <a:latin typeface="Times New Roman" panose="02020603050405020304" pitchFamily="18" charset="0"/>
              <a:cs typeface="Times New Roman" panose="02020603050405020304" pitchFamily="18" charset="0"/>
            </a:endParaRPr>
          </a:p>
          <a:p>
            <a:pPr marL="45720" indent="0">
              <a:buNone/>
            </a:pPr>
            <a:endParaRPr lang="en-US" dirty="0">
              <a:latin typeface="Times New Roman" panose="02020603050405020304" pitchFamily="18" charset="0"/>
              <a:cs typeface="Times New Roman" panose="02020603050405020304" pitchFamily="18" charset="0"/>
            </a:endParaRPr>
          </a:p>
          <a:p>
            <a:pPr marL="45720" indent="0">
              <a:buNone/>
            </a:pP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marL="45720" indent="0">
              <a:buNone/>
            </a:pPr>
            <a:r>
              <a:rPr lang="en-US" b="1" dirty="0">
                <a:solidFill>
                  <a:srgbClr val="FF0000"/>
                </a:solidFill>
                <a:latin typeface="Times New Roman" panose="02020603050405020304" pitchFamily="18" charset="0"/>
                <a:cs typeface="Times New Roman" panose="02020603050405020304" pitchFamily="18" charset="0"/>
              </a:rPr>
              <a:t>	</a:t>
            </a:r>
            <a:r>
              <a:rPr lang="en-US" b="1" dirty="0" smtClean="0">
                <a:solidFill>
                  <a:srgbClr val="FF0000"/>
                </a:solidFill>
                <a:latin typeface="Times New Roman" panose="02020603050405020304" pitchFamily="18" charset="0"/>
                <a:cs typeface="Times New Roman" panose="02020603050405020304" pitchFamily="18" charset="0"/>
              </a:rPr>
              <a:t>					</a:t>
            </a:r>
          </a:p>
          <a:p>
            <a:pPr marL="45720" indent="0">
              <a:buNone/>
            </a:pPr>
            <a:endParaRPr lang="en-US" b="1" dirty="0">
              <a:solidFill>
                <a:srgbClr val="FF0000"/>
              </a:solidFill>
              <a:latin typeface="Times New Roman" panose="02020603050405020304" pitchFamily="18" charset="0"/>
              <a:cs typeface="Times New Roman" panose="02020603050405020304" pitchFamily="18" charset="0"/>
            </a:endParaRPr>
          </a:p>
          <a:p>
            <a:pPr marL="45720" indent="0">
              <a:buNone/>
            </a:pPr>
            <a:endParaRPr lang="en-US" b="1" dirty="0" smtClean="0">
              <a:solidFill>
                <a:srgbClr val="FF0000"/>
              </a:solidFill>
              <a:latin typeface="Times New Roman" panose="02020603050405020304" pitchFamily="18" charset="0"/>
              <a:cs typeface="Times New Roman" panose="02020603050405020304" pitchFamily="18" charset="0"/>
            </a:endParaRPr>
          </a:p>
          <a:p>
            <a:pPr marL="45720" indent="0">
              <a:buNone/>
            </a:pPr>
            <a:r>
              <a:rPr lang="en-US" b="1" dirty="0" smtClean="0">
                <a:solidFill>
                  <a:srgbClr val="FF0000"/>
                </a:solidFill>
                <a:latin typeface="Times New Roman" panose="02020603050405020304" pitchFamily="18" charset="0"/>
                <a:cs typeface="Times New Roman" panose="02020603050405020304" pitchFamily="18" charset="0"/>
              </a:rPr>
              <a:t>				</a:t>
            </a:r>
          </a:p>
          <a:p>
            <a:pPr marL="45720" indent="0">
              <a:buNone/>
            </a:pPr>
            <a:endParaRPr lang="en-US" b="1" dirty="0">
              <a:solidFill>
                <a:srgbClr val="FF0000"/>
              </a:solidFill>
              <a:latin typeface="Times New Roman" panose="02020603050405020304" pitchFamily="18" charset="0"/>
              <a:cs typeface="Times New Roman" panose="02020603050405020304" pitchFamily="18" charset="0"/>
            </a:endParaRPr>
          </a:p>
          <a:p>
            <a:pPr marL="45720" indent="0">
              <a:buNone/>
            </a:pPr>
            <a:r>
              <a:rPr lang="en-US" b="1" dirty="0" smtClean="0">
                <a:solidFill>
                  <a:srgbClr val="FF0000"/>
                </a:solidFill>
                <a:latin typeface="Times New Roman" panose="02020603050405020304" pitchFamily="18" charset="0"/>
                <a:cs typeface="Times New Roman" panose="02020603050405020304" pitchFamily="18" charset="0"/>
              </a:rPr>
              <a:t>	No </a:t>
            </a:r>
            <a:r>
              <a:rPr lang="en-US" b="1" dirty="0">
                <a:solidFill>
                  <a:srgbClr val="FF0000"/>
                </a:solidFill>
                <a:latin typeface="Times New Roman" panose="02020603050405020304" pitchFamily="18" charset="0"/>
                <a:cs typeface="Times New Roman" panose="02020603050405020304" pitchFamily="18" charset="0"/>
              </a:rPr>
              <a:t>mass entry or exit</a:t>
            </a:r>
          </a:p>
          <a:p>
            <a:pPr marL="45720" indent="0">
              <a:buNone/>
            </a:pPr>
            <a:endParaRPr lang="en-US" dirty="0">
              <a:latin typeface="Times New Roman" panose="02020603050405020304" pitchFamily="18" charset="0"/>
              <a:cs typeface="Times New Roman" panose="02020603050405020304" pitchFamily="18" charset="0"/>
            </a:endParaRPr>
          </a:p>
          <a:p>
            <a:pPr marL="45720" indent="0">
              <a:buNone/>
            </a:pPr>
            <a:endParaRPr lang="en-US" dirty="0"/>
          </a:p>
          <a:p>
            <a:pPr marL="45720" indent="0">
              <a:buNone/>
            </a:pPr>
            <a:endParaRPr lang="en-US" dirty="0"/>
          </a:p>
          <a:p>
            <a:pPr marL="45720" indent="0">
              <a:buNone/>
            </a:pPr>
            <a:endParaRPr lang="en-US" dirty="0"/>
          </a:p>
          <a:p>
            <a:pPr marL="45720" indent="0">
              <a:buNone/>
            </a:pPr>
            <a:endParaRPr lang="en-US" dirty="0"/>
          </a:p>
        </p:txBody>
      </p:sp>
      <p:pic>
        <p:nvPicPr>
          <p:cNvPr id="7" name="Picture 6" descr="http://nptel.ac.in/courses/112103016/module1/images/3.1.png"/>
          <p:cNvPicPr/>
          <p:nvPr/>
        </p:nvPicPr>
        <p:blipFill>
          <a:blip r:embed="rId2">
            <a:extLst>
              <a:ext uri="{28A0092B-C50C-407E-A947-70E740481C1C}">
                <a14:useLocalDpi xmlns:a14="http://schemas.microsoft.com/office/drawing/2010/main" xmlns="" val="0"/>
              </a:ext>
            </a:extLst>
          </a:blip>
          <a:srcRect/>
          <a:stretch>
            <a:fillRect/>
          </a:stretch>
        </p:blipFill>
        <p:spPr bwMode="auto">
          <a:xfrm>
            <a:off x="4876800" y="2362200"/>
            <a:ext cx="3069660" cy="2438400"/>
          </a:xfrm>
          <a:prstGeom prst="rect">
            <a:avLst/>
          </a:prstGeom>
          <a:noFill/>
          <a:ln>
            <a:noFill/>
          </a:ln>
        </p:spPr>
      </p:pic>
      <p:pic>
        <p:nvPicPr>
          <p:cNvPr id="8" name="Picture 7"/>
          <p:cNvPicPr>
            <a:picLocks noChangeAspect="1"/>
          </p:cNvPicPr>
          <p:nvPr/>
        </p:nvPicPr>
        <p:blipFill>
          <a:blip r:embed="rId3"/>
          <a:stretch>
            <a:fillRect/>
          </a:stretch>
        </p:blipFill>
        <p:spPr>
          <a:xfrm>
            <a:off x="533400" y="2286000"/>
            <a:ext cx="3923735" cy="2931091"/>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381000" y="381000"/>
            <a:ext cx="7315200" cy="5867399"/>
          </a:xfrm>
        </p:spPr>
        <p:txBody>
          <a:bodyPr>
            <a:normAutofit/>
          </a:bodyPr>
          <a:lstStyle/>
          <a:p>
            <a:endParaRPr lang="en-US" dirty="0"/>
          </a:p>
          <a:p>
            <a:pPr marL="45720" indent="0" algn="just">
              <a:buNone/>
            </a:pPr>
            <a:r>
              <a:rPr lang="en-US" sz="1600" b="1" dirty="0">
                <a:solidFill>
                  <a:schemeClr val="tx1"/>
                </a:solidFill>
                <a:latin typeface="Times New Roman" panose="02020603050405020304" pitchFamily="18" charset="0"/>
                <a:cs typeface="Times New Roman" panose="02020603050405020304" pitchFamily="18" charset="0"/>
              </a:rPr>
              <a:t>Open system</a:t>
            </a:r>
            <a:r>
              <a:rPr lang="en-US" sz="1600" dirty="0">
                <a:solidFill>
                  <a:schemeClr val="tx1"/>
                </a:solidFill>
                <a:latin typeface="Times New Roman" panose="02020603050405020304" pitchFamily="18" charset="0"/>
                <a:cs typeface="Times New Roman" panose="02020603050405020304" pitchFamily="18" charset="0"/>
              </a:rPr>
              <a:t>-in which we permit mass to cross the system boundary in either direction (from the system to surroundings or </a:t>
            </a:r>
            <a:r>
              <a:rPr lang="en-US" sz="1600" i="1" dirty="0">
                <a:solidFill>
                  <a:schemeClr val="tx1"/>
                </a:solidFill>
                <a:latin typeface="Times New Roman" panose="02020603050405020304" pitchFamily="18" charset="0"/>
                <a:cs typeface="Times New Roman" panose="02020603050405020304" pitchFamily="18" charset="0"/>
              </a:rPr>
              <a:t>vice versa</a:t>
            </a:r>
            <a:r>
              <a:rPr lang="en-US" sz="1600" dirty="0">
                <a:solidFill>
                  <a:schemeClr val="tx1"/>
                </a:solidFill>
                <a:latin typeface="Times New Roman" panose="02020603050405020304" pitchFamily="18" charset="0"/>
                <a:cs typeface="Times New Roman" panose="02020603050405020304" pitchFamily="18" charset="0"/>
              </a:rPr>
              <a:t>).In </a:t>
            </a:r>
            <a:r>
              <a:rPr lang="en-US" sz="1600" dirty="0" err="1">
                <a:solidFill>
                  <a:schemeClr val="tx1"/>
                </a:solidFill>
                <a:latin typeface="Times New Roman" panose="02020603050405020304" pitchFamily="18" charset="0"/>
                <a:cs typeface="Times New Roman" panose="02020603050405020304" pitchFamily="18" charset="0"/>
              </a:rPr>
              <a:t>analysing</a:t>
            </a:r>
            <a:r>
              <a:rPr lang="en-US" sz="1600" dirty="0">
                <a:solidFill>
                  <a:schemeClr val="tx1"/>
                </a:solidFill>
                <a:latin typeface="Times New Roman" panose="02020603050405020304" pitchFamily="18" charset="0"/>
                <a:cs typeface="Times New Roman" panose="02020603050405020304" pitchFamily="18" charset="0"/>
              </a:rPr>
              <a:t> open systems, we typically look at a specified region of space, and observe what happens at the boundaries of that region.</a:t>
            </a:r>
          </a:p>
          <a:p>
            <a:pPr marL="45720" indent="0">
              <a:buNone/>
            </a:pPr>
            <a:endParaRPr lang="en-US" dirty="0">
              <a:solidFill>
                <a:schemeClr val="tx1"/>
              </a:solidFill>
              <a:latin typeface="Times New Roman" panose="02020603050405020304" pitchFamily="18" charset="0"/>
              <a:cs typeface="Times New Roman" panose="02020603050405020304" pitchFamily="18" charset="0"/>
            </a:endParaRPr>
          </a:p>
          <a:p>
            <a:pPr marL="45720" indent="0">
              <a:buNone/>
            </a:pPr>
            <a:endParaRPr lang="en-US" i="1" dirty="0">
              <a:solidFill>
                <a:schemeClr val="tx1"/>
              </a:solidFill>
              <a:latin typeface="Times New Roman" panose="02020603050405020304" pitchFamily="18" charset="0"/>
              <a:cs typeface="Times New Roman" panose="02020603050405020304" pitchFamily="18" charset="0"/>
            </a:endParaRPr>
          </a:p>
          <a:p>
            <a:pPr marL="45720" indent="0">
              <a:buNone/>
            </a:pPr>
            <a:endParaRPr lang="en-US" i="1" dirty="0">
              <a:solidFill>
                <a:schemeClr val="tx1"/>
              </a:solidFill>
              <a:latin typeface="Times New Roman" panose="02020603050405020304" pitchFamily="18" charset="0"/>
              <a:cs typeface="Times New Roman" panose="02020603050405020304" pitchFamily="18" charset="0"/>
            </a:endParaRPr>
          </a:p>
          <a:p>
            <a:pPr marL="45720" indent="0">
              <a:buNone/>
            </a:pPr>
            <a:endParaRPr lang="en-US" i="1" dirty="0">
              <a:solidFill>
                <a:schemeClr val="tx1"/>
              </a:solidFill>
              <a:latin typeface="Times New Roman" panose="02020603050405020304" pitchFamily="18" charset="0"/>
              <a:cs typeface="Times New Roman" panose="02020603050405020304" pitchFamily="18" charset="0"/>
            </a:endParaRPr>
          </a:p>
          <a:p>
            <a:pPr marL="45720" indent="0">
              <a:buNone/>
            </a:pPr>
            <a:endParaRPr lang="en-US" i="1" dirty="0">
              <a:solidFill>
                <a:schemeClr val="tx1"/>
              </a:solidFill>
              <a:latin typeface="Times New Roman" panose="02020603050405020304" pitchFamily="18" charset="0"/>
              <a:cs typeface="Times New Roman" panose="02020603050405020304" pitchFamily="18" charset="0"/>
            </a:endParaRPr>
          </a:p>
          <a:p>
            <a:pPr marL="45720" indent="0">
              <a:buNone/>
            </a:pPr>
            <a:endParaRPr lang="en-US" i="1" dirty="0" smtClean="0">
              <a:solidFill>
                <a:schemeClr val="tx1"/>
              </a:solidFill>
              <a:latin typeface="Times New Roman" panose="02020603050405020304" pitchFamily="18" charset="0"/>
              <a:cs typeface="Times New Roman" panose="02020603050405020304" pitchFamily="18" charset="0"/>
            </a:endParaRPr>
          </a:p>
          <a:p>
            <a:pPr marL="45720" indent="0" algn="ctr">
              <a:buNone/>
            </a:pPr>
            <a:endParaRPr lang="en-US" sz="1600" b="1" i="1" dirty="0" smtClean="0">
              <a:solidFill>
                <a:schemeClr val="tx1"/>
              </a:solidFill>
              <a:latin typeface="Times New Roman" panose="02020603050405020304" pitchFamily="18" charset="0"/>
              <a:cs typeface="Times New Roman" panose="02020603050405020304" pitchFamily="18" charset="0"/>
            </a:endParaRPr>
          </a:p>
          <a:p>
            <a:pPr marL="45720" indent="0" algn="ctr">
              <a:buNone/>
            </a:pPr>
            <a:endParaRPr lang="en-US" sz="1600" b="1" i="1" dirty="0" smtClean="0">
              <a:latin typeface="Times New Roman" panose="02020603050405020304" pitchFamily="18" charset="0"/>
              <a:cs typeface="Times New Roman" panose="02020603050405020304" pitchFamily="18" charset="0"/>
            </a:endParaRPr>
          </a:p>
          <a:p>
            <a:pPr marL="45720" indent="0" algn="ctr">
              <a:buNone/>
            </a:pPr>
            <a:endParaRPr lang="en-US" sz="1600" b="1" i="1" dirty="0" smtClean="0">
              <a:solidFill>
                <a:schemeClr val="tx1"/>
              </a:solidFill>
              <a:latin typeface="Times New Roman" panose="02020603050405020304" pitchFamily="18" charset="0"/>
              <a:cs typeface="Times New Roman" panose="02020603050405020304" pitchFamily="18" charset="0"/>
            </a:endParaRPr>
          </a:p>
          <a:p>
            <a:pPr marL="45720" indent="0" algn="ctr">
              <a:buNone/>
            </a:pPr>
            <a:r>
              <a:rPr lang="en-US" sz="1600" b="1" i="1" dirty="0" smtClean="0">
                <a:solidFill>
                  <a:schemeClr val="tx1"/>
                </a:solidFill>
                <a:latin typeface="Times New Roman" panose="02020603050405020304" pitchFamily="18" charset="0"/>
                <a:cs typeface="Times New Roman" panose="02020603050405020304" pitchFamily="18" charset="0"/>
              </a:rPr>
              <a:t>Most </a:t>
            </a:r>
            <a:r>
              <a:rPr lang="en-US" sz="1600" b="1" i="1" dirty="0">
                <a:solidFill>
                  <a:schemeClr val="tx1"/>
                </a:solidFill>
                <a:latin typeface="Times New Roman" panose="02020603050405020304" pitchFamily="18" charset="0"/>
                <a:cs typeface="Times New Roman" panose="02020603050405020304" pitchFamily="18" charset="0"/>
              </a:rPr>
              <a:t>of the engineering devices are open system</a:t>
            </a:r>
            <a:r>
              <a:rPr lang="en-US" sz="1600" i="1" dirty="0">
                <a:solidFill>
                  <a:schemeClr val="tx1"/>
                </a:solidFill>
                <a:latin typeface="Times New Roman" panose="02020603050405020304" pitchFamily="18" charset="0"/>
                <a:cs typeface="Times New Roman" panose="02020603050405020304" pitchFamily="18" charset="0"/>
              </a:rPr>
              <a:t>.</a:t>
            </a:r>
            <a:endParaRPr lang="en-US" sz="1600"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381000" y="2743200"/>
            <a:ext cx="3662534" cy="2109964"/>
          </a:xfrm>
          <a:prstGeom prst="rect">
            <a:avLst/>
          </a:prstGeom>
        </p:spPr>
      </p:pic>
      <p:pic>
        <p:nvPicPr>
          <p:cNvPr id="6" name="Picture 5" descr="http://nptel.ac.in/courses/112103016/module1/images/3.2.png"/>
          <p:cNvPicPr/>
          <p:nvPr/>
        </p:nvPicPr>
        <p:blipFill>
          <a:blip r:embed="rId3">
            <a:extLst>
              <a:ext uri="{28A0092B-C50C-407E-A947-70E740481C1C}">
                <a14:useLocalDpi xmlns:a14="http://schemas.microsoft.com/office/drawing/2010/main" xmlns="" val="0"/>
              </a:ext>
            </a:extLst>
          </a:blip>
          <a:srcRect/>
          <a:stretch>
            <a:fillRect/>
          </a:stretch>
        </p:blipFill>
        <p:spPr bwMode="auto">
          <a:xfrm>
            <a:off x="4267200" y="2819400"/>
            <a:ext cx="3124200" cy="2057400"/>
          </a:xfrm>
          <a:prstGeom prst="rect">
            <a:avLst/>
          </a:prstGeom>
          <a:noFill/>
          <a:ln>
            <a:noFill/>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457200" y="381000"/>
            <a:ext cx="7239000" cy="6074736"/>
          </a:xfrm>
        </p:spPr>
        <p:txBody>
          <a:bodyPr>
            <a:normAutofit/>
          </a:bodyPr>
          <a:lstStyle/>
          <a:p>
            <a:pPr marL="45720" indent="0" algn="just">
              <a:lnSpc>
                <a:spcPct val="100000"/>
              </a:lnSpc>
              <a:buNone/>
            </a:pPr>
            <a:r>
              <a:rPr lang="en-US" sz="2000" b="1" dirty="0">
                <a:solidFill>
                  <a:schemeClr val="tx1"/>
                </a:solidFill>
                <a:latin typeface="Times New Roman" panose="02020603050405020304" pitchFamily="18" charset="0"/>
                <a:cs typeface="Times New Roman" panose="02020603050405020304" pitchFamily="18" charset="0"/>
              </a:rPr>
              <a:t>Isolated System</a:t>
            </a:r>
            <a:r>
              <a:rPr lang="en-US" sz="2000" dirty="0">
                <a:solidFill>
                  <a:schemeClr val="tx1"/>
                </a:solidFill>
                <a:latin typeface="Times New Roman" panose="02020603050405020304" pitchFamily="18" charset="0"/>
                <a:cs typeface="Times New Roman" panose="02020603050405020304" pitchFamily="18" charset="0"/>
              </a:rPr>
              <a:t>-in which there is no interaction between system and the surroundings. It is of fixed mass and energy, and hence there is no mass and energy transfer across the system boundary</a:t>
            </a:r>
            <a:r>
              <a:rPr lang="en-US" sz="2000" dirty="0" smtClean="0">
                <a:solidFill>
                  <a:schemeClr val="tx1"/>
                </a:solidFill>
                <a:latin typeface="Times New Roman" panose="02020603050405020304" pitchFamily="18" charset="0"/>
                <a:cs typeface="Times New Roman" panose="02020603050405020304" pitchFamily="18" charset="0"/>
              </a:rPr>
              <a:t>.</a:t>
            </a:r>
          </a:p>
          <a:p>
            <a:pPr marL="45720" indent="0" algn="just">
              <a:lnSpc>
                <a:spcPct val="100000"/>
              </a:lnSpc>
              <a:buNone/>
            </a:pPr>
            <a:r>
              <a:rPr lang="en-US" sz="2000" dirty="0" smtClean="0">
                <a:solidFill>
                  <a:schemeClr val="tx1"/>
                </a:solidFill>
                <a:latin typeface="Times New Roman" panose="02020603050405020304" pitchFamily="18" charset="0"/>
                <a:cs typeface="Times New Roman" panose="02020603050405020304" pitchFamily="18" charset="0"/>
              </a:rPr>
              <a:t>Example: Universe</a:t>
            </a:r>
          </a:p>
          <a:p>
            <a:pPr marL="45720" indent="0">
              <a:lnSpc>
                <a:spcPct val="100000"/>
              </a:lnSpc>
              <a:buNone/>
            </a:pPr>
            <a:endParaRPr lang="en-US" sz="2000" dirty="0">
              <a:solidFill>
                <a:schemeClr val="tx1"/>
              </a:solidFill>
              <a:latin typeface="Times New Roman" panose="02020603050405020304" pitchFamily="18" charset="0"/>
              <a:cs typeface="Times New Roman" panose="02020603050405020304" pitchFamily="18" charset="0"/>
            </a:endParaRPr>
          </a:p>
          <a:p>
            <a:pPr marL="45720" indent="0">
              <a:lnSpc>
                <a:spcPct val="100000"/>
              </a:lnSpc>
              <a:buNone/>
            </a:pPr>
            <a:endParaRPr lang="en-US" sz="2000" dirty="0" smtClean="0">
              <a:solidFill>
                <a:schemeClr val="tx1"/>
              </a:solidFill>
              <a:latin typeface="Times New Roman" panose="02020603050405020304" pitchFamily="18" charset="0"/>
              <a:cs typeface="Times New Roman" panose="02020603050405020304" pitchFamily="18" charset="0"/>
            </a:endParaRPr>
          </a:p>
          <a:p>
            <a:pPr marL="45720" indent="0">
              <a:lnSpc>
                <a:spcPct val="100000"/>
              </a:lnSpc>
              <a:buNone/>
            </a:pPr>
            <a:r>
              <a:rPr lang="en-US" sz="2000" dirty="0">
                <a:solidFill>
                  <a:schemeClr val="tx1"/>
                </a:solidFill>
                <a:latin typeface="Times New Roman" panose="02020603050405020304" pitchFamily="18" charset="0"/>
                <a:cs typeface="Times New Roman" panose="02020603050405020304" pitchFamily="18" charset="0"/>
              </a:rPr>
              <a:t>	</a:t>
            </a:r>
            <a:r>
              <a:rPr lang="en-US" sz="2000" dirty="0" smtClean="0">
                <a:solidFill>
                  <a:schemeClr val="tx1"/>
                </a:solidFill>
                <a:latin typeface="Times New Roman" panose="02020603050405020304" pitchFamily="18" charset="0"/>
                <a:cs typeface="Times New Roman" panose="02020603050405020304" pitchFamily="18" charset="0"/>
              </a:rPr>
              <a:t>					</a:t>
            </a:r>
          </a:p>
          <a:p>
            <a:pPr marL="45720" indent="0">
              <a:lnSpc>
                <a:spcPct val="100000"/>
              </a:lnSpc>
              <a:buNone/>
            </a:pPr>
            <a:endParaRPr lang="en-US" sz="2000" b="1" dirty="0">
              <a:solidFill>
                <a:schemeClr val="tx1"/>
              </a:solidFill>
              <a:latin typeface="Times New Roman" panose="02020603050405020304" pitchFamily="18" charset="0"/>
              <a:cs typeface="Times New Roman" panose="02020603050405020304" pitchFamily="18" charset="0"/>
            </a:endParaRPr>
          </a:p>
          <a:p>
            <a:pPr marL="45720" indent="0">
              <a:lnSpc>
                <a:spcPct val="100000"/>
              </a:lnSpc>
              <a:buNone/>
            </a:pPr>
            <a:endParaRPr lang="en-US" sz="2000" b="1" dirty="0" smtClean="0">
              <a:solidFill>
                <a:schemeClr val="tx1"/>
              </a:solidFill>
              <a:latin typeface="Times New Roman" panose="02020603050405020304" pitchFamily="18" charset="0"/>
              <a:cs typeface="Times New Roman" panose="02020603050405020304" pitchFamily="18" charset="0"/>
            </a:endParaRPr>
          </a:p>
          <a:p>
            <a:pPr marL="45720" indent="0">
              <a:lnSpc>
                <a:spcPct val="100000"/>
              </a:lnSpc>
              <a:buNone/>
            </a:pP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smtClean="0">
                <a:solidFill>
                  <a:schemeClr val="tx1"/>
                </a:solidFill>
                <a:latin typeface="Times New Roman" panose="02020603050405020304" pitchFamily="18" charset="0"/>
                <a:cs typeface="Times New Roman" panose="02020603050405020304" pitchFamily="18" charset="0"/>
              </a:rPr>
              <a:t>					</a:t>
            </a:r>
          </a:p>
          <a:p>
            <a:pPr marL="45720" indent="0">
              <a:lnSpc>
                <a:spcPct val="100000"/>
              </a:lnSpc>
              <a:buNone/>
            </a:pPr>
            <a:r>
              <a:rPr lang="en-US" sz="2000" b="1" dirty="0" smtClean="0">
                <a:latin typeface="Times New Roman" panose="02020603050405020304" pitchFamily="18" charset="0"/>
                <a:cs typeface="Times New Roman" panose="02020603050405020304" pitchFamily="18" charset="0"/>
              </a:rPr>
              <a:t>                        </a:t>
            </a:r>
          </a:p>
          <a:p>
            <a:pPr marL="45720" indent="0">
              <a:lnSpc>
                <a:spcPct val="100000"/>
              </a:lnSpc>
              <a:buNone/>
            </a:pPr>
            <a:endParaRPr lang="en-US" sz="2000" b="1" dirty="0" smtClean="0">
              <a:solidFill>
                <a:srgbClr val="FF0000"/>
              </a:solidFill>
              <a:latin typeface="Times New Roman" panose="02020603050405020304" pitchFamily="18" charset="0"/>
              <a:cs typeface="Times New Roman" panose="02020603050405020304" pitchFamily="18" charset="0"/>
            </a:endParaRPr>
          </a:p>
          <a:p>
            <a:pPr marL="45720" indent="0">
              <a:lnSpc>
                <a:spcPct val="100000"/>
              </a:lnSpc>
              <a:buNone/>
            </a:pPr>
            <a:endParaRPr lang="en-US" sz="2000" b="1" dirty="0" smtClean="0">
              <a:solidFill>
                <a:srgbClr val="FF0000"/>
              </a:solidFill>
              <a:latin typeface="Times New Roman" panose="02020603050405020304" pitchFamily="18" charset="0"/>
              <a:cs typeface="Times New Roman" panose="02020603050405020304" pitchFamily="18" charset="0"/>
            </a:endParaRPr>
          </a:p>
          <a:p>
            <a:pPr marL="45720" indent="0">
              <a:lnSpc>
                <a:spcPct val="100000"/>
              </a:lnSpc>
              <a:buNone/>
            </a:pPr>
            <a:endParaRPr lang="en-US" sz="2000" b="1" dirty="0" smtClean="0">
              <a:solidFill>
                <a:srgbClr val="FF0000"/>
              </a:solidFill>
              <a:latin typeface="Times New Roman" panose="02020603050405020304" pitchFamily="18" charset="0"/>
              <a:cs typeface="Times New Roman" panose="02020603050405020304" pitchFamily="18" charset="0"/>
            </a:endParaRPr>
          </a:p>
          <a:p>
            <a:pPr marL="45720" indent="0">
              <a:lnSpc>
                <a:spcPct val="100000"/>
              </a:lnSpc>
              <a:buNone/>
            </a:pPr>
            <a:r>
              <a:rPr lang="en-US" sz="2000" b="1" dirty="0" smtClean="0">
                <a:solidFill>
                  <a:srgbClr val="FF0000"/>
                </a:solidFill>
                <a:latin typeface="Times New Roman" panose="02020603050405020304" pitchFamily="18" charset="0"/>
                <a:cs typeface="Times New Roman" panose="02020603050405020304" pitchFamily="18" charset="0"/>
              </a:rPr>
              <a:t>                          No Heat and Mass Entry or Exit</a:t>
            </a:r>
            <a:endParaRPr lang="en-US" sz="2000" b="1" dirty="0">
              <a:solidFill>
                <a:srgbClr val="FF000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228600" y="2362200"/>
            <a:ext cx="3112716" cy="2387218"/>
          </a:xfrm>
          <a:prstGeom prst="rect">
            <a:avLst/>
          </a:prstGeom>
        </p:spPr>
      </p:pic>
      <p:pic>
        <p:nvPicPr>
          <p:cNvPr id="6" name="Picture 5" descr="http://nptel.ac.in/courses/112103016/module1/images/3.3.png"/>
          <p:cNvPicPr/>
          <p:nvPr/>
        </p:nvPicPr>
        <p:blipFill>
          <a:blip r:embed="rId3">
            <a:extLst>
              <a:ext uri="{28A0092B-C50C-407E-A947-70E740481C1C}">
                <a14:useLocalDpi xmlns:a14="http://schemas.microsoft.com/office/drawing/2010/main" xmlns="" val="0"/>
              </a:ext>
            </a:extLst>
          </a:blip>
          <a:srcRect/>
          <a:stretch>
            <a:fillRect/>
          </a:stretch>
        </p:blipFill>
        <p:spPr bwMode="auto">
          <a:xfrm>
            <a:off x="4343400" y="2514600"/>
            <a:ext cx="3124200" cy="2133600"/>
          </a:xfrm>
          <a:prstGeom prst="rect">
            <a:avLst/>
          </a:prstGeom>
          <a:noFill/>
          <a:ln>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239000" cy="1143000"/>
          </a:xfrm>
        </p:spPr>
        <p:txBody>
          <a:bodyPr/>
          <a:lstStyle/>
          <a:p>
            <a:pPr algn="ctr"/>
            <a:r>
              <a:rPr lang="en-US" dirty="0" smtClean="0"/>
              <a:t>Types of system</a:t>
            </a:r>
            <a:endParaRPr lang="en-US" dirty="0"/>
          </a:p>
        </p:txBody>
      </p:sp>
      <p:graphicFrame>
        <p:nvGraphicFramePr>
          <p:cNvPr id="4" name="Content Placeholder 3"/>
          <p:cNvGraphicFramePr>
            <a:graphicFrameLocks noGrp="1"/>
          </p:cNvGraphicFramePr>
          <p:nvPr>
            <p:ph idx="1"/>
          </p:nvPr>
        </p:nvGraphicFramePr>
        <p:xfrm>
          <a:off x="838200" y="228600"/>
          <a:ext cx="6781800" cy="6172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descr="Capture.JPG"/>
          <p:cNvPicPr>
            <a:picLocks noChangeAspect="1"/>
          </p:cNvPicPr>
          <p:nvPr/>
        </p:nvPicPr>
        <p:blipFill>
          <a:blip r:embed="rId6"/>
          <a:stretch>
            <a:fillRect/>
          </a:stretch>
        </p:blipFill>
        <p:spPr>
          <a:xfrm>
            <a:off x="990600" y="5029200"/>
            <a:ext cx="1671491" cy="1476375"/>
          </a:xfrm>
          <a:prstGeom prst="rect">
            <a:avLst/>
          </a:prstGeom>
        </p:spPr>
      </p:pic>
      <p:pic>
        <p:nvPicPr>
          <p:cNvPr id="7" name="Picture 6" descr="+45+96.JPG"/>
          <p:cNvPicPr>
            <a:picLocks noChangeAspect="1"/>
          </p:cNvPicPr>
          <p:nvPr/>
        </p:nvPicPr>
        <p:blipFill>
          <a:blip r:embed="rId7"/>
          <a:stretch>
            <a:fillRect/>
          </a:stretch>
        </p:blipFill>
        <p:spPr>
          <a:xfrm>
            <a:off x="3352800" y="5029200"/>
            <a:ext cx="1743536" cy="1485900"/>
          </a:xfrm>
          <a:prstGeom prst="rect">
            <a:avLst/>
          </a:prstGeom>
        </p:spPr>
      </p:pic>
      <p:pic>
        <p:nvPicPr>
          <p:cNvPr id="8" name="Picture 7" descr="656.JPG"/>
          <p:cNvPicPr>
            <a:picLocks noChangeAspect="1"/>
          </p:cNvPicPr>
          <p:nvPr/>
        </p:nvPicPr>
        <p:blipFill>
          <a:blip r:embed="rId8"/>
          <a:stretch>
            <a:fillRect/>
          </a:stretch>
        </p:blipFill>
        <p:spPr>
          <a:xfrm>
            <a:off x="5715000" y="5029200"/>
            <a:ext cx="1981200" cy="1491343"/>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002060"/>
                </a:solidFill>
                <a:latin typeface="Times New Roman" panose="02020603050405020304" pitchFamily="18" charset="0"/>
                <a:cs typeface="Times New Roman" panose="02020603050405020304" pitchFamily="18" charset="0"/>
              </a:rPr>
              <a:t>Control volume &amp; Control surface</a:t>
            </a:r>
            <a:endParaRPr lang="en-US" dirty="0"/>
          </a:p>
        </p:txBody>
      </p:sp>
      <p:pic>
        <p:nvPicPr>
          <p:cNvPr id="4" name="Content Placeholder 3"/>
          <p:cNvPicPr>
            <a:picLocks noGrp="1" noChangeAspect="1"/>
          </p:cNvPicPr>
          <p:nvPr>
            <p:ph idx="1"/>
          </p:nvPr>
        </p:nvPicPr>
        <p:blipFill>
          <a:blip r:embed="rId2"/>
          <a:stretch>
            <a:fillRect/>
          </a:stretch>
        </p:blipFill>
        <p:spPr>
          <a:xfrm>
            <a:off x="304800" y="1828800"/>
            <a:ext cx="4030661" cy="2505400"/>
          </a:xfrm>
          <a:prstGeom prst="rect">
            <a:avLst/>
          </a:prstGeom>
        </p:spPr>
      </p:pic>
      <p:sp>
        <p:nvSpPr>
          <p:cNvPr id="5" name="Content Placeholder 2"/>
          <p:cNvSpPr txBox="1">
            <a:spLocks/>
          </p:cNvSpPr>
          <p:nvPr/>
        </p:nvSpPr>
        <p:spPr>
          <a:xfrm>
            <a:off x="4572000" y="1752600"/>
            <a:ext cx="3428999" cy="3047999"/>
          </a:xfrm>
          <a:prstGeom prst="rect">
            <a:avLst/>
          </a:prstGeom>
        </p:spPr>
        <p:txBody>
          <a:bodyPr vert="horz">
            <a:normAutofit/>
          </a:bodyPr>
          <a:lstStyle/>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panose="05000000000000000000" pitchFamily="2" charset="2"/>
              <a:buChar char="Ø"/>
              <a:tabLst/>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panose="05000000000000000000" pitchFamily="2" charset="2"/>
              <a:buChar char="Ø"/>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6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Control volume: </a:t>
            </a:r>
            <a:r>
              <a:rPr kumimoji="0" 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Certain fixed region or volume in space surrounding system. </a:t>
            </a: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panose="05000000000000000000" pitchFamily="2" charset="2"/>
              <a:buChar char="Ø"/>
              <a:tabLst/>
              <a:defRPr/>
            </a:pPr>
            <a:r>
              <a:rPr kumimoji="0" lang="en-US" sz="26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Control surface: </a:t>
            </a:r>
            <a:r>
              <a:rPr kumimoji="0" 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The surface of control volume. </a:t>
            </a: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panose="05000000000000000000" pitchFamily="2" charset="2"/>
              <a:buChar char="Ø"/>
              <a:tabLst/>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Thermodynamic properties</a:t>
            </a:r>
            <a:endParaRPr lang="en-US" dirty="0"/>
          </a:p>
        </p:txBody>
      </p:sp>
      <p:sp>
        <p:nvSpPr>
          <p:cNvPr id="3" name="Content Placeholder 2"/>
          <p:cNvSpPr>
            <a:spLocks noGrp="1"/>
          </p:cNvSpPr>
          <p:nvPr>
            <p:ph idx="1"/>
          </p:nvPr>
        </p:nvSpPr>
        <p:spPr/>
        <p:txBody>
          <a:bodyPr>
            <a:normAutofit fontScale="92500"/>
          </a:bodyPr>
          <a:lstStyle/>
          <a:p>
            <a:r>
              <a:rPr lang="en-US" dirty="0" smtClean="0">
                <a:solidFill>
                  <a:schemeClr val="bg2">
                    <a:lumMod val="50000"/>
                  </a:schemeClr>
                </a:solidFill>
              </a:rPr>
              <a:t>Properties </a:t>
            </a:r>
            <a:r>
              <a:rPr lang="en-US" dirty="0" smtClean="0"/>
              <a:t>are used to define the characteristics of a system.</a:t>
            </a:r>
          </a:p>
          <a:p>
            <a:r>
              <a:rPr lang="en-US" dirty="0" smtClean="0"/>
              <a:t>E.g. Pressure , Temperature, volume, mass</a:t>
            </a:r>
          </a:p>
          <a:p>
            <a:r>
              <a:rPr lang="en-US" dirty="0" smtClean="0"/>
              <a:t>Thermodynamics properties are mainly divided into 2 classes</a:t>
            </a:r>
          </a:p>
          <a:p>
            <a:pPr>
              <a:buNone/>
            </a:pPr>
            <a:r>
              <a:rPr lang="en-US" dirty="0" smtClean="0"/>
              <a:t>1.</a:t>
            </a:r>
            <a:r>
              <a:rPr lang="en-US" dirty="0" smtClean="0">
                <a:solidFill>
                  <a:srgbClr val="00B050"/>
                </a:solidFill>
              </a:rPr>
              <a:t>Extensive Properties</a:t>
            </a:r>
            <a:r>
              <a:rPr lang="en-US" dirty="0" smtClean="0"/>
              <a:t>-Properties are </a:t>
            </a:r>
            <a:r>
              <a:rPr lang="en-US" dirty="0" smtClean="0">
                <a:solidFill>
                  <a:srgbClr val="FF0000"/>
                </a:solidFill>
              </a:rPr>
              <a:t>dependent</a:t>
            </a:r>
            <a:r>
              <a:rPr lang="en-US" dirty="0" smtClean="0"/>
              <a:t> on mass . e.g. volume, energy, enthalpy</a:t>
            </a:r>
          </a:p>
          <a:p>
            <a:pPr>
              <a:buNone/>
            </a:pPr>
            <a:r>
              <a:rPr lang="en-US" dirty="0" smtClean="0"/>
              <a:t>2.</a:t>
            </a:r>
            <a:r>
              <a:rPr lang="en-US" dirty="0" smtClean="0">
                <a:solidFill>
                  <a:srgbClr val="00B0F0"/>
                </a:solidFill>
              </a:rPr>
              <a:t>Intensive Properties</a:t>
            </a:r>
            <a:r>
              <a:rPr lang="en-US" dirty="0" smtClean="0"/>
              <a:t>-Properties are </a:t>
            </a:r>
            <a:r>
              <a:rPr lang="en-US" dirty="0" smtClean="0">
                <a:solidFill>
                  <a:srgbClr val="C00000"/>
                </a:solidFill>
              </a:rPr>
              <a:t>independent</a:t>
            </a:r>
            <a:r>
              <a:rPr lang="en-US" dirty="0" smtClean="0"/>
              <a:t> of mass . e.g. Pressure, Temperature , density</a:t>
            </a:r>
          </a:p>
          <a:p>
            <a:r>
              <a:rPr lang="en-US" dirty="0" smtClean="0"/>
              <a:t>  All specific properties are intensive properties.</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5" descr="01025"/>
          <p:cNvPicPr>
            <a:picLocks noGrp="1" noChangeAspect="1" noChangeArrowheads="1"/>
          </p:cNvPicPr>
          <p:nvPr>
            <p:ph idx="1"/>
          </p:nvPr>
        </p:nvPicPr>
        <p:blipFill>
          <a:blip r:embed="rId2"/>
          <a:srcRect/>
          <a:stretch>
            <a:fillRect/>
          </a:stretch>
        </p:blipFill>
        <p:spPr bwMode="auto">
          <a:xfrm>
            <a:off x="2362200" y="152400"/>
            <a:ext cx="3657600" cy="2057400"/>
          </a:xfrm>
          <a:prstGeom prst="rect">
            <a:avLst/>
          </a:prstGeom>
          <a:noFill/>
          <a:ln w="9525">
            <a:noFill/>
            <a:miter lim="800000"/>
            <a:headEnd/>
            <a:tailEnd/>
          </a:ln>
        </p:spPr>
      </p:pic>
      <p:sp>
        <p:nvSpPr>
          <p:cNvPr id="6" name="Rectangle 5"/>
          <p:cNvSpPr/>
          <p:nvPr/>
        </p:nvSpPr>
        <p:spPr>
          <a:xfrm rot="10800000" flipV="1">
            <a:off x="838200" y="2639199"/>
            <a:ext cx="6400800" cy="1231106"/>
          </a:xfrm>
          <a:prstGeom prst="rect">
            <a:avLst/>
          </a:prstGeom>
        </p:spPr>
        <p:txBody>
          <a:bodyPr wrap="square">
            <a:spAutoFit/>
          </a:bodyPr>
          <a:lstStyle/>
          <a:p>
            <a:r>
              <a:rPr lang="en-US" sz="2000" b="1" dirty="0" smtClean="0">
                <a:latin typeface="Times New Roman" pitchFamily="18" charset="0"/>
                <a:cs typeface="Times New Roman" pitchFamily="18" charset="0"/>
              </a:rPr>
              <a:t>Specific properties</a:t>
            </a:r>
            <a:r>
              <a:rPr lang="en-US" sz="2000" dirty="0" smtClean="0">
                <a:latin typeface="Times New Roman" pitchFamily="18" charset="0"/>
                <a:cs typeface="Times New Roman" pitchFamily="18" charset="0"/>
              </a:rPr>
              <a:t> </a:t>
            </a:r>
            <a:r>
              <a:rPr lang="en-US" sz="2000" dirty="0" smtClean="0">
                <a:solidFill>
                  <a:schemeClr val="tx2"/>
                </a:solidFill>
                <a:latin typeface="Times New Roman" pitchFamily="18" charset="0"/>
                <a:cs typeface="Times New Roman" pitchFamily="18" charset="0"/>
              </a:rPr>
              <a:t>– </a:t>
            </a:r>
            <a:r>
              <a:rPr lang="en-US" dirty="0" smtClean="0">
                <a:latin typeface="Times New Roman" pitchFamily="18" charset="0"/>
                <a:cs typeface="Times New Roman" pitchFamily="18" charset="0"/>
              </a:rPr>
              <a:t>The ratio of any extensive property of a system to that of the mass of the system is called an average specific value of that property (also known as intensives property)</a:t>
            </a:r>
            <a:r>
              <a:rPr lang="en-US" dirty="0" smtClean="0">
                <a:solidFill>
                  <a:schemeClr val="tx2"/>
                </a:solidFill>
                <a:latin typeface="Times New Roman" pitchFamily="18" charset="0"/>
                <a:cs typeface="Times New Roman" pitchFamily="18" charset="0"/>
              </a:rPr>
              <a:t/>
            </a:r>
            <a:br>
              <a:rPr lang="en-US" dirty="0" smtClean="0">
                <a:solidFill>
                  <a:schemeClr val="tx2"/>
                </a:solidFill>
                <a:latin typeface="Times New Roman" pitchFamily="18" charset="0"/>
                <a:cs typeface="Times New Roman" pitchFamily="18" charset="0"/>
              </a:rPr>
            </a:br>
            <a:endParaRPr lang="en-US" dirty="0"/>
          </a:p>
        </p:txBody>
      </p:sp>
      <p:grpSp>
        <p:nvGrpSpPr>
          <p:cNvPr id="7" name="Group 32"/>
          <p:cNvGrpSpPr>
            <a:grpSpLocks/>
          </p:cNvGrpSpPr>
          <p:nvPr/>
        </p:nvGrpSpPr>
        <p:grpSpPr bwMode="auto">
          <a:xfrm>
            <a:off x="1219200" y="4038600"/>
            <a:ext cx="5408612" cy="1981199"/>
            <a:chOff x="2555776" y="2996952"/>
            <a:chExt cx="5976664" cy="2304256"/>
          </a:xfrm>
        </p:grpSpPr>
        <p:pic>
          <p:nvPicPr>
            <p:cNvPr id="8" name="Picture 3"/>
            <p:cNvPicPr>
              <a:picLocks noChangeAspect="1" noChangeArrowheads="1"/>
            </p:cNvPicPr>
            <p:nvPr/>
          </p:nvPicPr>
          <p:blipFill>
            <a:blip r:embed="rId3"/>
            <a:srcRect/>
            <a:stretch>
              <a:fillRect/>
            </a:stretch>
          </p:blipFill>
          <p:spPr bwMode="auto">
            <a:xfrm>
              <a:off x="2579315" y="3024733"/>
              <a:ext cx="5953125" cy="2276475"/>
            </a:xfrm>
            <a:prstGeom prst="rect">
              <a:avLst/>
            </a:prstGeom>
            <a:solidFill>
              <a:schemeClr val="bg1"/>
            </a:solidFill>
            <a:ln w="9525">
              <a:solidFill>
                <a:schemeClr val="bg1"/>
              </a:solidFill>
              <a:miter lim="800000"/>
              <a:headEnd/>
              <a:tailEnd/>
            </a:ln>
          </p:spPr>
        </p:pic>
        <p:sp>
          <p:nvSpPr>
            <p:cNvPr id="9" name="Rectangle 8"/>
            <p:cNvSpPr/>
            <p:nvPr/>
          </p:nvSpPr>
          <p:spPr>
            <a:xfrm>
              <a:off x="2555776" y="4149874"/>
              <a:ext cx="5976664" cy="11513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a:xfrm>
              <a:off x="4140029" y="2996952"/>
              <a:ext cx="215890" cy="2159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3852704" y="3573413"/>
              <a:ext cx="142868" cy="2159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4068594" y="3860850"/>
              <a:ext cx="142868" cy="2159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2627210" y="3357438"/>
              <a:ext cx="5473450" cy="2874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7239000" cy="4846320"/>
          </a:xfrm>
        </p:spPr>
        <p:txBody>
          <a:bodyPr>
            <a:normAutofit lnSpcReduction="10000"/>
          </a:bodyPr>
          <a:lstStyle/>
          <a:p>
            <a:r>
              <a:rPr lang="en-US" b="1" dirty="0" smtClean="0">
                <a:solidFill>
                  <a:srgbClr val="FFC000"/>
                </a:solidFill>
              </a:rPr>
              <a:t>States</a:t>
            </a:r>
            <a:r>
              <a:rPr lang="en-US" dirty="0" smtClean="0"/>
              <a:t>-conditions of a system described by its properties</a:t>
            </a:r>
          </a:p>
          <a:p>
            <a:r>
              <a:rPr lang="en-US" b="1" dirty="0" smtClean="0">
                <a:solidFill>
                  <a:srgbClr val="FF0000"/>
                </a:solidFill>
              </a:rPr>
              <a:t>Process</a:t>
            </a:r>
            <a:r>
              <a:rPr lang="en-US" dirty="0" smtClean="0"/>
              <a:t>-when system changes from one state to another then It is called a Process.</a:t>
            </a:r>
          </a:p>
          <a:p>
            <a:r>
              <a:rPr lang="en-US" b="1" dirty="0" smtClean="0">
                <a:solidFill>
                  <a:srgbClr val="00B050"/>
                </a:solidFill>
              </a:rPr>
              <a:t>Reversible Process</a:t>
            </a:r>
            <a:r>
              <a:rPr lang="en-US" dirty="0" smtClean="0"/>
              <a:t>-A process when reversed does not leave any effect on system and surrounding or it can goes back to its original state.</a:t>
            </a:r>
          </a:p>
          <a:p>
            <a:r>
              <a:rPr lang="en-US" b="1" dirty="0" smtClean="0">
                <a:solidFill>
                  <a:srgbClr val="0000FF"/>
                </a:solidFill>
              </a:rPr>
              <a:t>Irreversible Process</a:t>
            </a:r>
            <a:r>
              <a:rPr lang="en-US" dirty="0" smtClean="0"/>
              <a:t>-A process which cannot be reversed to its original state</a:t>
            </a:r>
          </a:p>
          <a:p>
            <a:r>
              <a:rPr lang="en-US" b="1" dirty="0" smtClean="0">
                <a:solidFill>
                  <a:srgbClr val="7030A0"/>
                </a:solidFill>
              </a:rPr>
              <a:t>Cycle</a:t>
            </a:r>
            <a:r>
              <a:rPr lang="en-US" dirty="0" smtClean="0"/>
              <a:t>-Sequence of different processes whose initial and final states are same.</a:t>
            </a:r>
          </a:p>
          <a:p>
            <a:pPr>
              <a:buNone/>
            </a:pP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2060"/>
                </a:solidFill>
                <a:latin typeface="Times New Roman" panose="02020603050405020304" pitchFamily="18" charset="0"/>
                <a:cs typeface="Times New Roman" panose="02020603050405020304" pitchFamily="18" charset="0"/>
              </a:rPr>
              <a:t>       State, path, Process</a:t>
            </a:r>
            <a:endParaRPr lang="en-US" dirty="0"/>
          </a:p>
        </p:txBody>
      </p:sp>
      <p:pic>
        <p:nvPicPr>
          <p:cNvPr id="4" name="Content Placeholder 3"/>
          <p:cNvPicPr>
            <a:picLocks noGrp="1" noChangeAspect="1"/>
          </p:cNvPicPr>
          <p:nvPr>
            <p:ph idx="1"/>
          </p:nvPr>
        </p:nvPicPr>
        <p:blipFill>
          <a:blip r:embed="rId2"/>
          <a:stretch>
            <a:fillRect/>
          </a:stretch>
        </p:blipFill>
        <p:spPr>
          <a:xfrm>
            <a:off x="609600" y="1752600"/>
            <a:ext cx="2895600" cy="2655826"/>
          </a:xfrm>
          <a:prstGeom prst="rect">
            <a:avLst/>
          </a:prstGeom>
        </p:spPr>
      </p:pic>
      <p:pic>
        <p:nvPicPr>
          <p:cNvPr id="5" name="Picture 3"/>
          <p:cNvPicPr>
            <a:picLocks noChangeAspect="1" noChangeArrowheads="1"/>
          </p:cNvPicPr>
          <p:nvPr/>
        </p:nvPicPr>
        <p:blipFill>
          <a:blip r:embed="rId3"/>
          <a:srcRect/>
          <a:stretch>
            <a:fillRect/>
          </a:stretch>
        </p:blipFill>
        <p:spPr bwMode="auto">
          <a:xfrm>
            <a:off x="3886200" y="1600200"/>
            <a:ext cx="3443229" cy="29845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Point function &amp; path function</a:t>
            </a:r>
            <a:endParaRPr lang="en-US" dirty="0"/>
          </a:p>
        </p:txBody>
      </p:sp>
      <p:graphicFrame>
        <p:nvGraphicFramePr>
          <p:cNvPr id="5" name="Content Placeholder 4"/>
          <p:cNvGraphicFramePr>
            <a:graphicFrameLocks noGrp="1"/>
          </p:cNvGraphicFramePr>
          <p:nvPr>
            <p:ph idx="1"/>
          </p:nvPr>
        </p:nvGraphicFramePr>
        <p:xfrm>
          <a:off x="457200" y="1609725"/>
          <a:ext cx="7239000" cy="484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533400"/>
            <a:ext cx="7239000" cy="1143000"/>
          </a:xfrm>
        </p:spPr>
        <p:txBody>
          <a:bodyPr/>
          <a:lstStyle/>
          <a:p>
            <a:r>
              <a:rPr lang="en-US" dirty="0" smtClean="0">
                <a:solidFill>
                  <a:srgbClr val="002060"/>
                </a:solidFill>
                <a:latin typeface="Times New Roman" panose="02020603050405020304" pitchFamily="18" charset="0"/>
                <a:cs typeface="Times New Roman" panose="02020603050405020304" pitchFamily="18" charset="0"/>
              </a:rPr>
              <a:t>  Path and Point Function</a:t>
            </a:r>
            <a:endParaRPr lang="en-US" dirty="0"/>
          </a:p>
        </p:txBody>
      </p:sp>
      <p:sp>
        <p:nvSpPr>
          <p:cNvPr id="4" name="Content Placeholder 2"/>
          <p:cNvSpPr>
            <a:spLocks noGrp="1"/>
          </p:cNvSpPr>
          <p:nvPr>
            <p:ph idx="1"/>
          </p:nvPr>
        </p:nvSpPr>
        <p:spPr>
          <a:xfrm>
            <a:off x="533400" y="2209800"/>
            <a:ext cx="3505200" cy="3495984"/>
          </a:xfrm>
        </p:spPr>
        <p:txBody>
          <a:bodyPr>
            <a:normAutofit fontScale="62500" lnSpcReduction="20000"/>
          </a:bodyPr>
          <a:lstStyle/>
          <a:p>
            <a:pPr algn="just"/>
            <a:r>
              <a:rPr lang="en-US" b="1" dirty="0">
                <a:solidFill>
                  <a:schemeClr val="tx1"/>
                </a:solidFill>
                <a:latin typeface="Times New Roman" panose="02020603050405020304" pitchFamily="18" charset="0"/>
                <a:cs typeface="Times New Roman" panose="02020603050405020304" pitchFamily="18" charset="0"/>
              </a:rPr>
              <a:t>Path function </a:t>
            </a:r>
            <a:r>
              <a:rPr lang="en-US" dirty="0">
                <a:solidFill>
                  <a:schemeClr val="tx1"/>
                </a:solidFill>
                <a:latin typeface="Times New Roman" panose="02020603050405020304" pitchFamily="18" charset="0"/>
                <a:cs typeface="Times New Roman" panose="02020603050405020304" pitchFamily="18" charset="0"/>
              </a:rPr>
              <a:t>It depend on path followed during a process as well as end states. (i.e. Work &amp;heat</a:t>
            </a:r>
            <a:r>
              <a:rPr lang="en-US" dirty="0" smtClean="0">
                <a:solidFill>
                  <a:schemeClr val="tx1"/>
                </a:solidFill>
                <a:latin typeface="Times New Roman" panose="02020603050405020304" pitchFamily="18" charset="0"/>
                <a:cs typeface="Times New Roman" panose="02020603050405020304" pitchFamily="18" charset="0"/>
              </a:rPr>
              <a:t>)</a:t>
            </a:r>
          </a:p>
          <a:p>
            <a:pPr algn="just"/>
            <a:r>
              <a:rPr lang="en-US" dirty="0" smtClean="0">
                <a:solidFill>
                  <a:schemeClr val="tx1"/>
                </a:solidFill>
                <a:latin typeface="Times New Roman" panose="02020603050405020304" pitchFamily="18" charset="0"/>
                <a:cs typeface="Times New Roman" panose="02020603050405020304" pitchFamily="18" charset="0"/>
              </a:rPr>
              <a:t> </a:t>
            </a:r>
            <a:r>
              <a:rPr lang="en-US" b="1" dirty="0" smtClean="0">
                <a:solidFill>
                  <a:schemeClr val="tx1"/>
                </a:solidFill>
                <a:latin typeface="Times New Roman" panose="02020603050405020304" pitchFamily="18" charset="0"/>
                <a:cs typeface="Times New Roman" panose="02020603050405020304" pitchFamily="18" charset="0"/>
              </a:rPr>
              <a:t>Point </a:t>
            </a:r>
            <a:r>
              <a:rPr lang="en-US" b="1" dirty="0">
                <a:solidFill>
                  <a:schemeClr val="tx1"/>
                </a:solidFill>
                <a:latin typeface="Times New Roman" panose="02020603050405020304" pitchFamily="18" charset="0"/>
                <a:cs typeface="Times New Roman" panose="02020603050405020304" pitchFamily="18" charset="0"/>
              </a:rPr>
              <a:t>function </a:t>
            </a:r>
            <a:r>
              <a:rPr lang="en-US" dirty="0">
                <a:solidFill>
                  <a:schemeClr val="tx1"/>
                </a:solidFill>
                <a:latin typeface="Times New Roman" panose="02020603050405020304" pitchFamily="18" charset="0"/>
                <a:cs typeface="Times New Roman" panose="02020603050405020304" pitchFamily="18" charset="0"/>
              </a:rPr>
              <a:t>It depend on the state only. </a:t>
            </a:r>
            <a:r>
              <a:rPr lang="en-US" dirty="0" smtClean="0">
                <a:solidFill>
                  <a:schemeClr val="tx1"/>
                </a:solidFill>
                <a:latin typeface="Times New Roman" panose="02020603050405020304" pitchFamily="18" charset="0"/>
                <a:cs typeface="Times New Roman" panose="02020603050405020304" pitchFamily="18" charset="0"/>
              </a:rPr>
              <a:t>(</a:t>
            </a:r>
            <a:r>
              <a:rPr lang="en-US" dirty="0">
                <a:solidFill>
                  <a:schemeClr val="tx1"/>
                </a:solidFill>
                <a:latin typeface="Times New Roman" panose="02020603050405020304" pitchFamily="18" charset="0"/>
                <a:cs typeface="Times New Roman" panose="02020603050405020304" pitchFamily="18" charset="0"/>
              </a:rPr>
              <a:t>i.e. V, P &amp;T) </a:t>
            </a:r>
            <a:endParaRPr lang="en-US" dirty="0" smtClean="0">
              <a:solidFill>
                <a:schemeClr val="tx1"/>
              </a:solidFill>
              <a:latin typeface="Times New Roman" panose="02020603050405020304" pitchFamily="18" charset="0"/>
              <a:cs typeface="Times New Roman" panose="02020603050405020304" pitchFamily="18" charset="0"/>
            </a:endParaRPr>
          </a:p>
          <a:p>
            <a:pPr algn="just"/>
            <a:r>
              <a:rPr lang="en-US" dirty="0" smtClean="0">
                <a:solidFill>
                  <a:schemeClr val="tx1"/>
                </a:solidFill>
                <a:latin typeface="Times New Roman" panose="02020603050405020304" pitchFamily="18" charset="0"/>
                <a:cs typeface="Times New Roman" panose="02020603050405020304" pitchFamily="18" charset="0"/>
              </a:rPr>
              <a:t>From diagram, since the area under each curve represents the work of each process, the amount of work involved in each case is not a function of the end states of process, and it depends on the path the system follows in going from state 1 to state 2.For this reason work is called path function and thermodynamic properties are called point function.</a:t>
            </a:r>
            <a:endParaRPr lang="en-US"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4294051" y="2209800"/>
            <a:ext cx="3524160" cy="2971800"/>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2060"/>
                </a:solidFill>
                <a:latin typeface="Times New Roman" panose="02020603050405020304" pitchFamily="18" charset="0"/>
                <a:cs typeface="Times New Roman" panose="02020603050405020304" pitchFamily="18" charset="0"/>
              </a:rPr>
              <a:t>               Heat &amp; Work</a:t>
            </a:r>
            <a:endParaRPr lang="en-US" dirty="0"/>
          </a:p>
        </p:txBody>
      </p:sp>
      <p:sp>
        <p:nvSpPr>
          <p:cNvPr id="4" name="Content Placeholder 2"/>
          <p:cNvSpPr>
            <a:spLocks noGrp="1"/>
          </p:cNvSpPr>
          <p:nvPr>
            <p:ph idx="1"/>
          </p:nvPr>
        </p:nvSpPr>
        <p:spPr/>
        <p:txBody>
          <a:bodyPr>
            <a:normAutofit fontScale="92500" lnSpcReduction="10000"/>
          </a:bodyPr>
          <a:lstStyle/>
          <a:p>
            <a:pPr marL="45720" indent="0">
              <a:buNone/>
            </a:pPr>
            <a:r>
              <a:rPr lang="en-US" b="1" dirty="0">
                <a:solidFill>
                  <a:schemeClr val="tx1"/>
                </a:solidFill>
                <a:latin typeface="Times New Roman" panose="02020603050405020304" pitchFamily="18" charset="0"/>
                <a:cs typeface="Times New Roman" panose="02020603050405020304" pitchFamily="18" charset="0"/>
              </a:rPr>
              <a:t>Thermodynamic definition of work:</a:t>
            </a:r>
          </a:p>
          <a:p>
            <a:pPr marL="45720" indent="0">
              <a:buNone/>
            </a:pPr>
            <a:r>
              <a:rPr lang="en-US" dirty="0">
                <a:solidFill>
                  <a:schemeClr val="tx1"/>
                </a:solidFill>
                <a:latin typeface="Times New Roman" panose="02020603050405020304" pitchFamily="18" charset="0"/>
                <a:cs typeface="Times New Roman" panose="02020603050405020304" pitchFamily="18" charset="0"/>
              </a:rPr>
              <a:t> </a:t>
            </a:r>
            <a:r>
              <a:rPr lang="en-US" dirty="0" smtClean="0">
                <a:solidFill>
                  <a:schemeClr val="tx1"/>
                </a:solidFill>
                <a:latin typeface="Times New Roman" panose="02020603050405020304" pitchFamily="18" charset="0"/>
                <a:cs typeface="Times New Roman" panose="02020603050405020304" pitchFamily="18" charset="0"/>
              </a:rPr>
              <a:t>Positive </a:t>
            </a:r>
            <a:r>
              <a:rPr lang="en-US" dirty="0">
                <a:solidFill>
                  <a:schemeClr val="tx1"/>
                </a:solidFill>
                <a:latin typeface="Times New Roman" panose="02020603050405020304" pitchFamily="18" charset="0"/>
                <a:cs typeface="Times New Roman" panose="02020603050405020304" pitchFamily="18" charset="0"/>
              </a:rPr>
              <a:t>work is done by a system when the sole effect </a:t>
            </a:r>
            <a:r>
              <a:rPr lang="en-US" dirty="0" smtClean="0">
                <a:solidFill>
                  <a:schemeClr val="tx1"/>
                </a:solidFill>
                <a:latin typeface="Times New Roman" panose="02020603050405020304" pitchFamily="18" charset="0"/>
                <a:cs typeface="Times New Roman" panose="02020603050405020304" pitchFamily="18" charset="0"/>
              </a:rPr>
              <a:t>external to </a:t>
            </a:r>
            <a:r>
              <a:rPr lang="en-US" dirty="0">
                <a:solidFill>
                  <a:schemeClr val="tx1"/>
                </a:solidFill>
                <a:latin typeface="Times New Roman" panose="02020603050405020304" pitchFamily="18" charset="0"/>
                <a:cs typeface="Times New Roman" panose="02020603050405020304" pitchFamily="18" charset="0"/>
              </a:rPr>
              <a:t>the system could </a:t>
            </a:r>
            <a:r>
              <a:rPr lang="en-US" dirty="0" smtClean="0">
                <a:solidFill>
                  <a:schemeClr val="tx1"/>
                </a:solidFill>
                <a:latin typeface="Times New Roman" panose="02020603050405020304" pitchFamily="18" charset="0"/>
                <a:cs typeface="Times New Roman" panose="02020603050405020304" pitchFamily="18" charset="0"/>
              </a:rPr>
              <a:t>be reduced </a:t>
            </a:r>
            <a:r>
              <a:rPr lang="en-US" dirty="0">
                <a:solidFill>
                  <a:schemeClr val="tx1"/>
                </a:solidFill>
                <a:latin typeface="Times New Roman" panose="02020603050405020304" pitchFamily="18" charset="0"/>
                <a:cs typeface="Times New Roman" panose="02020603050405020304" pitchFamily="18" charset="0"/>
              </a:rPr>
              <a:t>to the rise of a weight</a:t>
            </a:r>
            <a:r>
              <a:rPr lang="en-US" dirty="0" smtClean="0">
                <a:solidFill>
                  <a:schemeClr val="tx1"/>
                </a:solidFill>
                <a:latin typeface="Times New Roman" panose="02020603050405020304" pitchFamily="18" charset="0"/>
                <a:cs typeface="Times New Roman" panose="02020603050405020304" pitchFamily="18" charset="0"/>
              </a:rPr>
              <a:t>.</a:t>
            </a:r>
          </a:p>
          <a:p>
            <a:pPr marL="45720" indent="0">
              <a:buNone/>
            </a:pPr>
            <a:r>
              <a:rPr lang="en-US" b="1" dirty="0">
                <a:solidFill>
                  <a:schemeClr val="tx1"/>
                </a:solidFill>
                <a:latin typeface="Times New Roman" panose="02020603050405020304" pitchFamily="18" charset="0"/>
                <a:cs typeface="Times New Roman" panose="02020603050405020304" pitchFamily="18" charset="0"/>
              </a:rPr>
              <a:t>Thermodynamic definition of heat</a:t>
            </a:r>
            <a:r>
              <a:rPr lang="en-US" b="1" dirty="0" smtClean="0">
                <a:solidFill>
                  <a:schemeClr val="tx1"/>
                </a:solidFill>
                <a:latin typeface="Times New Roman" panose="02020603050405020304" pitchFamily="18" charset="0"/>
                <a:cs typeface="Times New Roman" panose="02020603050405020304" pitchFamily="18" charset="0"/>
              </a:rPr>
              <a:t>:</a:t>
            </a:r>
            <a:endParaRPr lang="en-US" b="1" dirty="0">
              <a:solidFill>
                <a:schemeClr val="tx1"/>
              </a:solidFill>
              <a:latin typeface="Times New Roman" panose="02020603050405020304" pitchFamily="18" charset="0"/>
              <a:cs typeface="Times New Roman" panose="02020603050405020304" pitchFamily="18" charset="0"/>
            </a:endParaRPr>
          </a:p>
          <a:p>
            <a:pPr marL="45720" indent="0">
              <a:buNone/>
            </a:pPr>
            <a:r>
              <a:rPr lang="en-US" dirty="0">
                <a:solidFill>
                  <a:schemeClr val="tx1"/>
                </a:solidFill>
                <a:latin typeface="Times New Roman" panose="02020603050405020304" pitchFamily="18" charset="0"/>
                <a:cs typeface="Times New Roman" panose="02020603050405020304" pitchFamily="18" charset="0"/>
              </a:rPr>
              <a:t>It is the energy in </a:t>
            </a:r>
            <a:r>
              <a:rPr lang="en-US" dirty="0" smtClean="0">
                <a:solidFill>
                  <a:schemeClr val="tx1"/>
                </a:solidFill>
                <a:latin typeface="Times New Roman" panose="02020603050405020304" pitchFamily="18" charset="0"/>
                <a:cs typeface="Times New Roman" panose="02020603050405020304" pitchFamily="18" charset="0"/>
              </a:rPr>
              <a:t>transition between </a:t>
            </a:r>
            <a:r>
              <a:rPr lang="en-US" dirty="0">
                <a:solidFill>
                  <a:schemeClr val="tx1"/>
                </a:solidFill>
                <a:latin typeface="Times New Roman" panose="02020603050405020304" pitchFamily="18" charset="0"/>
                <a:cs typeface="Times New Roman" panose="02020603050405020304" pitchFamily="18" charset="0"/>
              </a:rPr>
              <a:t>the system and the surroundings by virtue of the difference in temperature</a:t>
            </a:r>
            <a:r>
              <a:rPr lang="en-US" dirty="0" smtClean="0">
                <a:solidFill>
                  <a:schemeClr val="tx1"/>
                </a:solidFill>
                <a:latin typeface="Times New Roman" panose="02020603050405020304" pitchFamily="18" charset="0"/>
                <a:cs typeface="Times New Roman" panose="02020603050405020304" pitchFamily="18" charset="0"/>
              </a:rPr>
              <a:t>.</a:t>
            </a:r>
          </a:p>
          <a:p>
            <a:pPr lvl="0">
              <a:buFont typeface="Wingdings" panose="05000000000000000000" pitchFamily="2" charset="2"/>
              <a:buChar char="Ø"/>
            </a:pPr>
            <a:r>
              <a:rPr lang="en-GB" b="1" dirty="0">
                <a:solidFill>
                  <a:schemeClr val="tx1"/>
                </a:solidFill>
                <a:latin typeface="Times New Roman" panose="02020603050405020304" pitchFamily="18" charset="0"/>
                <a:cs typeface="Times New Roman" panose="02020603050405020304" pitchFamily="18" charset="0"/>
              </a:rPr>
              <a:t>Work is the form of energy useful in displacement of a body </a:t>
            </a:r>
            <a:endParaRPr lang="en-GB" b="1" dirty="0" smtClean="0">
              <a:solidFill>
                <a:schemeClr val="tx1"/>
              </a:solidFill>
              <a:latin typeface="Times New Roman" panose="02020603050405020304" pitchFamily="18" charset="0"/>
              <a:cs typeface="Times New Roman" panose="02020603050405020304" pitchFamily="18" charset="0"/>
            </a:endParaRPr>
          </a:p>
          <a:p>
            <a:pPr marL="45720" lvl="0" indent="0" algn="ctr">
              <a:buNone/>
            </a:pPr>
            <a:r>
              <a:rPr lang="en-US" sz="2000" dirty="0" err="1">
                <a:solidFill>
                  <a:schemeClr val="tx1"/>
                </a:solidFill>
                <a:latin typeface="Times New Roman" panose="02020603050405020304" pitchFamily="18" charset="0"/>
                <a:cs typeface="Times New Roman" panose="02020603050405020304" pitchFamily="18" charset="0"/>
              </a:rPr>
              <a:t>dW</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F.dL</a:t>
            </a:r>
            <a:r>
              <a:rPr lang="en-US" sz="2000" dirty="0">
                <a:solidFill>
                  <a:schemeClr val="tx1"/>
                </a:solidFill>
                <a:latin typeface="Times New Roman" panose="02020603050405020304" pitchFamily="18" charset="0"/>
                <a:cs typeface="Times New Roman" panose="02020603050405020304" pitchFamily="18" charset="0"/>
              </a:rPr>
              <a:t>= p. A </a:t>
            </a:r>
            <a:r>
              <a:rPr lang="en-US" sz="2000" dirty="0" err="1">
                <a:solidFill>
                  <a:schemeClr val="tx1"/>
                </a:solidFill>
                <a:latin typeface="Times New Roman" panose="02020603050405020304" pitchFamily="18" charset="0"/>
                <a:cs typeface="Times New Roman" panose="02020603050405020304" pitchFamily="18" charset="0"/>
              </a:rPr>
              <a:t>dL</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p.dV</a:t>
            </a:r>
            <a:endParaRPr lang="en-US" sz="2000" dirty="0">
              <a:solidFill>
                <a:schemeClr val="tx1"/>
              </a:solidFill>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r>
              <a:rPr lang="en-GB" b="1" dirty="0">
                <a:solidFill>
                  <a:schemeClr val="tx1"/>
                </a:solidFill>
                <a:latin typeface="Times New Roman" panose="02020603050405020304" pitchFamily="18" charset="0"/>
                <a:cs typeface="Times New Roman" panose="02020603050405020304" pitchFamily="18" charset="0"/>
              </a:rPr>
              <a:t>Heat is the form of energy transferred due to temperature gradient between two bodies </a:t>
            </a:r>
            <a:endParaRPr lang="en-GB" b="1" dirty="0" smtClean="0">
              <a:solidFill>
                <a:schemeClr val="tx1"/>
              </a:solidFill>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endParaRPr lang="en-US" dirty="0">
              <a:solidFill>
                <a:schemeClr val="tx1"/>
              </a:solidFill>
              <a:latin typeface="Times New Roman" panose="02020603050405020304" pitchFamily="18" charset="0"/>
              <a:cs typeface="Times New Roman" panose="02020603050405020304" pitchFamily="18" charset="0"/>
            </a:endParaRPr>
          </a:p>
          <a:p>
            <a:pPr marL="45720" indent="0">
              <a:buNone/>
            </a:pPr>
            <a:endParaRPr lang="en-US" dirty="0">
              <a:solidFill>
                <a:schemeClr val="tx1"/>
              </a:solidFill>
              <a:latin typeface="Times New Roman" panose="02020603050405020304" pitchFamily="18" charset="0"/>
              <a:cs typeface="Times New Roman" panose="02020603050405020304" pitchFamily="18" charset="0"/>
            </a:endParaRPr>
          </a:p>
          <a:p>
            <a:pPr marL="45720" indent="0">
              <a:buNone/>
            </a:pPr>
            <a:endParaRPr lang="en-US" dirty="0"/>
          </a:p>
          <a:p>
            <a:pPr marL="45720" indent="0">
              <a:buNone/>
            </a:pP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2060"/>
                </a:solidFill>
                <a:latin typeface="Times New Roman" panose="02020603050405020304" pitchFamily="18" charset="0"/>
                <a:cs typeface="Times New Roman" panose="02020603050405020304" pitchFamily="18" charset="0"/>
              </a:rPr>
              <a:t>           Sign Conventions</a:t>
            </a:r>
            <a:endParaRPr lang="en-US" dirty="0"/>
          </a:p>
        </p:txBody>
      </p:sp>
      <p:sp>
        <p:nvSpPr>
          <p:cNvPr id="4" name="Content Placeholder 2"/>
          <p:cNvSpPr>
            <a:spLocks noGrp="1"/>
          </p:cNvSpPr>
          <p:nvPr>
            <p:ph idx="1"/>
          </p:nvPr>
        </p:nvSpPr>
        <p:spPr/>
        <p:txBody>
          <a:bodyPr>
            <a:normAutofit/>
          </a:bodyPr>
          <a:lstStyle/>
          <a:p>
            <a:r>
              <a:rPr lang="en-US" sz="1800" dirty="0">
                <a:solidFill>
                  <a:schemeClr val="tx1"/>
                </a:solidFill>
                <a:latin typeface="Times New Roman" panose="02020603050405020304" pitchFamily="18" charset="0"/>
                <a:cs typeface="Times New Roman" panose="02020603050405020304" pitchFamily="18" charset="0"/>
              </a:rPr>
              <a:t>Work done </a:t>
            </a:r>
            <a:r>
              <a:rPr lang="en-US" sz="1800" b="1" dirty="0" smtClean="0">
                <a:solidFill>
                  <a:schemeClr val="tx1"/>
                </a:solidFill>
                <a:latin typeface="Times New Roman" panose="02020603050405020304" pitchFamily="18" charset="0"/>
                <a:cs typeface="Times New Roman" panose="02020603050405020304" pitchFamily="18" charset="0"/>
              </a:rPr>
              <a:t>by</a:t>
            </a:r>
            <a:r>
              <a:rPr lang="en-US" sz="1800"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the system is </a:t>
            </a:r>
            <a:r>
              <a:rPr lang="en-US" sz="1800" b="1" dirty="0">
                <a:solidFill>
                  <a:schemeClr val="tx1"/>
                </a:solidFill>
                <a:latin typeface="Times New Roman" panose="02020603050405020304" pitchFamily="18" charset="0"/>
                <a:cs typeface="Times New Roman" panose="02020603050405020304" pitchFamily="18" charset="0"/>
              </a:rPr>
              <a:t>+</a:t>
            </a:r>
            <a:r>
              <a:rPr lang="en-US" sz="1800" b="1" dirty="0" err="1">
                <a:solidFill>
                  <a:schemeClr val="tx1"/>
                </a:solidFill>
                <a:latin typeface="Times New Roman" panose="02020603050405020304" pitchFamily="18" charset="0"/>
                <a:cs typeface="Times New Roman" panose="02020603050405020304" pitchFamily="18" charset="0"/>
              </a:rPr>
              <a:t>ve</a:t>
            </a:r>
            <a:endParaRPr lang="en-US" sz="1800" b="1" dirty="0">
              <a:solidFill>
                <a:schemeClr val="tx1"/>
              </a:solidFill>
              <a:latin typeface="Times New Roman" panose="02020603050405020304" pitchFamily="18" charset="0"/>
              <a:cs typeface="Times New Roman" panose="02020603050405020304" pitchFamily="18" charset="0"/>
            </a:endParaRPr>
          </a:p>
          <a:p>
            <a:r>
              <a:rPr lang="en-US" sz="1800"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Obviously work done </a:t>
            </a:r>
            <a:r>
              <a:rPr lang="en-US" sz="1800" b="1" dirty="0" smtClean="0">
                <a:solidFill>
                  <a:schemeClr val="tx1"/>
                </a:solidFill>
                <a:latin typeface="Times New Roman" panose="02020603050405020304" pitchFamily="18" charset="0"/>
                <a:cs typeface="Times New Roman" panose="02020603050405020304" pitchFamily="18" charset="0"/>
              </a:rPr>
              <a:t>on</a:t>
            </a:r>
            <a:r>
              <a:rPr lang="en-US" sz="1800"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the system is </a:t>
            </a:r>
            <a:r>
              <a:rPr lang="en-US" sz="1800" b="1" dirty="0">
                <a:solidFill>
                  <a:schemeClr val="tx1"/>
                </a:solidFill>
                <a:latin typeface="Times New Roman" panose="02020603050405020304" pitchFamily="18" charset="0"/>
                <a:cs typeface="Times New Roman" panose="02020603050405020304" pitchFamily="18" charset="0"/>
              </a:rPr>
              <a:t>–</a:t>
            </a:r>
            <a:r>
              <a:rPr lang="en-US" sz="1800" b="1" dirty="0" err="1">
                <a:solidFill>
                  <a:schemeClr val="tx1"/>
                </a:solidFill>
                <a:latin typeface="Times New Roman" panose="02020603050405020304" pitchFamily="18" charset="0"/>
                <a:cs typeface="Times New Roman" panose="02020603050405020304" pitchFamily="18" charset="0"/>
              </a:rPr>
              <a:t>ve</a:t>
            </a:r>
            <a:endParaRPr lang="en-US" sz="1800" b="1" dirty="0">
              <a:solidFill>
                <a:schemeClr val="tx1"/>
              </a:solidFill>
              <a:latin typeface="Times New Roman" panose="02020603050405020304" pitchFamily="18" charset="0"/>
              <a:cs typeface="Times New Roman" panose="02020603050405020304" pitchFamily="18" charset="0"/>
            </a:endParaRPr>
          </a:p>
          <a:p>
            <a:r>
              <a:rPr lang="en-US" sz="1800"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Heat given </a:t>
            </a:r>
            <a:r>
              <a:rPr lang="en-US" sz="1800" b="1" dirty="0" smtClean="0">
                <a:solidFill>
                  <a:schemeClr val="tx1"/>
                </a:solidFill>
                <a:latin typeface="Times New Roman" panose="02020603050405020304" pitchFamily="18" charset="0"/>
                <a:cs typeface="Times New Roman" panose="02020603050405020304" pitchFamily="18" charset="0"/>
              </a:rPr>
              <a:t>to</a:t>
            </a:r>
            <a:r>
              <a:rPr lang="en-US" sz="1800"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the system is </a:t>
            </a:r>
            <a:r>
              <a:rPr lang="en-US" sz="1800" b="1" dirty="0">
                <a:solidFill>
                  <a:schemeClr val="tx1"/>
                </a:solidFill>
                <a:latin typeface="Times New Roman" panose="02020603050405020304" pitchFamily="18" charset="0"/>
                <a:cs typeface="Times New Roman" panose="02020603050405020304" pitchFamily="18" charset="0"/>
              </a:rPr>
              <a:t>+</a:t>
            </a:r>
            <a:r>
              <a:rPr lang="en-US" sz="1800" b="1" dirty="0" err="1">
                <a:solidFill>
                  <a:schemeClr val="tx1"/>
                </a:solidFill>
                <a:latin typeface="Times New Roman" panose="02020603050405020304" pitchFamily="18" charset="0"/>
                <a:cs typeface="Times New Roman" panose="02020603050405020304" pitchFamily="18" charset="0"/>
              </a:rPr>
              <a:t>ve</a:t>
            </a:r>
            <a:endParaRPr lang="en-US" sz="1800" b="1" dirty="0">
              <a:solidFill>
                <a:schemeClr val="tx1"/>
              </a:solidFill>
              <a:latin typeface="Times New Roman" panose="02020603050405020304" pitchFamily="18" charset="0"/>
              <a:cs typeface="Times New Roman" panose="02020603050405020304" pitchFamily="18" charset="0"/>
            </a:endParaRPr>
          </a:p>
          <a:p>
            <a:r>
              <a:rPr lang="en-US" sz="1800"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Obviously Heat rejected </a:t>
            </a:r>
            <a:r>
              <a:rPr lang="en-US" sz="1800" b="1" dirty="0">
                <a:solidFill>
                  <a:schemeClr val="tx1"/>
                </a:solidFill>
                <a:latin typeface="Times New Roman" panose="02020603050405020304" pitchFamily="18" charset="0"/>
                <a:cs typeface="Times New Roman" panose="02020603050405020304" pitchFamily="18" charset="0"/>
              </a:rPr>
              <a:t>by</a:t>
            </a:r>
            <a:r>
              <a:rPr lang="en-US" sz="1800" dirty="0">
                <a:solidFill>
                  <a:schemeClr val="tx1"/>
                </a:solidFill>
                <a:latin typeface="Times New Roman" panose="02020603050405020304" pitchFamily="18" charset="0"/>
                <a:cs typeface="Times New Roman" panose="02020603050405020304" pitchFamily="18" charset="0"/>
              </a:rPr>
              <a:t> the system is </a:t>
            </a:r>
            <a:r>
              <a:rPr lang="en-US" sz="1800" b="1" dirty="0">
                <a:solidFill>
                  <a:schemeClr val="tx1"/>
                </a:solidFill>
                <a:latin typeface="Times New Roman" panose="02020603050405020304" pitchFamily="18" charset="0"/>
                <a:cs typeface="Times New Roman" panose="02020603050405020304" pitchFamily="18" charset="0"/>
              </a:rPr>
              <a:t>-</a:t>
            </a:r>
            <a:r>
              <a:rPr lang="en-US" sz="1800" b="1" dirty="0" err="1">
                <a:solidFill>
                  <a:schemeClr val="tx1"/>
                </a:solidFill>
                <a:latin typeface="Times New Roman" panose="02020603050405020304" pitchFamily="18" charset="0"/>
                <a:cs typeface="Times New Roman" panose="02020603050405020304" pitchFamily="18" charset="0"/>
              </a:rPr>
              <a:t>ve</a:t>
            </a:r>
            <a:endParaRPr lang="en-US" sz="1800" b="1" dirty="0">
              <a:solidFill>
                <a:schemeClr val="tx1"/>
              </a:solidFill>
              <a:latin typeface="Times New Roman" panose="02020603050405020304" pitchFamily="18" charset="0"/>
              <a:cs typeface="Times New Roman" panose="02020603050405020304" pitchFamily="18" charset="0"/>
            </a:endParaRPr>
          </a:p>
          <a:p>
            <a:pPr marL="45720" indent="0">
              <a:buNone/>
            </a:pPr>
            <a:endParaRPr lang="en-US" sz="1800"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p:nvPr/>
        </p:nvPicPr>
        <p:blipFill>
          <a:blip r:embed="rId2">
            <a:extLst>
              <a:ext uri="{28A0092B-C50C-407E-A947-70E740481C1C}">
                <a14:useLocalDpi xmlns:a14="http://schemas.microsoft.com/office/drawing/2010/main" xmlns="" val="0"/>
              </a:ext>
            </a:extLst>
          </a:blip>
          <a:srcRect/>
          <a:stretch>
            <a:fillRect/>
          </a:stretch>
        </p:blipFill>
        <p:spPr bwMode="auto">
          <a:xfrm>
            <a:off x="381000" y="4191000"/>
            <a:ext cx="5486400" cy="2057400"/>
          </a:xfrm>
          <a:prstGeom prst="rect">
            <a:avLst/>
          </a:prstGeom>
          <a:noFill/>
          <a:ln>
            <a:noFill/>
          </a:ln>
        </p:spPr>
      </p:pic>
      <p:pic>
        <p:nvPicPr>
          <p:cNvPr id="6" name="Picture 5"/>
          <p:cNvPicPr/>
          <p:nvPr/>
        </p:nvPicPr>
        <p:blipFill>
          <a:blip r:embed="rId3">
            <a:extLst>
              <a:ext uri="{28A0092B-C50C-407E-A947-70E740481C1C}">
                <a14:useLocalDpi xmlns:a14="http://schemas.microsoft.com/office/drawing/2010/main" xmlns="" val="0"/>
              </a:ext>
            </a:extLst>
          </a:blip>
          <a:srcRect/>
          <a:stretch>
            <a:fillRect/>
          </a:stretch>
        </p:blipFill>
        <p:spPr bwMode="auto">
          <a:xfrm>
            <a:off x="4724400" y="3200400"/>
            <a:ext cx="3200400" cy="1905000"/>
          </a:xfrm>
          <a:prstGeom prst="rect">
            <a:avLst/>
          </a:prstGeom>
          <a:noFill/>
          <a:ln>
            <a:noFill/>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5287"/>
            <a:ext cx="8229600" cy="6440556"/>
          </a:xfrm>
        </p:spPr>
        <p:txBody>
          <a:bodyPr>
            <a:normAutofit/>
          </a:bodyPr>
          <a:lstStyle/>
          <a:p>
            <a:r>
              <a:rPr lang="en-US" sz="3200" dirty="0" smtClean="0">
                <a:latin typeface="Times New Roman" panose="02020603050405020304" pitchFamily="18" charset="0"/>
                <a:cs typeface="Times New Roman" panose="02020603050405020304" pitchFamily="18" charset="0"/>
              </a:rPr>
              <a:t>Work is a path function and inexact differential.</a:t>
            </a:r>
            <a:endParaRPr lang="en-US" sz="32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914400" y="1447800"/>
            <a:ext cx="2951301" cy="3593528"/>
          </a:xfrm>
          <a:prstGeom prst="rect">
            <a:avLst/>
          </a:prstGeom>
        </p:spPr>
      </p:pic>
      <p:pic>
        <p:nvPicPr>
          <p:cNvPr id="5" name="Picture 4"/>
          <p:cNvPicPr>
            <a:picLocks noChangeAspect="1"/>
          </p:cNvPicPr>
          <p:nvPr/>
        </p:nvPicPr>
        <p:blipFill>
          <a:blip r:embed="rId3"/>
          <a:stretch>
            <a:fillRect/>
          </a:stretch>
        </p:blipFill>
        <p:spPr>
          <a:xfrm>
            <a:off x="5178287" y="938183"/>
            <a:ext cx="2912165" cy="4044667"/>
          </a:xfrm>
          <a:prstGeom prst="rect">
            <a:avLst/>
          </a:prstGeom>
        </p:spPr>
      </p:pic>
      <p:pic>
        <p:nvPicPr>
          <p:cNvPr id="6" name="Picture 5"/>
          <p:cNvPicPr>
            <a:picLocks noChangeAspect="1"/>
          </p:cNvPicPr>
          <p:nvPr/>
        </p:nvPicPr>
        <p:blipFill>
          <a:blip r:embed="rId4"/>
          <a:stretch>
            <a:fillRect/>
          </a:stretch>
        </p:blipFill>
        <p:spPr>
          <a:xfrm>
            <a:off x="2045348" y="5918629"/>
            <a:ext cx="4589022" cy="747214"/>
          </a:xfrm>
          <a:prstGeom prst="rect">
            <a:avLst/>
          </a:prstGeom>
        </p:spPr>
      </p:pic>
      <p:pic>
        <p:nvPicPr>
          <p:cNvPr id="7" name="Picture 6"/>
          <p:cNvPicPr>
            <a:picLocks noChangeAspect="1"/>
          </p:cNvPicPr>
          <p:nvPr/>
        </p:nvPicPr>
        <p:blipFill>
          <a:blip r:embed="rId5"/>
          <a:stretch>
            <a:fillRect/>
          </a:stretch>
        </p:blipFill>
        <p:spPr>
          <a:xfrm>
            <a:off x="3169296" y="5207037"/>
            <a:ext cx="2211666" cy="780129"/>
          </a:xfrm>
          <a:prstGeom prst="rect">
            <a:avLst/>
          </a:prstGeom>
        </p:spPr>
      </p:pic>
      <p:sp>
        <p:nvSpPr>
          <p:cNvPr id="8" name="TextBox 7"/>
          <p:cNvSpPr txBox="1"/>
          <p:nvPr/>
        </p:nvSpPr>
        <p:spPr>
          <a:xfrm>
            <a:off x="5540395" y="5378167"/>
            <a:ext cx="1943802" cy="369332"/>
          </a:xfrm>
          <a:prstGeom prst="rect">
            <a:avLst/>
          </a:prstGeom>
          <a:solidFill>
            <a:schemeClr val="bg2">
              <a:lumMod val="50000"/>
            </a:schemeClr>
          </a:solidFill>
        </p:spPr>
        <p:txBody>
          <a:bodyPr wrap="none" rtlCol="0">
            <a:spAutoFit/>
          </a:bodyPr>
          <a:lstStyle/>
          <a:p>
            <a:r>
              <a:rPr lang="en-US" dirty="0" smtClean="0">
                <a:latin typeface="Times New Roman" panose="02020603050405020304" pitchFamily="18" charset="0"/>
                <a:cs typeface="Times New Roman" panose="02020603050405020304" pitchFamily="18" charset="0"/>
              </a:rPr>
              <a:t>Inexact differential</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5212488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A29057-18DB-B5A5-EE27-1A09A21CA9DC}"/>
              </a:ext>
            </a:extLst>
          </p:cNvPr>
          <p:cNvSpPr>
            <a:spLocks noGrp="1"/>
          </p:cNvSpPr>
          <p:nvPr>
            <p:ph type="title"/>
          </p:nvPr>
        </p:nvSpPr>
        <p:spPr>
          <a:xfrm>
            <a:off x="545523" y="295854"/>
            <a:ext cx="8515350" cy="2103755"/>
          </a:xfrm>
        </p:spPr>
        <p:txBody>
          <a:bodyPr>
            <a:noAutofit/>
          </a:bodyPr>
          <a:lstStyle/>
          <a:p>
            <a:pPr>
              <a:lnSpc>
                <a:spcPct val="107000"/>
              </a:lnSpc>
              <a:spcAft>
                <a:spcPts val="800"/>
              </a:spcAft>
            </a:pPr>
            <a:r>
              <a:rPr lang="en-US" sz="2800" b="1" dirty="0">
                <a:solidFill>
                  <a:srgbClr val="FF0000"/>
                </a:solidFill>
                <a:effectLst/>
                <a:latin typeface="+mn-lt"/>
                <a:ea typeface="Calibri" panose="020F0502020204030204" pitchFamily="34" charset="0"/>
                <a:cs typeface="Times New Roman" panose="02020603050405020304" pitchFamily="18" charset="0"/>
              </a:rPr>
              <a:t>Closed system </a:t>
            </a:r>
            <a:r>
              <a:rPr lang="en-US" sz="2800" b="1" dirty="0">
                <a:solidFill>
                  <a:srgbClr val="FF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2800" b="1" dirty="0">
                <a:solidFill>
                  <a:srgbClr val="FF0000"/>
                </a:solidFill>
                <a:effectLst/>
                <a:latin typeface="+mn-lt"/>
                <a:ea typeface="Calibri" panose="020F0502020204030204" pitchFamily="34" charset="0"/>
                <a:cs typeface="Times New Roman" panose="02020603050405020304" pitchFamily="18" charset="0"/>
              </a:rPr>
              <a:t> System Interact with surroundings 	</a:t>
            </a:r>
            <a:r>
              <a:rPr lang="en-US" sz="2800" b="1" dirty="0">
                <a:solidFill>
                  <a:srgbClr val="FF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2800" b="1" dirty="0">
                <a:solidFill>
                  <a:srgbClr val="FF0000"/>
                </a:solidFill>
                <a:effectLst/>
                <a:latin typeface="+mn-lt"/>
                <a:ea typeface="Calibri" panose="020F0502020204030204" pitchFamily="34" charset="0"/>
                <a:cs typeface="Times New Roman" panose="02020603050405020304" pitchFamily="18" charset="0"/>
              </a:rPr>
              <a:t> Work transfer </a:t>
            </a:r>
            <a:r>
              <a:rPr lang="en-IN" sz="2800" b="1" dirty="0">
                <a:solidFill>
                  <a:srgbClr val="FF0000"/>
                </a:solidFill>
                <a:effectLst/>
                <a:latin typeface="+mn-lt"/>
                <a:ea typeface="Calibri" panose="020F0502020204030204" pitchFamily="34" charset="0"/>
                <a:cs typeface="Times New Roman" panose="02020603050405020304" pitchFamily="18" charset="0"/>
              </a:rPr>
              <a:t/>
            </a:r>
            <a:br>
              <a:rPr lang="en-IN" sz="2800" b="1" dirty="0">
                <a:solidFill>
                  <a:srgbClr val="FF0000"/>
                </a:solidFill>
                <a:effectLst/>
                <a:latin typeface="+mn-lt"/>
                <a:ea typeface="Calibri" panose="020F0502020204030204" pitchFamily="34" charset="0"/>
                <a:cs typeface="Times New Roman" panose="02020603050405020304" pitchFamily="18" charset="0"/>
              </a:rPr>
            </a:br>
            <a:r>
              <a:rPr lang="en-IN" sz="2800" b="1" dirty="0">
                <a:solidFill>
                  <a:srgbClr val="FF0000"/>
                </a:solidFill>
                <a:effectLst/>
                <a:latin typeface="+mn-lt"/>
                <a:ea typeface="Calibri" panose="020F0502020204030204" pitchFamily="34" charset="0"/>
                <a:cs typeface="Times New Roman" panose="02020603050405020304" pitchFamily="18" charset="0"/>
              </a:rPr>
              <a:t>									</a:t>
            </a:r>
            <a:r>
              <a:rPr lang="en-US" sz="2800" b="1" dirty="0">
                <a:solidFill>
                  <a:srgbClr val="FF0000"/>
                </a:solidFill>
                <a:effectLst/>
                <a:latin typeface="+mn-lt"/>
                <a:ea typeface="Calibri" panose="020F0502020204030204" pitchFamily="34" charset="0"/>
                <a:cs typeface="Times New Roman" panose="02020603050405020304" pitchFamily="18" charset="0"/>
                <a:sym typeface="Wingdings" panose="05000000000000000000" pitchFamily="2" charset="2"/>
              </a:rPr>
              <a:t></a:t>
            </a:r>
            <a:r>
              <a:rPr lang="en-US" sz="2800" b="1" dirty="0">
                <a:solidFill>
                  <a:srgbClr val="FF0000"/>
                </a:solidFill>
                <a:effectLst/>
                <a:latin typeface="+mn-lt"/>
                <a:ea typeface="Calibri" panose="020F0502020204030204" pitchFamily="34" charset="0"/>
                <a:cs typeface="Times New Roman" panose="02020603050405020304" pitchFamily="18" charset="0"/>
              </a:rPr>
              <a:t> Heat transfer</a:t>
            </a:r>
            <a:r>
              <a:rPr lang="en-IN" sz="2800" b="1" dirty="0">
                <a:solidFill>
                  <a:srgbClr val="FF0000"/>
                </a:solidFill>
                <a:effectLst/>
                <a:latin typeface="+mn-lt"/>
                <a:ea typeface="Calibri" panose="020F0502020204030204" pitchFamily="34" charset="0"/>
                <a:cs typeface="Times New Roman" panose="02020603050405020304" pitchFamily="18" charset="0"/>
              </a:rPr>
              <a:t/>
            </a:r>
            <a:br>
              <a:rPr lang="en-IN" sz="2800" b="1" dirty="0">
                <a:solidFill>
                  <a:srgbClr val="FF0000"/>
                </a:solidFill>
                <a:effectLst/>
                <a:latin typeface="+mn-lt"/>
                <a:ea typeface="Calibri" panose="020F0502020204030204" pitchFamily="34" charset="0"/>
                <a:cs typeface="Times New Roman" panose="02020603050405020304" pitchFamily="18" charset="0"/>
              </a:rPr>
            </a:br>
            <a:endParaRPr lang="en-IN" sz="2800" b="1" dirty="0">
              <a:solidFill>
                <a:srgbClr val="FF0000"/>
              </a:solidFill>
              <a:latin typeface="+mn-lt"/>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111FC45-5615-CE5A-A063-FD286E477E6A}"/>
              </a:ext>
            </a:extLst>
          </p:cNvPr>
          <p:cNvSpPr>
            <a:spLocks noGrp="1"/>
          </p:cNvSpPr>
          <p:nvPr>
            <p:ph idx="1"/>
          </p:nvPr>
        </p:nvSpPr>
        <p:spPr>
          <a:xfrm>
            <a:off x="800100" y="2011681"/>
            <a:ext cx="7886700" cy="3017520"/>
          </a:xfrm>
        </p:spPr>
        <p:txBody>
          <a:bodyPr>
            <a:normAutofit fontScale="55000" lnSpcReduction="20000"/>
          </a:bodyPr>
          <a:lstStyle/>
          <a:p>
            <a:pPr>
              <a:lnSpc>
                <a:spcPct val="107000"/>
              </a:lnSpc>
              <a:spcAft>
                <a:spcPts val="800"/>
              </a:spcAft>
            </a:pPr>
            <a:r>
              <a:rPr lang="en-US" sz="6300" b="1" dirty="0">
                <a:solidFill>
                  <a:srgbClr val="FF0000"/>
                </a:solidFill>
                <a:effectLst/>
                <a:ea typeface="Calibri" panose="020F0502020204030204" pitchFamily="34" charset="0"/>
                <a:cs typeface="Times New Roman" panose="02020603050405020304" pitchFamily="18" charset="0"/>
              </a:rPr>
              <a:t>Work (Closed system)</a:t>
            </a:r>
            <a:endParaRPr lang="en-IN" sz="3800" b="1" dirty="0">
              <a:solidFill>
                <a:srgbClr val="FF0000"/>
              </a:solidFill>
              <a:effectLst/>
              <a:ea typeface="Calibri" panose="020F0502020204030204" pitchFamily="34" charset="0"/>
              <a:cs typeface="Times New Roman" panose="02020603050405020304" pitchFamily="18" charset="0"/>
            </a:endParaRPr>
          </a:p>
          <a:p>
            <a:pPr marL="0" indent="0">
              <a:lnSpc>
                <a:spcPct val="170000"/>
              </a:lnSpc>
              <a:spcBef>
                <a:spcPts val="0"/>
              </a:spcBef>
              <a:buNone/>
            </a:pPr>
            <a:r>
              <a:rPr lang="en-US" sz="4500" b="1" dirty="0">
                <a:effectLst/>
                <a:ea typeface="Calibri" panose="020F0502020204030204" pitchFamily="34" charset="0"/>
                <a:cs typeface="Times New Roman" panose="02020603050405020304" pitchFamily="18" charset="0"/>
              </a:rPr>
              <a:t>Energy transferred without mass cross the boundary, only due to intensive property difference other than temperature </a:t>
            </a:r>
            <a:r>
              <a:rPr lang="en-US" sz="4500" b="1" dirty="0">
                <a:effectLst/>
                <a:ea typeface="Calibri" panose="020F0502020204030204" pitchFamily="34" charset="0"/>
                <a:cs typeface="Times New Roman" panose="02020603050405020304" pitchFamily="18" charset="0"/>
                <a:sym typeface="Wingdings" panose="05000000000000000000" pitchFamily="2" charset="2"/>
              </a:rPr>
              <a:t></a:t>
            </a:r>
            <a:r>
              <a:rPr lang="en-US" sz="4500" b="1" dirty="0">
                <a:effectLst/>
                <a:ea typeface="Calibri" panose="020F0502020204030204" pitchFamily="34" charset="0"/>
                <a:cs typeface="Times New Roman" panose="02020603050405020304" pitchFamily="18" charset="0"/>
              </a:rPr>
              <a:t>  not be stored on a system</a:t>
            </a:r>
            <a:endParaRPr lang="en-IN" sz="4500" b="1"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255427818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latin typeface="+mn-lt"/>
                <a:ea typeface="Calibri" panose="020F0502020204030204" pitchFamily="34" charset="0"/>
                <a:cs typeface="Times New Roman" panose="02020603050405020304" pitchFamily="18" charset="0"/>
              </a:rPr>
              <a:t>Mechanics Definition</a:t>
            </a:r>
            <a:endParaRPr lang="en-IN" dirty="0">
              <a:latin typeface="+mn-lt"/>
            </a:endParaRPr>
          </a:p>
        </p:txBody>
      </p:sp>
      <p:sp>
        <p:nvSpPr>
          <p:cNvPr id="3" name="Content Placeholder 2"/>
          <p:cNvSpPr>
            <a:spLocks noGrp="1"/>
          </p:cNvSpPr>
          <p:nvPr>
            <p:ph idx="1"/>
          </p:nvPr>
        </p:nvSpPr>
        <p:spPr/>
        <p:txBody>
          <a:bodyPr/>
          <a:lstStyle/>
          <a:p>
            <a:pPr>
              <a:lnSpc>
                <a:spcPct val="107000"/>
              </a:lnSpc>
              <a:spcAft>
                <a:spcPts val="800"/>
              </a:spcAft>
            </a:pPr>
            <a:endParaRPr lang="en-IN" b="1" dirty="0">
              <a:solidFill>
                <a:srgbClr val="FF0000"/>
              </a:solidFill>
              <a:ea typeface="Calibri" panose="020F0502020204030204" pitchFamily="34" charset="0"/>
              <a:cs typeface="Times New Roman" panose="02020603050405020304" pitchFamily="18" charset="0"/>
            </a:endParaRPr>
          </a:p>
          <a:p>
            <a:pPr marL="0" indent="0">
              <a:lnSpc>
                <a:spcPct val="107000"/>
              </a:lnSpc>
              <a:spcAft>
                <a:spcPts val="800"/>
              </a:spcAft>
              <a:buNone/>
            </a:pPr>
            <a:r>
              <a:rPr lang="en-US" b="1" dirty="0">
                <a:ea typeface="Calibri" panose="020F0502020204030204" pitchFamily="34" charset="0"/>
                <a:cs typeface="Times New Roman" panose="02020603050405020304" pitchFamily="18" charset="0"/>
              </a:rPr>
              <a:t>Work done by SYSTEM IS  a force acts upon a body moving in the direction of force</a:t>
            </a:r>
          </a:p>
          <a:p>
            <a:endParaRPr lang="en-IN" dirty="0"/>
          </a:p>
        </p:txBody>
      </p:sp>
      <p:pic>
        <p:nvPicPr>
          <p:cNvPr id="4" name="Picture 3">
            <a:extLst>
              <a:ext uri="{FF2B5EF4-FFF2-40B4-BE49-F238E27FC236}">
                <a16:creationId xmlns:a16="http://schemas.microsoft.com/office/drawing/2014/main" xmlns="" id="{05117B67-47CA-067A-DC35-5E8A90E3F8AD}"/>
              </a:ext>
            </a:extLst>
          </p:cNvPr>
          <p:cNvPicPr>
            <a:picLocks noChangeAspect="1"/>
          </p:cNvPicPr>
          <p:nvPr/>
        </p:nvPicPr>
        <p:blipFill rotWithShape="1">
          <a:blip r:embed="rId2"/>
          <a:srcRect l="7734" r="6875" b="12971"/>
          <a:stretch/>
        </p:blipFill>
        <p:spPr>
          <a:xfrm>
            <a:off x="1286181" y="3671456"/>
            <a:ext cx="5811802" cy="1665922"/>
          </a:xfrm>
          <a:prstGeom prst="rect">
            <a:avLst/>
          </a:prstGeom>
        </p:spPr>
      </p:pic>
    </p:spTree>
    <p:extLst>
      <p:ext uri="{BB962C8B-B14F-4D97-AF65-F5344CB8AC3E}">
        <p14:creationId xmlns:p14="http://schemas.microsoft.com/office/powerpoint/2010/main" xmlns="" val="204690034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A29057-18DB-B5A5-EE27-1A09A21CA9DC}"/>
              </a:ext>
            </a:extLst>
          </p:cNvPr>
          <p:cNvSpPr>
            <a:spLocks noGrp="1"/>
          </p:cNvSpPr>
          <p:nvPr>
            <p:ph type="title"/>
          </p:nvPr>
        </p:nvSpPr>
        <p:spPr>
          <a:xfrm>
            <a:off x="628650" y="365126"/>
            <a:ext cx="7886700" cy="646257"/>
          </a:xfrm>
        </p:spPr>
        <p:txBody>
          <a:bodyPr>
            <a:noAutofit/>
          </a:bodyPr>
          <a:lstStyle/>
          <a:p>
            <a:r>
              <a:rPr lang="en-US" b="1" dirty="0">
                <a:solidFill>
                  <a:srgbClr val="FF0000"/>
                </a:solidFill>
                <a:effectLst/>
                <a:latin typeface="+mn-lt"/>
                <a:ea typeface="Calibri" panose="020F0502020204030204" pitchFamily="34" charset="0"/>
                <a:cs typeface="Times New Roman" panose="02020603050405020304" pitchFamily="18" charset="0"/>
              </a:rPr>
              <a:t>Thermodynamic point view:</a:t>
            </a:r>
            <a:endParaRPr lang="en-IN" b="1" dirty="0">
              <a:solidFill>
                <a:srgbClr val="FF0000"/>
              </a:solidFill>
              <a:latin typeface="+mn-lt"/>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111FC45-5615-CE5A-A063-FD286E477E6A}"/>
              </a:ext>
            </a:extLst>
          </p:cNvPr>
          <p:cNvSpPr>
            <a:spLocks noGrp="1"/>
          </p:cNvSpPr>
          <p:nvPr>
            <p:ph idx="1"/>
          </p:nvPr>
        </p:nvSpPr>
        <p:spPr>
          <a:xfrm>
            <a:off x="296465" y="1570855"/>
            <a:ext cx="7552136" cy="4753745"/>
          </a:xfrm>
        </p:spPr>
        <p:txBody>
          <a:bodyPr>
            <a:normAutofit fontScale="85000" lnSpcReduction="20000"/>
          </a:bodyPr>
          <a:lstStyle/>
          <a:p>
            <a:pPr>
              <a:lnSpc>
                <a:spcPct val="107000"/>
              </a:lnSpc>
              <a:spcAft>
                <a:spcPts val="800"/>
              </a:spcAft>
            </a:pPr>
            <a:r>
              <a:rPr lang="en-US" sz="4400" b="1" dirty="0">
                <a:effectLst/>
                <a:ea typeface="Calibri" panose="020F0502020204030204" pitchFamily="34" charset="0"/>
                <a:cs typeface="Times New Roman" panose="02020603050405020304" pitchFamily="18" charset="0"/>
              </a:rPr>
              <a:t>In thermodynamics, work transfer is considered as occurring between system and surroundings</a:t>
            </a:r>
            <a:endParaRPr lang="en-IN" sz="4400" b="1" dirty="0">
              <a:effectLst/>
              <a:ea typeface="Calibri" panose="020F0502020204030204" pitchFamily="34" charset="0"/>
              <a:cs typeface="Times New Roman" panose="02020603050405020304" pitchFamily="18" charset="0"/>
            </a:endParaRPr>
          </a:p>
          <a:p>
            <a:pPr>
              <a:lnSpc>
                <a:spcPct val="107000"/>
              </a:lnSpc>
              <a:spcAft>
                <a:spcPts val="800"/>
              </a:spcAft>
            </a:pPr>
            <a:r>
              <a:rPr lang="en-US" sz="4400" b="1" dirty="0">
                <a:effectLst/>
                <a:ea typeface="Calibri" panose="020F0502020204030204" pitchFamily="34" charset="0"/>
                <a:cs typeface="Times New Roman" panose="02020603050405020304" pitchFamily="18" charset="0"/>
              </a:rPr>
              <a:t>Work is said to be done by the system, if the sole effect on things external to the system can be reduced to the raising the weight</a:t>
            </a:r>
            <a:endParaRPr lang="en-IN" sz="4400" b="1"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120005506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xmlns="" id="{1B758E7E-3909-0BA4-F77C-5260AD2E167D}"/>
              </a:ext>
            </a:extLst>
          </p:cNvPr>
          <p:cNvPicPr>
            <a:picLocks noGrp="1" noChangeAspect="1"/>
          </p:cNvPicPr>
          <p:nvPr>
            <p:ph idx="1"/>
          </p:nvPr>
        </p:nvPicPr>
        <p:blipFill rotWithShape="1">
          <a:blip r:embed="rId2"/>
          <a:srcRect l="5437" t="4485" b="8072"/>
          <a:stretch/>
        </p:blipFill>
        <p:spPr>
          <a:xfrm>
            <a:off x="685800" y="1676400"/>
            <a:ext cx="6838950" cy="4604834"/>
          </a:xfrm>
          <a:prstGeom prst="rect">
            <a:avLst/>
          </a:prstGeom>
        </p:spPr>
      </p:pic>
    </p:spTree>
    <p:extLst>
      <p:ext uri="{BB962C8B-B14F-4D97-AF65-F5344CB8AC3E}">
        <p14:creationId xmlns:p14="http://schemas.microsoft.com/office/powerpoint/2010/main" xmlns="" val="143723061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A29057-18DB-B5A5-EE27-1A09A21CA9DC}"/>
              </a:ext>
            </a:extLst>
          </p:cNvPr>
          <p:cNvSpPr>
            <a:spLocks noGrp="1"/>
          </p:cNvSpPr>
          <p:nvPr>
            <p:ph type="title"/>
          </p:nvPr>
        </p:nvSpPr>
        <p:spPr/>
        <p:txBody>
          <a:bodyPr>
            <a:noAutofit/>
          </a:bodyPr>
          <a:lstStyle/>
          <a:p>
            <a:pPr>
              <a:lnSpc>
                <a:spcPct val="107000"/>
              </a:lnSpc>
              <a:spcAft>
                <a:spcPts val="800"/>
              </a:spcAft>
            </a:pPr>
            <a:r>
              <a:rPr lang="en-US" sz="2400" dirty="0" smtClean="0">
                <a:effectLst/>
                <a:latin typeface="Times New Roman" panose="02020603050405020304" pitchFamily="18" charset="0"/>
                <a:ea typeface="Calibri" panose="020F0502020204030204" pitchFamily="34" charset="0"/>
                <a:cs typeface="Times New Roman" panose="02020603050405020304" pitchFamily="18" charset="0"/>
              </a:rPr>
              <a:t>Displacement </a:t>
            </a:r>
            <a:r>
              <a:rPr lang="en-US" sz="2400" dirty="0" err="1" smtClean="0">
                <a:latin typeface="Times New Roman" panose="02020603050405020304" pitchFamily="18" charset="0"/>
                <a:ea typeface="Calibri" panose="020F0502020204030204" pitchFamily="34" charset="0"/>
                <a:cs typeface="Times New Roman" panose="02020603050405020304" pitchFamily="18" charset="0"/>
              </a:rPr>
              <a:t>wWork</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 done during Quasi – static process and Work</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mc:Choice xmlns:a14="http://schemas.microsoft.com/office/drawing/2010/main" xmlns="" Requires="a14">
          <p:sp>
            <p:nvSpPr>
              <p:cNvPr id="3" name="Content Placeholder 2">
                <a:extLst>
                  <a:ext uri="{FF2B5EF4-FFF2-40B4-BE49-F238E27FC236}">
                    <a16:creationId xmlns:a16="http://schemas.microsoft.com/office/drawing/2014/main" id="{F111FC45-5615-CE5A-A063-FD286E477E6A}"/>
                  </a:ext>
                </a:extLst>
              </p:cNvPr>
              <p:cNvSpPr>
                <a:spLocks noGrp="1"/>
              </p:cNvSpPr>
              <p:nvPr>
                <p:ph idx="1"/>
              </p:nvPr>
            </p:nvSpPr>
            <p:spPr/>
            <p:txBody>
              <a:bodyPr>
                <a:normAutofit lnSpcReduction="10000"/>
              </a:bodyPr>
              <a:lstStyle/>
              <a:p>
                <a:pPr>
                  <a:lnSpc>
                    <a:spcPct val="107000"/>
                  </a:lnSpc>
                  <a:spcBef>
                    <a:spcPts val="100"/>
                  </a:spcBef>
                  <a:spcAft>
                    <a:spcPts val="2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100" dirty="0">
                    <a:effectLst/>
                    <a:latin typeface="Times New Roman" panose="02020603050405020304" pitchFamily="18" charset="0"/>
                    <a:ea typeface="Calibri" panose="020F0502020204030204" pitchFamily="34" charset="0"/>
                    <a:cs typeface="Times New Roman" panose="02020603050405020304" pitchFamily="18" charset="0"/>
                  </a:rPr>
                  <a:t>P</a:t>
                </a:r>
                <a:r>
                  <a:rPr lang="en-US" sz="31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US" sz="3100" dirty="0">
                    <a:effectLst/>
                    <a:latin typeface="Times New Roman" panose="02020603050405020304" pitchFamily="18" charset="0"/>
                    <a:ea typeface="Calibri" panose="020F0502020204030204" pitchFamily="34" charset="0"/>
                    <a:cs typeface="Times New Roman" panose="02020603050405020304" pitchFamily="18" charset="0"/>
                  </a:rPr>
                  <a:t>V</a:t>
                </a:r>
                <a:r>
                  <a:rPr lang="en-US" sz="31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US" sz="3100" dirty="0">
                    <a:effectLst/>
                    <a:latin typeface="Times New Roman" panose="02020603050405020304" pitchFamily="18" charset="0"/>
                    <a:ea typeface="Calibri" panose="020F0502020204030204" pitchFamily="34" charset="0"/>
                    <a:cs typeface="Times New Roman" panose="02020603050405020304" pitchFamily="18" charset="0"/>
                  </a:rPr>
                  <a:t/>
                </a:r>
                <a:r>
                  <a:rPr lang="en-US" sz="3100" dirty="0">
                    <a:effectLst/>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en-US" sz="3100" dirty="0">
                    <a:effectLst/>
                    <a:latin typeface="Times New Roman" panose="02020603050405020304" pitchFamily="18" charset="0"/>
                    <a:ea typeface="Calibri" panose="020F0502020204030204" pitchFamily="34" charset="0"/>
                    <a:cs typeface="Times New Roman" panose="02020603050405020304" pitchFamily="18" charset="0"/>
                  </a:rPr>
                  <a:t> Initial values</a:t>
                </a:r>
                <a:endParaRPr lang="en-IN" sz="3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100"/>
                  </a:spcBef>
                  <a:spcAft>
                    <a:spcPts val="200"/>
                  </a:spcAft>
                </a:pPr>
                <a:r>
                  <a:rPr lang="en-US" sz="3100" dirty="0">
                    <a:effectLst/>
                    <a:latin typeface="Times New Roman" panose="02020603050405020304" pitchFamily="18" charset="0"/>
                    <a:ea typeface="Calibri" panose="020F0502020204030204" pitchFamily="34" charset="0"/>
                    <a:cs typeface="Times New Roman" panose="02020603050405020304" pitchFamily="18" charset="0"/>
                  </a:rPr>
                  <a:t>P</a:t>
                </a:r>
                <a:r>
                  <a:rPr lang="en-US" sz="31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3100" dirty="0">
                    <a:effectLst/>
                    <a:latin typeface="Times New Roman" panose="02020603050405020304" pitchFamily="18" charset="0"/>
                    <a:ea typeface="Calibri" panose="020F0502020204030204" pitchFamily="34" charset="0"/>
                    <a:cs typeface="Times New Roman" panose="02020603050405020304" pitchFamily="18" charset="0"/>
                  </a:rPr>
                  <a:t>V</a:t>
                </a:r>
                <a:r>
                  <a:rPr lang="en-US" sz="31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3100" dirty="0">
                    <a:effectLst/>
                    <a:latin typeface="Times New Roman" panose="02020603050405020304" pitchFamily="18" charset="0"/>
                    <a:ea typeface="Calibri" panose="020F0502020204030204" pitchFamily="34" charset="0"/>
                    <a:cs typeface="Times New Roman" panose="02020603050405020304" pitchFamily="18" charset="0"/>
                  </a:rPr>
                  <a:t/>
                </a:r>
                <a:r>
                  <a:rPr lang="en-US" sz="3100" dirty="0">
                    <a:effectLst/>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en-US" sz="3100" dirty="0">
                    <a:effectLst/>
                    <a:latin typeface="Times New Roman" panose="02020603050405020304" pitchFamily="18" charset="0"/>
                    <a:ea typeface="Calibri" panose="020F0502020204030204" pitchFamily="34" charset="0"/>
                    <a:cs typeface="Times New Roman" panose="02020603050405020304" pitchFamily="18" charset="0"/>
                  </a:rPr>
                  <a:t> Final values</a:t>
                </a:r>
                <a:endParaRPr lang="en-IN" sz="3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100"/>
                  </a:spcBef>
                  <a:spcAft>
                    <a:spcPts val="200"/>
                  </a:spcAft>
                </a:pPr>
                <a:r>
                  <a:rPr lang="en-US" sz="3100" dirty="0">
                    <a:effectLst/>
                    <a:latin typeface="Times New Roman" panose="02020603050405020304" pitchFamily="18" charset="0"/>
                    <a:ea typeface="Calibri" panose="020F0502020204030204" pitchFamily="34" charset="0"/>
                    <a:cs typeface="Times New Roman" panose="02020603050405020304" pitchFamily="18" charset="0"/>
                  </a:rPr>
                  <a:t>Force acting on piston, F = PA</a:t>
                </a:r>
                <a:endParaRPr lang="en-IN" sz="3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100"/>
                  </a:spcBef>
                  <a:spcAft>
                    <a:spcPts val="200"/>
                  </a:spcAft>
                </a:pPr>
                <a:r>
                  <a:rPr lang="en-US" sz="3100" dirty="0">
                    <a:effectLst/>
                    <a:latin typeface="Times New Roman" panose="02020603050405020304" pitchFamily="18" charset="0"/>
                    <a:ea typeface="Calibri" panose="020F0502020204030204" pitchFamily="34" charset="0"/>
                    <a:cs typeface="Times New Roman" panose="02020603050405020304" pitchFamily="18" charset="0"/>
                  </a:rPr>
                  <a:t>Infinitesimal work</a:t>
                </a:r>
                <a:endParaRPr lang="en-IN" sz="3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100"/>
                  </a:spcBef>
                  <a:spcAft>
                    <a:spcPts val="200"/>
                  </a:spcAft>
                </a:pPr>
                <a:r>
                  <a:rPr lang="en-US" sz="3100" dirty="0">
                    <a:effectLst/>
                    <a:latin typeface="Times New Roman" panose="02020603050405020304" pitchFamily="18" charset="0"/>
                    <a:ea typeface="Calibri" panose="020F0502020204030204" pitchFamily="34" charset="0"/>
                    <a:cs typeface="Times New Roman" panose="02020603050405020304" pitchFamily="18" charset="0"/>
                  </a:rPr>
                  <a:t/>
                </a:r>
                <a:r>
                  <a:rPr lang="en-US" sz="3100" dirty="0" err="1">
                    <a:effectLst/>
                    <a:latin typeface="Times New Roman" panose="02020603050405020304" pitchFamily="18" charset="0"/>
                    <a:ea typeface="Calibri" panose="020F0502020204030204" pitchFamily="34" charset="0"/>
                    <a:cs typeface="Times New Roman" panose="02020603050405020304" pitchFamily="18" charset="0"/>
                  </a:rPr>
                  <a:t>dw</a:t>
                </a:r>
                <a:r>
                  <a:rPr lang="en-US" sz="3100" dirty="0">
                    <a:effectLst/>
                    <a:latin typeface="Times New Roman" panose="02020603050405020304" pitchFamily="18" charset="0"/>
                    <a:ea typeface="Calibri" panose="020F0502020204030204" pitchFamily="34" charset="0"/>
                    <a:cs typeface="Times New Roman" panose="02020603050405020304" pitchFamily="18" charset="0"/>
                  </a:rPr>
                  <a:t> 	= F </a:t>
                </a:r>
                <a:r>
                  <a:rPr lang="en-US" sz="3100" dirty="0" err="1">
                    <a:effectLst/>
                    <a:latin typeface="Times New Roman" panose="02020603050405020304" pitchFamily="18" charset="0"/>
                    <a:ea typeface="Calibri" panose="020F0502020204030204" pitchFamily="34" charset="0"/>
                    <a:cs typeface="Times New Roman" panose="02020603050405020304" pitchFamily="18" charset="0"/>
                  </a:rPr>
                  <a:t>dz</a:t>
                </a:r>
                <a:endParaRPr lang="en-IN" sz="3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100"/>
                  </a:spcBef>
                  <a:spcAft>
                    <a:spcPts val="200"/>
                  </a:spcAft>
                  <a:buNone/>
                </a:pPr>
                <a:r>
                  <a:rPr lang="en-US" sz="3100" dirty="0">
                    <a:effectLst/>
                    <a:latin typeface="Times New Roman" panose="02020603050405020304" pitchFamily="18" charset="0"/>
                    <a:ea typeface="Calibri" panose="020F0502020204030204" pitchFamily="34" charset="0"/>
                    <a:cs typeface="Times New Roman" panose="02020603050405020304" pitchFamily="18" charset="0"/>
                  </a:rPr>
                  <a:t/>
                </a:r>
                <a:r>
                  <a:rPr lang="en-US" sz="3100" dirty="0">
                    <a:latin typeface="Times New Roman" panose="02020603050405020304" pitchFamily="18" charset="0"/>
                    <a:ea typeface="Calibri" panose="020F0502020204030204" pitchFamily="34" charset="0"/>
                    <a:cs typeface="Times New Roman" panose="02020603050405020304" pitchFamily="18" charset="0"/>
                  </a:rPr>
                  <a:t/>
                </a:r>
                <a:r>
                  <a:rPr lang="en-US" sz="3100" dirty="0">
                    <a:effectLst/>
                    <a:latin typeface="Times New Roman" panose="02020603050405020304" pitchFamily="18" charset="0"/>
                    <a:ea typeface="Calibri" panose="020F0502020204030204" pitchFamily="34" charset="0"/>
                    <a:cs typeface="Times New Roman" panose="02020603050405020304" pitchFamily="18" charset="0"/>
                  </a:rPr>
                  <a:t>= P A </a:t>
                </a:r>
                <a:r>
                  <a:rPr lang="en-US" sz="3100" dirty="0" err="1">
                    <a:effectLst/>
                    <a:latin typeface="Times New Roman" panose="02020603050405020304" pitchFamily="18" charset="0"/>
                    <a:ea typeface="Calibri" panose="020F0502020204030204" pitchFamily="34" charset="0"/>
                    <a:cs typeface="Times New Roman" panose="02020603050405020304" pitchFamily="18" charset="0"/>
                  </a:rPr>
                  <a:t>dz</a:t>
                </a:r>
                <a:endParaRPr lang="en-IN" sz="3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100"/>
                  </a:spcBef>
                  <a:spcAft>
                    <a:spcPts val="200"/>
                  </a:spcAft>
                </a:pPr>
                <a:r>
                  <a:rPr lang="en-US" sz="3100" dirty="0">
                    <a:effectLst/>
                    <a:latin typeface="Times New Roman" panose="02020603050405020304" pitchFamily="18" charset="0"/>
                    <a:ea typeface="Calibri" panose="020F0502020204030204" pitchFamily="34" charset="0"/>
                    <a:cs typeface="Times New Roman" panose="02020603050405020304" pitchFamily="18" charset="0"/>
                  </a:rPr>
                  <a:t/>
                </a:r>
                <a:r>
                  <a:rPr lang="en-US" sz="3100" dirty="0" err="1">
                    <a:effectLst/>
                    <a:latin typeface="Times New Roman" panose="02020603050405020304" pitchFamily="18" charset="0"/>
                    <a:ea typeface="Calibri" panose="020F0502020204030204" pitchFamily="34" charset="0"/>
                    <a:cs typeface="Times New Roman" panose="02020603050405020304" pitchFamily="18" charset="0"/>
                  </a:rPr>
                  <a:t>dw</a:t>
                </a:r>
                <a:r>
                  <a:rPr lang="en-US" sz="3100" dirty="0">
                    <a:effectLst/>
                    <a:latin typeface="Times New Roman" panose="02020603050405020304" pitchFamily="18" charset="0"/>
                    <a:ea typeface="Calibri" panose="020F0502020204030204" pitchFamily="34" charset="0"/>
                    <a:cs typeface="Times New Roman" panose="02020603050405020304" pitchFamily="18" charset="0"/>
                  </a:rPr>
                  <a:t>	= P dv</a:t>
                </a:r>
                <a:endParaRPr lang="en-IN" sz="3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100"/>
                  </a:spcBef>
                  <a:spcAft>
                    <a:spcPts val="200"/>
                  </a:spcAft>
                </a:pPr>
                <a14:m>
                  <m:oMath xmlns:m="http://schemas.openxmlformats.org/officeDocument/2006/math">
                    <m:sSubSup>
                      <m:sSubSupPr>
                        <m:ctrlPr>
                          <a:rPr lang="en-IN" sz="3100"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3100" i="1">
                            <a:effectLst/>
                            <a:latin typeface="Cambria Math" panose="02040503050406030204" pitchFamily="18" charset="0"/>
                            <a:ea typeface="Times New Roman" panose="02020603050405020304" pitchFamily="18" charset="0"/>
                            <a:cs typeface="Times New Roman" panose="02020603050405020304" pitchFamily="18" charset="0"/>
                          </a:rPr>
                          <m:t>𝑊</m:t>
                        </m:r>
                      </m:e>
                      <m:sub>
                        <m:r>
                          <a:rPr lang="en-US" sz="3100" i="1">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3100" i="1">
                            <a:effectLst/>
                            <a:latin typeface="Cambria Math" panose="02040503050406030204" pitchFamily="18" charset="0"/>
                            <a:ea typeface="Times New Roman" panose="02020603050405020304" pitchFamily="18" charset="0"/>
                            <a:cs typeface="Times New Roman" panose="02020603050405020304" pitchFamily="18" charset="0"/>
                          </a:rPr>
                          <m:t>2</m:t>
                        </m:r>
                      </m:sup>
                    </m:sSubSup>
                    <m:r>
                      <a:rPr lang="en-US" sz="3100" i="1">
                        <a:effectLst/>
                        <a:latin typeface="Cambria Math" panose="02040503050406030204" pitchFamily="18" charset="0"/>
                        <a:ea typeface="Times New Roman" panose="02020603050405020304" pitchFamily="18" charset="0"/>
                        <a:cs typeface="Times New Roman" panose="02020603050405020304" pitchFamily="18" charset="0"/>
                      </a:rPr>
                      <m:t>=</m:t>
                    </m:r>
                    <m:nary>
                      <m:naryPr>
                        <m:limLoc m:val="subSup"/>
                        <m:ctrlPr>
                          <a:rPr lang="en-IN" sz="31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31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3100" i="1">
                            <a:effectLst/>
                            <a:latin typeface="Cambria Math" panose="02040503050406030204" pitchFamily="18" charset="0"/>
                            <a:ea typeface="Calibri" panose="020F0502020204030204" pitchFamily="34" charset="0"/>
                            <a:cs typeface="Times New Roman" panose="02020603050405020304" pitchFamily="18" charset="0"/>
                          </a:rPr>
                          <m:t>2</m:t>
                        </m:r>
                      </m:sup>
                      <m:e>
                        <m:r>
                          <a:rPr lang="en-US" sz="3100" i="1">
                            <a:effectLst/>
                            <a:latin typeface="Cambria Math" panose="02040503050406030204" pitchFamily="18" charset="0"/>
                            <a:ea typeface="Calibri" panose="020F0502020204030204" pitchFamily="34" charset="0"/>
                            <a:cs typeface="Times New Roman" panose="02020603050405020304" pitchFamily="18" charset="0"/>
                          </a:rPr>
                          <m:t>𝑃</m:t>
                        </m:r>
                        <m:r>
                          <a:rPr lang="en-US" sz="3100" i="1">
                            <a:effectLst/>
                            <a:latin typeface="Cambria Math" panose="02040503050406030204" pitchFamily="18" charset="0"/>
                            <a:ea typeface="Calibri" panose="020F0502020204030204" pitchFamily="34" charset="0"/>
                            <a:cs typeface="Times New Roman" panose="02020603050405020304" pitchFamily="18" charset="0"/>
                          </a:rPr>
                          <m:t> </m:t>
                        </m:r>
                        <m:r>
                          <a:rPr lang="en-US" sz="3100" i="1">
                            <a:effectLst/>
                            <a:latin typeface="Cambria Math" panose="02040503050406030204" pitchFamily="18" charset="0"/>
                            <a:ea typeface="Calibri" panose="020F0502020204030204" pitchFamily="34" charset="0"/>
                            <a:cs typeface="Times New Roman" panose="02020603050405020304" pitchFamily="18" charset="0"/>
                          </a:rPr>
                          <m:t>𝑑𝑣</m:t>
                        </m:r>
                      </m:e>
                    </m:nary>
                  </m:oMath>
                </a14:m>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IN" sz="4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xmlns="" xmlns:a14="http://schemas.microsoft.com/office/drawing/2010/main" id="{F111FC45-5615-CE5A-A063-FD286E477E6A}"/>
                  </a:ext>
                </a:extLst>
              </p:cNvPr>
              <p:cNvSpPr>
                <a:spLocks noGrp="1" noRot="1" noChangeAspect="1" noMove="1" noResize="1" noEditPoints="1" noAdjustHandles="1" noChangeArrowheads="1" noChangeShapeType="1" noTextEdit="1"/>
              </p:cNvSpPr>
              <p:nvPr>
                <p:ph idx="1"/>
              </p:nvPr>
            </p:nvSpPr>
            <p:spPr>
              <a:blipFill>
                <a:blip r:embed="rId2"/>
                <a:stretch>
                  <a:fillRect l="-1275" t="-2241"/>
                </a:stretch>
              </a:blipFill>
            </p:spPr>
            <p:txBody>
              <a:bodyPr/>
              <a:lstStyle/>
              <a:p>
                <a:r>
                  <a:rPr lang="en-IN" dirty="0">
                    <a:noFill/>
                  </a:rPr>
                  <a:t> </a:t>
                </a:r>
              </a:p>
            </p:txBody>
          </p:sp>
        </mc:Fallback>
      </mc:AlternateContent>
      <p:pic>
        <p:nvPicPr>
          <p:cNvPr id="5" name="Picture 4"/>
          <p:cNvPicPr>
            <a:picLocks noChangeAspect="1"/>
          </p:cNvPicPr>
          <p:nvPr/>
        </p:nvPicPr>
        <p:blipFill>
          <a:blip r:embed="rId3"/>
          <a:stretch>
            <a:fillRect/>
          </a:stretch>
        </p:blipFill>
        <p:spPr>
          <a:xfrm>
            <a:off x="4191000" y="1676400"/>
            <a:ext cx="1186846" cy="1910009"/>
          </a:xfrm>
          <a:prstGeom prst="rect">
            <a:avLst/>
          </a:prstGeom>
        </p:spPr>
      </p:pic>
      <p:pic>
        <p:nvPicPr>
          <p:cNvPr id="6" name="Picture 5"/>
          <p:cNvPicPr>
            <a:picLocks noChangeAspect="1"/>
          </p:cNvPicPr>
          <p:nvPr/>
        </p:nvPicPr>
        <p:blipFill>
          <a:blip r:embed="rId4"/>
          <a:stretch>
            <a:fillRect/>
          </a:stretch>
        </p:blipFill>
        <p:spPr>
          <a:xfrm>
            <a:off x="5715000" y="1676400"/>
            <a:ext cx="1371600" cy="1952625"/>
          </a:xfrm>
          <a:prstGeom prst="rect">
            <a:avLst/>
          </a:prstGeom>
        </p:spPr>
      </p:pic>
      <p:pic>
        <p:nvPicPr>
          <p:cNvPr id="7" name="Picture 6"/>
          <p:cNvPicPr>
            <a:picLocks noChangeAspect="1"/>
          </p:cNvPicPr>
          <p:nvPr/>
        </p:nvPicPr>
        <p:blipFill>
          <a:blip r:embed="rId5"/>
          <a:stretch>
            <a:fillRect/>
          </a:stretch>
        </p:blipFill>
        <p:spPr>
          <a:xfrm>
            <a:off x="4572000" y="3810000"/>
            <a:ext cx="2819400" cy="2679842"/>
          </a:xfrm>
          <a:prstGeom prst="rect">
            <a:avLst/>
          </a:prstGeom>
        </p:spPr>
      </p:pic>
    </p:spTree>
    <p:extLst>
      <p:ext uri="{BB962C8B-B14F-4D97-AF65-F5344CB8AC3E}">
        <p14:creationId xmlns:p14="http://schemas.microsoft.com/office/powerpoint/2010/main" xmlns="" val="42817124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A29057-18DB-B5A5-EE27-1A09A21CA9DC}"/>
              </a:ext>
            </a:extLst>
          </p:cNvPr>
          <p:cNvSpPr>
            <a:spLocks noGrp="1"/>
          </p:cNvSpPr>
          <p:nvPr>
            <p:ph type="title"/>
          </p:nvPr>
        </p:nvSpPr>
        <p:spPr>
          <a:xfrm>
            <a:off x="685800" y="152400"/>
            <a:ext cx="7239000" cy="1143000"/>
          </a:xfrm>
        </p:spPr>
        <p:txBody>
          <a:bodyPr>
            <a:noAutofit/>
          </a:bodyPr>
          <a:lstStyle/>
          <a:p>
            <a:pPr>
              <a:lnSpc>
                <a:spcPct val="107000"/>
              </a:lnSpc>
              <a:spcAft>
                <a:spcPts val="800"/>
              </a:spcAft>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Limitations of integral P dv</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mc:Choice xmlns:a14="http://schemas.microsoft.com/office/drawing/2010/main" xmlns="" Requires="a14">
          <p:sp>
            <p:nvSpPr>
              <p:cNvPr id="3" name="Content Placeholder 2">
                <a:extLst>
                  <a:ext uri="{FF2B5EF4-FFF2-40B4-BE49-F238E27FC236}">
                    <a16:creationId xmlns:a16="http://schemas.microsoft.com/office/drawing/2014/main" id="{F111FC45-5615-CE5A-A063-FD286E477E6A}"/>
                  </a:ext>
                </a:extLst>
              </p:cNvPr>
              <p:cNvSpPr>
                <a:spLocks noGrp="1"/>
              </p:cNvSpPr>
              <p:nvPr>
                <p:ph idx="1"/>
              </p:nvPr>
            </p:nvSpPr>
            <p:spPr/>
            <p:txBody>
              <a:bodyPr>
                <a:normAutofit fontScale="92500" lnSpcReduction="20000"/>
              </a:bodyPr>
              <a:lstStyle/>
              <a:p>
                <a:pPr marL="0" indent="0">
                  <a:lnSpc>
                    <a:spcPct val="107000"/>
                  </a:lnSpc>
                  <a:spcBef>
                    <a:spcPts val="100"/>
                  </a:spcBef>
                  <a:spcAft>
                    <a:spcPts val="2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Following conditions must satisfy</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70000"/>
                  </a:lnSpc>
                  <a:spcBef>
                    <a:spcPts val="100"/>
                  </a:spcBef>
                  <a:spcAft>
                    <a:spcPts val="2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System should be closed one</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100"/>
                  </a:spcBef>
                  <a:spcAft>
                    <a:spcPts val="2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Non Flow process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100"/>
                  </a:spcBef>
                  <a:spcAft>
                    <a:spcPts val="2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Quasi – static process (Reversible process)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100"/>
                  </a:spcBef>
                  <a:spcAft>
                    <a:spcPts val="2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Effect of gravity, magnetic, Viscous force are negligible</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100"/>
                  </a:spcBef>
                  <a:spcAft>
                    <a:spcPts val="2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All above conditions must satisfy simultaneously W =  </a:t>
                </a:r>
                <a14:m>
                  <m:oMath xmlns:m="http://schemas.openxmlformats.org/officeDocument/2006/math">
                    <m:nary>
                      <m:naryPr>
                        <m:limLoc m:val="undOvr"/>
                        <m:subHide m:val="on"/>
                        <m:supHide m:val="on"/>
                        <m:ctrlPr>
                          <a:rPr lang="en-IN" sz="2400" i="1">
                            <a:effectLst/>
                            <a:latin typeface="Cambria Math" panose="02040503050406030204" pitchFamily="18" charset="0"/>
                            <a:ea typeface="Times New Roman" panose="02020603050405020304" pitchFamily="18" charset="0"/>
                            <a:cs typeface="Times New Roman" panose="02020603050405020304" pitchFamily="18" charset="0"/>
                          </a:rPr>
                        </m:ctrlPr>
                      </m:naryPr>
                      <m:sub/>
                      <m:sup/>
                      <m:e>
                        <m:r>
                          <a:rPr lang="en-US" sz="2400" i="1">
                            <a:effectLst/>
                            <a:latin typeface="Cambria Math" panose="02040503050406030204" pitchFamily="18" charset="0"/>
                            <a:ea typeface="Calibri" panose="020F0502020204030204" pitchFamily="34" charset="0"/>
                            <a:cs typeface="Times New Roman" panose="02020603050405020304" pitchFamily="18" charset="0"/>
                          </a:rPr>
                          <m:t>𝑃</m:t>
                        </m:r>
                        <m:r>
                          <a:rPr lang="en-US" sz="2400" i="1">
                            <a:effectLst/>
                            <a:latin typeface="Cambria Math" panose="02040503050406030204" pitchFamily="18" charset="0"/>
                            <a:ea typeface="Calibri" panose="020F0502020204030204" pitchFamily="34" charset="0"/>
                            <a:cs typeface="Times New Roman" panose="02020603050405020304" pitchFamily="18" charset="0"/>
                          </a:rPr>
                          <m:t> </m:t>
                        </m:r>
                        <m:r>
                          <a:rPr lang="en-US" sz="2400" i="1">
                            <a:effectLst/>
                            <a:latin typeface="Cambria Math" panose="02040503050406030204" pitchFamily="18" charset="0"/>
                            <a:ea typeface="Calibri" panose="020F0502020204030204" pitchFamily="34" charset="0"/>
                            <a:cs typeface="Times New Roman" panose="02020603050405020304" pitchFamily="18" charset="0"/>
                          </a:rPr>
                          <m:t>𝑑𝑣</m:t>
                        </m:r>
                      </m:e>
                    </m:nary>
                  </m:oMath>
                </a14:m>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can be valid</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100"/>
                  </a:spcBef>
                  <a:spcAft>
                    <a:spcPts val="2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Hence work</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100"/>
                  </a:spcBef>
                  <a:spcAft>
                    <a:spcPts val="200"/>
                  </a:spcAft>
                </a:pP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Workdone</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is path function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100"/>
                  </a:spcBef>
                  <a:spcAft>
                    <a:spcPts val="2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Work is not a point function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100"/>
                  </a:spcBef>
                  <a:spcAft>
                    <a:spcPts val="2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If differential is not exact </a:t>
                </a:r>
                <a14:m>
                  <m:oMath xmlns:m="http://schemas.openxmlformats.org/officeDocument/2006/math">
                    <m:sSubSup>
                      <m:sSubSupPr>
                        <m:ctrlPr>
                          <a:rPr lang="en-IN" sz="2400"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𝑊</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sup>
                    </m:sSub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𝑜𝑟</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IN"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𝑊</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12</m:t>
                        </m:r>
                      </m:sub>
                    </m:s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𝑛𝑜𝑡</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IN"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𝑊</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𝑊</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100"/>
                  </a:spcBef>
                  <a:spcAft>
                    <a:spcPts val="2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Work is energy in transit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100"/>
                  </a:spcBef>
                  <a:spcAft>
                    <a:spcPts val="2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Work transfer can take place change in intensive property other than temperature</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xmlns="" xmlns:a14="http://schemas.microsoft.com/office/drawing/2010/main" id="{F111FC45-5615-CE5A-A063-FD286E477E6A}"/>
                  </a:ext>
                </a:extLst>
              </p:cNvPr>
              <p:cNvSpPr>
                <a:spLocks noGrp="1" noRot="1" noChangeAspect="1" noMove="1" noResize="1" noEditPoints="1" noAdjustHandles="1" noChangeArrowheads="1" noChangeShapeType="1" noTextEdit="1"/>
              </p:cNvSpPr>
              <p:nvPr>
                <p:ph idx="1"/>
              </p:nvPr>
            </p:nvSpPr>
            <p:spPr>
              <a:blipFill>
                <a:blip r:embed="rId2"/>
                <a:stretch>
                  <a:fillRect l="-754" t="-1961" b="-980"/>
                </a:stretch>
              </a:blipFill>
            </p:spPr>
            <p:txBody>
              <a:bodyPr/>
              <a:lstStyle/>
              <a:p>
                <a:r>
                  <a:rPr lang="en-IN">
                    <a:noFill/>
                  </a:rPr>
                  <a:t> </a:t>
                </a:r>
              </a:p>
            </p:txBody>
          </p:sp>
        </mc:Fallback>
      </mc:AlternateContent>
    </p:spTree>
    <p:extLst>
      <p:ext uri="{BB962C8B-B14F-4D97-AF65-F5344CB8AC3E}">
        <p14:creationId xmlns:p14="http://schemas.microsoft.com/office/powerpoint/2010/main" xmlns="" val="278875260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FF0000"/>
                </a:solidFill>
                <a:latin typeface="Times New Roman" pitchFamily="18" charset="0"/>
                <a:cs typeface="Times New Roman" pitchFamily="18" charset="0"/>
              </a:rPr>
              <a:t>Mechanical Work Transfer</a:t>
            </a:r>
          </a:p>
        </p:txBody>
      </p:sp>
      <p:sp>
        <p:nvSpPr>
          <p:cNvPr id="3" name="Content Placeholder 2"/>
          <p:cNvSpPr>
            <a:spLocks noGrp="1"/>
          </p:cNvSpPr>
          <p:nvPr>
            <p:ph idx="1"/>
          </p:nvPr>
        </p:nvSpPr>
        <p:spPr/>
        <p:txBody>
          <a:bodyPr/>
          <a:lstStyle/>
          <a:p>
            <a:r>
              <a:rPr lang="en-IN" dirty="0">
                <a:latin typeface="Times New Roman" pitchFamily="18" charset="0"/>
                <a:cs typeface="Times New Roman" pitchFamily="18" charset="0"/>
              </a:rPr>
              <a:t>Displacement </a:t>
            </a:r>
            <a:r>
              <a:rPr lang="en-IN" dirty="0" err="1">
                <a:latin typeface="Times New Roman" pitchFamily="18" charset="0"/>
                <a:cs typeface="Times New Roman" pitchFamily="18" charset="0"/>
              </a:rPr>
              <a:t>PdV</a:t>
            </a:r>
            <a:r>
              <a:rPr lang="en-IN" dirty="0">
                <a:latin typeface="Times New Roman" pitchFamily="18" charset="0"/>
                <a:cs typeface="Times New Roman" pitchFamily="18" charset="0"/>
              </a:rPr>
              <a:t> work</a:t>
            </a:r>
          </a:p>
          <a:p>
            <a:r>
              <a:rPr lang="en-IN" dirty="0">
                <a:latin typeface="Times New Roman" pitchFamily="18" charset="0"/>
                <a:cs typeface="Times New Roman" pitchFamily="18" charset="0"/>
              </a:rPr>
              <a:t>Paddle Wheel work</a:t>
            </a:r>
          </a:p>
          <a:p>
            <a:r>
              <a:rPr lang="en-IN" dirty="0">
                <a:latin typeface="Times New Roman" pitchFamily="18" charset="0"/>
                <a:cs typeface="Times New Roman" pitchFamily="18" charset="0"/>
              </a:rPr>
              <a:t>Flow Work</a:t>
            </a:r>
          </a:p>
          <a:p>
            <a:r>
              <a:rPr lang="en-IN" dirty="0">
                <a:latin typeface="Times New Roman" pitchFamily="18" charset="0"/>
                <a:cs typeface="Times New Roman" pitchFamily="18" charset="0"/>
              </a:rPr>
              <a:t>Shaft Work</a:t>
            </a:r>
          </a:p>
        </p:txBody>
      </p:sp>
      <p:sp>
        <p:nvSpPr>
          <p:cNvPr id="5" name="Footer Placeholder 4"/>
          <p:cNvSpPr>
            <a:spLocks noGrp="1"/>
          </p:cNvSpPr>
          <p:nvPr>
            <p:ph type="ftr" sz="quarter" idx="11"/>
          </p:nvPr>
        </p:nvSpPr>
        <p:spPr/>
        <p:txBody>
          <a:bodyPr/>
          <a:lstStyle/>
          <a:p>
            <a:r>
              <a:rPr lang="en-IN"/>
              <a:t>DKR</a:t>
            </a:r>
          </a:p>
        </p:txBody>
      </p:sp>
      <p:sp>
        <p:nvSpPr>
          <p:cNvPr id="4" name="Slide Number Placeholder 3"/>
          <p:cNvSpPr>
            <a:spLocks noGrp="1"/>
          </p:cNvSpPr>
          <p:nvPr>
            <p:ph type="sldNum" sz="quarter" idx="12"/>
          </p:nvPr>
        </p:nvSpPr>
        <p:spPr/>
        <p:txBody>
          <a:bodyPr/>
          <a:lstStyle/>
          <a:p>
            <a:fld id="{0A2B784E-0A7A-4980-859D-C5ABB79F335B}" type="slidenum">
              <a:rPr lang="en-IN" smtClean="0"/>
              <a:pPr/>
              <a:t>27</a:t>
            </a:fld>
            <a:endParaRPr lang="en-IN"/>
          </a:p>
        </p:txBody>
      </p:sp>
    </p:spTree>
    <p:extLst>
      <p:ext uri="{BB962C8B-B14F-4D97-AF65-F5344CB8AC3E}">
        <p14:creationId xmlns:p14="http://schemas.microsoft.com/office/powerpoint/2010/main" xmlns="" val="11097082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latin typeface="Times New Roman" pitchFamily="18" charset="0"/>
                <a:cs typeface="Times New Roman" pitchFamily="18" charset="0"/>
              </a:rPr>
              <a:t>Displacement </a:t>
            </a:r>
            <a:r>
              <a:rPr lang="en-IN" dirty="0" err="1">
                <a:solidFill>
                  <a:srgbClr val="FF0000"/>
                </a:solidFill>
                <a:latin typeface="Times New Roman" pitchFamily="18" charset="0"/>
                <a:cs typeface="Times New Roman" pitchFamily="18" charset="0"/>
              </a:rPr>
              <a:t>PdV</a:t>
            </a:r>
            <a:r>
              <a:rPr lang="en-IN" dirty="0">
                <a:solidFill>
                  <a:srgbClr val="FF0000"/>
                </a:solidFill>
                <a:latin typeface="Times New Roman" pitchFamily="18" charset="0"/>
                <a:cs typeface="Times New Roman" pitchFamily="18" charset="0"/>
              </a:rPr>
              <a:t> work</a:t>
            </a:r>
            <a:endParaRPr lang="en-IN" dirty="0">
              <a:solidFill>
                <a:srgbClr val="FF0000"/>
              </a:solidFill>
            </a:endParaRPr>
          </a:p>
        </p:txBody>
      </p:sp>
      <p:sp>
        <p:nvSpPr>
          <p:cNvPr id="7" name="Footer Placeholder 6"/>
          <p:cNvSpPr>
            <a:spLocks noGrp="1"/>
          </p:cNvSpPr>
          <p:nvPr>
            <p:ph type="ftr" sz="quarter" idx="11"/>
          </p:nvPr>
        </p:nvSpPr>
        <p:spPr/>
        <p:txBody>
          <a:bodyPr/>
          <a:lstStyle/>
          <a:p>
            <a:r>
              <a:rPr lang="en-IN"/>
              <a:t>DKR</a:t>
            </a:r>
          </a:p>
        </p:txBody>
      </p:sp>
      <p:sp>
        <p:nvSpPr>
          <p:cNvPr id="6" name="Slide Number Placeholder 5"/>
          <p:cNvSpPr>
            <a:spLocks noGrp="1"/>
          </p:cNvSpPr>
          <p:nvPr>
            <p:ph type="sldNum" sz="quarter" idx="12"/>
          </p:nvPr>
        </p:nvSpPr>
        <p:spPr/>
        <p:txBody>
          <a:bodyPr/>
          <a:lstStyle/>
          <a:p>
            <a:fld id="{0A2B784E-0A7A-4980-859D-C5ABB79F335B}" type="slidenum">
              <a:rPr lang="en-IN" smtClean="0"/>
              <a:pPr/>
              <a:t>28</a:t>
            </a:fld>
            <a:endParaRPr lang="en-IN"/>
          </a:p>
        </p:txBody>
      </p:sp>
      <p:pic>
        <p:nvPicPr>
          <p:cNvPr id="3074" name="Picture 2"/>
          <p:cNvPicPr>
            <a:picLocks noChangeAspect="1" noChangeArrowheads="1"/>
          </p:cNvPicPr>
          <p:nvPr/>
        </p:nvPicPr>
        <p:blipFill>
          <a:blip r:embed="rId2"/>
          <a:srcRect/>
          <a:stretch>
            <a:fillRect/>
          </a:stretch>
        </p:blipFill>
        <p:spPr bwMode="auto">
          <a:xfrm>
            <a:off x="1357291" y="1357300"/>
            <a:ext cx="2536031" cy="2162175"/>
          </a:xfrm>
          <a:prstGeom prst="rect">
            <a:avLst/>
          </a:prstGeom>
          <a:noFill/>
          <a:ln w="9525">
            <a:noFill/>
            <a:miter lim="800000"/>
            <a:headEnd/>
            <a:tailEnd/>
          </a:ln>
          <a:effectLst/>
        </p:spPr>
      </p:pic>
      <p:pic>
        <p:nvPicPr>
          <p:cNvPr id="3076" name="Picture 4"/>
          <p:cNvPicPr>
            <a:picLocks noChangeAspect="1" noChangeArrowheads="1"/>
          </p:cNvPicPr>
          <p:nvPr/>
        </p:nvPicPr>
        <p:blipFill>
          <a:blip r:embed="rId3"/>
          <a:srcRect/>
          <a:stretch>
            <a:fillRect/>
          </a:stretch>
        </p:blipFill>
        <p:spPr bwMode="auto">
          <a:xfrm>
            <a:off x="5029200" y="1524000"/>
            <a:ext cx="1981200" cy="2182834"/>
          </a:xfrm>
          <a:prstGeom prst="rect">
            <a:avLst/>
          </a:prstGeom>
          <a:noFill/>
          <a:ln w="9525">
            <a:noFill/>
            <a:miter lim="800000"/>
            <a:headEnd/>
            <a:tailEnd/>
          </a:ln>
          <a:effectLst/>
        </p:spPr>
      </p:pic>
      <p:pic>
        <p:nvPicPr>
          <p:cNvPr id="3077" name="Picture 5"/>
          <p:cNvPicPr>
            <a:picLocks noChangeAspect="1" noChangeArrowheads="1"/>
          </p:cNvPicPr>
          <p:nvPr/>
        </p:nvPicPr>
        <p:blipFill>
          <a:blip r:embed="rId4"/>
          <a:srcRect/>
          <a:stretch>
            <a:fillRect/>
          </a:stretch>
        </p:blipFill>
        <p:spPr bwMode="auto">
          <a:xfrm>
            <a:off x="1893075" y="3857628"/>
            <a:ext cx="3375446" cy="2805714"/>
          </a:xfrm>
          <a:prstGeom prst="rect">
            <a:avLst/>
          </a:prstGeom>
          <a:noFill/>
          <a:ln w="9525">
            <a:noFill/>
            <a:miter lim="800000"/>
            <a:headEnd/>
            <a:tailEnd/>
          </a:ln>
          <a:effectLst/>
        </p:spPr>
      </p:pic>
    </p:spTree>
    <p:extLst>
      <p:ext uri="{BB962C8B-B14F-4D97-AF65-F5344CB8AC3E}">
        <p14:creationId xmlns:p14="http://schemas.microsoft.com/office/powerpoint/2010/main" xmlns="" val="60802462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FF0000"/>
                </a:solidFill>
                <a:latin typeface="Times New Roman" pitchFamily="18" charset="0"/>
                <a:cs typeface="Times New Roman" pitchFamily="18" charset="0"/>
              </a:rPr>
              <a:t>Paddle Wheel work</a:t>
            </a:r>
            <a:r>
              <a:rPr lang="en-IN" dirty="0">
                <a:latin typeface="Times New Roman" pitchFamily="18" charset="0"/>
                <a:cs typeface="Times New Roman" pitchFamily="18" charset="0"/>
              </a:rPr>
              <a:t/>
            </a:r>
            <a:br>
              <a:rPr lang="en-IN" dirty="0">
                <a:latin typeface="Times New Roman" pitchFamily="18" charset="0"/>
                <a:cs typeface="Times New Roman" pitchFamily="18" charset="0"/>
              </a:rPr>
            </a:br>
            <a:endParaRPr lang="en-IN" dirty="0"/>
          </a:p>
        </p:txBody>
      </p:sp>
      <p:sp>
        <p:nvSpPr>
          <p:cNvPr id="7" name="Footer Placeholder 6"/>
          <p:cNvSpPr>
            <a:spLocks noGrp="1"/>
          </p:cNvSpPr>
          <p:nvPr>
            <p:ph type="ftr" sz="quarter" idx="11"/>
          </p:nvPr>
        </p:nvSpPr>
        <p:spPr/>
        <p:txBody>
          <a:bodyPr/>
          <a:lstStyle/>
          <a:p>
            <a:r>
              <a:rPr lang="en-IN"/>
              <a:t>DKR</a:t>
            </a:r>
          </a:p>
        </p:txBody>
      </p:sp>
      <p:sp>
        <p:nvSpPr>
          <p:cNvPr id="6" name="Slide Number Placeholder 5"/>
          <p:cNvSpPr>
            <a:spLocks noGrp="1"/>
          </p:cNvSpPr>
          <p:nvPr>
            <p:ph type="sldNum" sz="quarter" idx="12"/>
          </p:nvPr>
        </p:nvSpPr>
        <p:spPr/>
        <p:txBody>
          <a:bodyPr/>
          <a:lstStyle/>
          <a:p>
            <a:fld id="{0A2B784E-0A7A-4980-859D-C5ABB79F335B}" type="slidenum">
              <a:rPr lang="en-IN" smtClean="0"/>
              <a:pPr/>
              <a:t>29</a:t>
            </a:fld>
            <a:endParaRPr lang="en-IN"/>
          </a:p>
        </p:txBody>
      </p:sp>
      <p:pic>
        <p:nvPicPr>
          <p:cNvPr id="4098" name="Picture 2"/>
          <p:cNvPicPr>
            <a:picLocks noChangeAspect="1" noChangeArrowheads="1"/>
          </p:cNvPicPr>
          <p:nvPr/>
        </p:nvPicPr>
        <p:blipFill>
          <a:blip r:embed="rId2"/>
          <a:srcRect/>
          <a:stretch>
            <a:fillRect/>
          </a:stretch>
        </p:blipFill>
        <p:spPr bwMode="auto">
          <a:xfrm>
            <a:off x="1447800" y="1066800"/>
            <a:ext cx="3967310" cy="2071702"/>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2428861" y="3500438"/>
            <a:ext cx="4812323" cy="1143008"/>
          </a:xfrm>
          <a:prstGeom prst="rect">
            <a:avLst/>
          </a:prstGeom>
          <a:noFill/>
          <a:ln w="9525">
            <a:noFill/>
            <a:miter lim="800000"/>
            <a:headEnd/>
            <a:tailEnd/>
          </a:ln>
          <a:effectLst/>
        </p:spPr>
      </p:pic>
      <p:pic>
        <p:nvPicPr>
          <p:cNvPr id="4100" name="Picture 4"/>
          <p:cNvPicPr>
            <a:picLocks noChangeAspect="1" noChangeArrowheads="1"/>
          </p:cNvPicPr>
          <p:nvPr/>
        </p:nvPicPr>
        <p:blipFill>
          <a:blip r:embed="rId4"/>
          <a:srcRect/>
          <a:stretch>
            <a:fillRect/>
          </a:stretch>
        </p:blipFill>
        <p:spPr bwMode="auto">
          <a:xfrm>
            <a:off x="1571604" y="4357694"/>
            <a:ext cx="4071966" cy="2167380"/>
          </a:xfrm>
          <a:prstGeom prst="rect">
            <a:avLst/>
          </a:prstGeom>
          <a:noFill/>
          <a:ln w="9525">
            <a:noFill/>
            <a:miter lim="800000"/>
            <a:headEnd/>
            <a:tailEnd/>
          </a:ln>
          <a:effectLst/>
        </p:spPr>
      </p:pic>
    </p:spTree>
    <p:extLst>
      <p:ext uri="{BB962C8B-B14F-4D97-AF65-F5344CB8AC3E}">
        <p14:creationId xmlns:p14="http://schemas.microsoft.com/office/powerpoint/2010/main" xmlns="" val="30144162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FF0000"/>
                </a:solidFill>
                <a:latin typeface="Times New Roman" pitchFamily="18" charset="0"/>
                <a:cs typeface="Times New Roman" pitchFamily="18" charset="0"/>
              </a:rPr>
              <a:t>Flow Work</a:t>
            </a:r>
            <a:r>
              <a:rPr lang="en-IN" dirty="0">
                <a:latin typeface="Times New Roman" pitchFamily="18" charset="0"/>
                <a:cs typeface="Times New Roman" pitchFamily="18" charset="0"/>
              </a:rPr>
              <a:t/>
            </a:r>
            <a:br>
              <a:rPr lang="en-IN" dirty="0">
                <a:latin typeface="Times New Roman" pitchFamily="18" charset="0"/>
                <a:cs typeface="Times New Roman" pitchFamily="18" charset="0"/>
              </a:rPr>
            </a:br>
            <a:endParaRPr lang="en-IN" dirty="0"/>
          </a:p>
        </p:txBody>
      </p:sp>
      <p:sp>
        <p:nvSpPr>
          <p:cNvPr id="6" name="Footer Placeholder 5"/>
          <p:cNvSpPr>
            <a:spLocks noGrp="1"/>
          </p:cNvSpPr>
          <p:nvPr>
            <p:ph type="ftr" sz="quarter" idx="11"/>
          </p:nvPr>
        </p:nvSpPr>
        <p:spPr/>
        <p:txBody>
          <a:bodyPr/>
          <a:lstStyle/>
          <a:p>
            <a:r>
              <a:rPr lang="en-IN"/>
              <a:t>DKR</a:t>
            </a:r>
          </a:p>
        </p:txBody>
      </p:sp>
      <p:sp>
        <p:nvSpPr>
          <p:cNvPr id="5" name="Slide Number Placeholder 4"/>
          <p:cNvSpPr>
            <a:spLocks noGrp="1"/>
          </p:cNvSpPr>
          <p:nvPr>
            <p:ph type="sldNum" sz="quarter" idx="12"/>
          </p:nvPr>
        </p:nvSpPr>
        <p:spPr/>
        <p:txBody>
          <a:bodyPr/>
          <a:lstStyle/>
          <a:p>
            <a:fld id="{0A2B784E-0A7A-4980-859D-C5ABB79F335B}" type="slidenum">
              <a:rPr lang="en-IN" smtClean="0"/>
              <a:pPr/>
              <a:t>30</a:t>
            </a:fld>
            <a:endParaRPr lang="en-IN"/>
          </a:p>
        </p:txBody>
      </p:sp>
      <p:pic>
        <p:nvPicPr>
          <p:cNvPr id="6146" name="Picture 2"/>
          <p:cNvPicPr>
            <a:picLocks noChangeAspect="1" noChangeArrowheads="1"/>
          </p:cNvPicPr>
          <p:nvPr/>
        </p:nvPicPr>
        <p:blipFill>
          <a:blip r:embed="rId2"/>
          <a:srcRect/>
          <a:stretch>
            <a:fillRect/>
          </a:stretch>
        </p:blipFill>
        <p:spPr bwMode="auto">
          <a:xfrm>
            <a:off x="1785918" y="1155940"/>
            <a:ext cx="5572125" cy="2525454"/>
          </a:xfrm>
          <a:prstGeom prst="rect">
            <a:avLst/>
          </a:prstGeom>
          <a:noFill/>
          <a:ln w="9525">
            <a:noFill/>
            <a:miter lim="800000"/>
            <a:headEnd/>
            <a:tailEnd/>
          </a:ln>
          <a:effectLst/>
        </p:spPr>
      </p:pic>
      <p:pic>
        <p:nvPicPr>
          <p:cNvPr id="6147" name="Picture 3"/>
          <p:cNvPicPr>
            <a:picLocks noChangeAspect="1" noChangeArrowheads="1"/>
          </p:cNvPicPr>
          <p:nvPr/>
        </p:nvPicPr>
        <p:blipFill>
          <a:blip r:embed="rId3"/>
          <a:srcRect/>
          <a:stretch>
            <a:fillRect/>
          </a:stretch>
        </p:blipFill>
        <p:spPr bwMode="auto">
          <a:xfrm>
            <a:off x="2214547" y="4000504"/>
            <a:ext cx="4750594" cy="1581150"/>
          </a:xfrm>
          <a:prstGeom prst="rect">
            <a:avLst/>
          </a:prstGeom>
          <a:noFill/>
          <a:ln w="9525">
            <a:noFill/>
            <a:miter lim="800000"/>
            <a:headEnd/>
            <a:tailEnd/>
          </a:ln>
          <a:effectLst/>
        </p:spPr>
      </p:pic>
    </p:spTree>
    <p:extLst>
      <p:ext uri="{BB962C8B-B14F-4D97-AF65-F5344CB8AC3E}">
        <p14:creationId xmlns:p14="http://schemas.microsoft.com/office/powerpoint/2010/main" xmlns="" val="129170155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7239000" cy="1143000"/>
          </a:xfrm>
        </p:spPr>
        <p:txBody>
          <a:bodyPr>
            <a:normAutofit fontScale="90000"/>
          </a:bodyPr>
          <a:lstStyle/>
          <a:p>
            <a:r>
              <a:rPr lang="en-IN" dirty="0">
                <a:solidFill>
                  <a:srgbClr val="FF0000"/>
                </a:solidFill>
                <a:latin typeface="Times New Roman" pitchFamily="18" charset="0"/>
                <a:cs typeface="Times New Roman" pitchFamily="18" charset="0"/>
              </a:rPr>
              <a:t>Shaft Work</a:t>
            </a:r>
            <a:r>
              <a:rPr lang="en-IN" dirty="0">
                <a:latin typeface="Times New Roman" pitchFamily="18" charset="0"/>
                <a:cs typeface="Times New Roman" pitchFamily="18" charset="0"/>
              </a:rPr>
              <a:t/>
            </a:r>
            <a:br>
              <a:rPr lang="en-IN" dirty="0">
                <a:latin typeface="Times New Roman" pitchFamily="18" charset="0"/>
                <a:cs typeface="Times New Roman" pitchFamily="18" charset="0"/>
              </a:rPr>
            </a:br>
            <a:endParaRPr lang="en-IN" dirty="0"/>
          </a:p>
        </p:txBody>
      </p:sp>
      <p:sp>
        <p:nvSpPr>
          <p:cNvPr id="5" name="Footer Placeholder 4"/>
          <p:cNvSpPr>
            <a:spLocks noGrp="1"/>
          </p:cNvSpPr>
          <p:nvPr>
            <p:ph type="ftr" sz="quarter" idx="11"/>
          </p:nvPr>
        </p:nvSpPr>
        <p:spPr/>
        <p:txBody>
          <a:bodyPr/>
          <a:lstStyle/>
          <a:p>
            <a:r>
              <a:rPr lang="en-IN"/>
              <a:t>DKR</a:t>
            </a:r>
          </a:p>
        </p:txBody>
      </p:sp>
      <p:sp>
        <p:nvSpPr>
          <p:cNvPr id="4" name="Slide Number Placeholder 3"/>
          <p:cNvSpPr>
            <a:spLocks noGrp="1"/>
          </p:cNvSpPr>
          <p:nvPr>
            <p:ph type="sldNum" sz="quarter" idx="12"/>
          </p:nvPr>
        </p:nvSpPr>
        <p:spPr/>
        <p:txBody>
          <a:bodyPr/>
          <a:lstStyle/>
          <a:p>
            <a:fld id="{0A2B784E-0A7A-4980-859D-C5ABB79F335B}" type="slidenum">
              <a:rPr lang="en-IN" smtClean="0"/>
              <a:pPr/>
              <a:t>31</a:t>
            </a:fld>
            <a:endParaRPr lang="en-IN"/>
          </a:p>
        </p:txBody>
      </p:sp>
      <p:pic>
        <p:nvPicPr>
          <p:cNvPr id="5123" name="Picture 3"/>
          <p:cNvPicPr>
            <a:picLocks noChangeAspect="1" noChangeArrowheads="1"/>
          </p:cNvPicPr>
          <p:nvPr/>
        </p:nvPicPr>
        <p:blipFill>
          <a:blip r:embed="rId2"/>
          <a:srcRect/>
          <a:stretch>
            <a:fillRect/>
          </a:stretch>
        </p:blipFill>
        <p:spPr bwMode="auto">
          <a:xfrm>
            <a:off x="381000" y="685800"/>
            <a:ext cx="4214813" cy="3600450"/>
          </a:xfrm>
          <a:prstGeom prst="rect">
            <a:avLst/>
          </a:prstGeom>
          <a:noFill/>
          <a:ln w="9525">
            <a:noFill/>
            <a:miter lim="800000"/>
            <a:headEnd/>
            <a:tailEnd/>
          </a:ln>
          <a:effectLst/>
        </p:spPr>
      </p:pic>
      <p:sp>
        <p:nvSpPr>
          <p:cNvPr id="6" name="Content Placeholder 3">
            <a:extLst>
              <a:ext uri="{FF2B5EF4-FFF2-40B4-BE49-F238E27FC236}">
                <a16:creationId xmlns:a16="http://schemas.microsoft.com/office/drawing/2014/main" xmlns="" xmlns:a14="http://schemas.microsoft.com/office/drawing/2010/main" xmlns:mc="http://schemas.openxmlformats.org/markup-compatibility/2006" id="{21114AC3-85A5-9258-36D2-5A8BA881024A}"/>
              </a:ext>
            </a:extLst>
          </p:cNvPr>
          <p:cNvSpPr>
            <a:spLocks noGrp="1" noRot="1" noChangeAspect="1" noMove="1" noResize="1" noEditPoints="1" noAdjustHandles="1" noChangeArrowheads="1" noChangeShapeType="1" noTextEdit="1"/>
          </p:cNvSpPr>
          <p:nvPr>
            <p:ph sz="half" idx="4294967295"/>
          </p:nvPr>
        </p:nvSpPr>
        <p:spPr>
          <a:xfrm>
            <a:off x="4178808" y="1600200"/>
            <a:ext cx="3520440" cy="4525963"/>
          </a:xfrm>
          <a:prstGeom prst="rect">
            <a:avLst/>
          </a:prstGeom>
          <a:blipFill>
            <a:blip r:embed="rId3"/>
            <a:stretch>
              <a:fillRect l="-1294" t="-1401"/>
            </a:stretch>
          </a:blipFill>
        </p:spPr>
        <p:txBody>
          <a:bodyPr/>
          <a:lstStyle/>
          <a:p>
            <a:r>
              <a:rPr lang="en-IN" dirty="0">
                <a:noFill/>
              </a:rPr>
              <a:t> </a:t>
            </a:r>
          </a:p>
        </p:txBody>
      </p:sp>
    </p:spTree>
    <p:extLst>
      <p:ext uri="{BB962C8B-B14F-4D97-AF65-F5344CB8AC3E}">
        <p14:creationId xmlns:p14="http://schemas.microsoft.com/office/powerpoint/2010/main" xmlns="" val="93542295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A29057-18DB-B5A5-EE27-1A09A21CA9DC}"/>
              </a:ext>
            </a:extLst>
          </p:cNvPr>
          <p:cNvSpPr>
            <a:spLocks noGrp="1"/>
          </p:cNvSpPr>
          <p:nvPr>
            <p:ph type="title"/>
          </p:nvPr>
        </p:nvSpPr>
        <p:spPr>
          <a:xfrm>
            <a:off x="628650" y="568326"/>
            <a:ext cx="7886700" cy="638175"/>
          </a:xfrm>
        </p:spPr>
        <p:txBody>
          <a:bodyPr>
            <a:noAutofit/>
          </a:bodyPr>
          <a:lstStyle/>
          <a:p>
            <a:pPr>
              <a:lnSpc>
                <a:spcPct val="107000"/>
              </a:lnSpc>
              <a:spcAft>
                <a:spcPts val="800"/>
              </a:spcAft>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Forms of Work</a:t>
            </a:r>
            <a:endParaRPr lang="en-IN" sz="96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mc:Choice xmlns:a14="http://schemas.microsoft.com/office/drawing/2010/main" xmlns="" Requires="a14">
          <p:sp>
            <p:nvSpPr>
              <p:cNvPr id="3" name="Content Placeholder 2">
                <a:extLst>
                  <a:ext uri="{FF2B5EF4-FFF2-40B4-BE49-F238E27FC236}">
                    <a16:creationId xmlns:a16="http://schemas.microsoft.com/office/drawing/2014/main" id="{F111FC45-5615-CE5A-A063-FD286E477E6A}"/>
                  </a:ext>
                </a:extLst>
              </p:cNvPr>
              <p:cNvSpPr>
                <a:spLocks noGrp="1"/>
              </p:cNvSpPr>
              <p:nvPr>
                <p:ph idx="1"/>
              </p:nvPr>
            </p:nvSpPr>
            <p:spPr>
              <a:xfrm>
                <a:off x="838200" y="1344612"/>
                <a:ext cx="10515600" cy="5173663"/>
              </a:xfrm>
            </p:spPr>
            <p:txBody>
              <a:bodyPr>
                <a:normAutofit fontScale="85000" lnSpcReduction="20000"/>
              </a:bodyPr>
              <a:lstStyle/>
              <a:p>
                <a:pPr marL="0" indent="0">
                  <a:lnSpc>
                    <a:spcPct val="107000"/>
                  </a:lnSpc>
                  <a:spcAft>
                    <a:spcPts val="8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Displacement work			Closed system</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Peddle wheel work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Shaft work 				Open system</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Flow work 	</a:t>
                </a:r>
              </a:p>
              <a:p>
                <a:pPr marL="0" indent="0">
                  <a:lnSpc>
                    <a:spcPct val="107000"/>
                  </a:lnSpc>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100"/>
                  </a:spcBef>
                  <a:spcAft>
                    <a:spcPts val="2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Work is a path function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100"/>
                  </a:spcBef>
                  <a:spcAft>
                    <a:spcPts val="2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Closed system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100"/>
                  </a:spcBef>
                  <a:spcAft>
                    <a:spcPts val="2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Change state from 1 to 2</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100"/>
                  </a:spcBef>
                  <a:spcAft>
                    <a:spcPts val="2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 &amp; b are paths between 1 to 2</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100"/>
                  </a:spcBef>
                  <a:spcAft>
                    <a:spcPts val="2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Work in 1 – a – 2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100"/>
                  </a:spcBef>
                  <a:spcAft>
                    <a:spcPts val="200"/>
                  </a:spcAft>
                  <a:buNone/>
                </a:pPr>
                <a14:m>
                  <m:oMathPara xmlns:m="http://schemas.openxmlformats.org/officeDocument/2006/math">
                    <m:oMathParaPr>
                      <m:jc m:val="centerGroup"/>
                    </m:oMathParaPr>
                    <m:oMath xmlns:m="http://schemas.openxmlformats.org/officeDocument/2006/math">
                      <m:sSub>
                        <m:sSub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𝑊</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nary>
                        <m:naryPr>
                          <m:limLoc m:val="subSup"/>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e>
                          <m:r>
                            <a:rPr lang="en-US" sz="1800" i="1">
                              <a:effectLst/>
                              <a:latin typeface="Cambria Math" panose="02040503050406030204" pitchFamily="18" charset="0"/>
                              <a:ea typeface="Calibri" panose="020F0502020204030204" pitchFamily="34" charset="0"/>
                              <a:cs typeface="Times New Roman" panose="02020603050405020304" pitchFamily="18" charset="0"/>
                            </a:rPr>
                            <m:t>𝑃</m:t>
                          </m:r>
                          <m:r>
                            <a:rPr lang="en-US" sz="1800" i="1">
                              <a:effectLst/>
                              <a:latin typeface="Cambria Math" panose="02040503050406030204" pitchFamily="18" charset="0"/>
                              <a:ea typeface="Calibri" panose="020F0502020204030204" pitchFamily="34" charset="0"/>
                              <a:cs typeface="Times New Roman" panose="02020603050405020304" pitchFamily="18" charset="0"/>
                            </a:rPr>
                            <m:t> </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𝑑𝑣</m:t>
                          </m:r>
                        </m:e>
                      </m:nary>
                    </m:oMath>
                  </m:oMathPara>
                </a14:m>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100"/>
                  </a:spcBef>
                  <a:spcAft>
                    <a:spcPts val="2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Work transfer in 1 – b – 2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100"/>
                  </a:spcBef>
                  <a:spcAft>
                    <a:spcPts val="200"/>
                  </a:spcAft>
                  <a:buNone/>
                </a:pPr>
                <a14:m>
                  <m:oMathPara xmlns:m="http://schemas.openxmlformats.org/officeDocument/2006/math">
                    <m:oMathParaPr>
                      <m:jc m:val="centerGroup"/>
                    </m:oMathParaPr>
                    <m:oMath xmlns:m="http://schemas.openxmlformats.org/officeDocument/2006/math">
                      <m:sSub>
                        <m:sSub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𝑊</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𝑏</m:t>
                          </m:r>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𝑏</m:t>
                      </m:r>
                      <m:nary>
                        <m:naryPr>
                          <m:limLoc m:val="subSup"/>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e>
                          <m:r>
                            <a:rPr lang="en-US" sz="1800" i="1">
                              <a:effectLst/>
                              <a:latin typeface="Cambria Math" panose="02040503050406030204" pitchFamily="18" charset="0"/>
                              <a:ea typeface="Calibri" panose="020F0502020204030204" pitchFamily="34" charset="0"/>
                              <a:cs typeface="Times New Roman" panose="02020603050405020304" pitchFamily="18" charset="0"/>
                            </a:rPr>
                            <m:t>𝑃</m:t>
                          </m:r>
                          <m:r>
                            <a:rPr lang="en-US" sz="1800" i="1">
                              <a:effectLst/>
                              <a:latin typeface="Cambria Math" panose="02040503050406030204" pitchFamily="18" charset="0"/>
                              <a:ea typeface="Calibri" panose="020F0502020204030204" pitchFamily="34" charset="0"/>
                              <a:cs typeface="Times New Roman" panose="02020603050405020304" pitchFamily="18" charset="0"/>
                            </a:rPr>
                            <m:t> </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𝑑𝑣</m:t>
                          </m:r>
                        </m:e>
                      </m:nary>
                    </m:oMath>
                  </m:oMathPara>
                </a14:m>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100"/>
                  </a:spcBef>
                  <a:spcAft>
                    <a:spcPts val="2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Since below 1 – a – 2 is not equal to 1 – b – 2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100"/>
                  </a:spcBef>
                  <a:spcAft>
                    <a:spcPts val="2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Work transfer depends on path. Therefore, work is a path function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100"/>
                  </a:spcBef>
                  <a:spcAft>
                    <a:spcPts val="200"/>
                  </a:spcAft>
                  <a:buNone/>
                </a:pP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xmlns="" xmlns:a14="http://schemas.microsoft.com/office/drawing/2010/main" id="{F111FC45-5615-CE5A-A063-FD286E477E6A}"/>
                  </a:ext>
                </a:extLst>
              </p:cNvPr>
              <p:cNvSpPr>
                <a:spLocks noGrp="1" noRot="1" noChangeAspect="1" noMove="1" noResize="1" noEditPoints="1" noAdjustHandles="1" noChangeArrowheads="1" noChangeShapeType="1" noTextEdit="1"/>
              </p:cNvSpPr>
              <p:nvPr>
                <p:ph idx="1"/>
              </p:nvPr>
            </p:nvSpPr>
            <p:spPr>
              <a:xfrm>
                <a:off x="628650" y="1344612"/>
                <a:ext cx="7886700" cy="5173663"/>
              </a:xfrm>
              <a:blipFill>
                <a:blip r:embed="rId2"/>
                <a:stretch>
                  <a:fillRect l="-232" t="-943" b="-236"/>
                </a:stretch>
              </a:blipFill>
            </p:spPr>
            <p:txBody>
              <a:bodyPr/>
              <a:lstStyle/>
              <a:p>
                <a:r>
                  <a:rPr lang="en-IN">
                    <a:noFill/>
                  </a:rPr>
                  <a:t> </a:t>
                </a:r>
              </a:p>
            </p:txBody>
          </p:sp>
        </mc:Fallback>
      </mc:AlternateContent>
    </p:spTree>
    <p:extLst>
      <p:ext uri="{BB962C8B-B14F-4D97-AF65-F5344CB8AC3E}">
        <p14:creationId xmlns:p14="http://schemas.microsoft.com/office/powerpoint/2010/main" xmlns="" val="119116804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A29057-18DB-B5A5-EE27-1A09A21CA9DC}"/>
              </a:ext>
            </a:extLst>
          </p:cNvPr>
          <p:cNvSpPr>
            <a:spLocks noGrp="1"/>
          </p:cNvSpPr>
          <p:nvPr>
            <p:ph type="title"/>
          </p:nvPr>
        </p:nvSpPr>
        <p:spPr/>
        <p:txBody>
          <a:bodyPr>
            <a:noAutofit/>
          </a:bodyPr>
          <a:lstStyle/>
          <a:p>
            <a:pPr>
              <a:lnSpc>
                <a:spcPct val="107000"/>
              </a:lnSpc>
              <a:spcAft>
                <a:spcPts val="8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 dv work in various Thermodynamic process (Reversible)</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mc:Choice xmlns:a14="http://schemas.microsoft.com/office/drawing/2010/main" xmlns="" Requires="a14">
          <p:sp>
            <p:nvSpPr>
              <p:cNvPr id="3" name="Content Placeholder 2">
                <a:extLst>
                  <a:ext uri="{FF2B5EF4-FFF2-40B4-BE49-F238E27FC236}">
                    <a16:creationId xmlns:a16="http://schemas.microsoft.com/office/drawing/2014/main" id="{F111FC45-5615-CE5A-A063-FD286E477E6A}"/>
                  </a:ext>
                </a:extLst>
              </p:cNvPr>
              <p:cNvSpPr>
                <a:spLocks noGrp="1"/>
              </p:cNvSpPr>
              <p:nvPr>
                <p:ph idx="1"/>
              </p:nvPr>
            </p:nvSpPr>
            <p:spPr/>
            <p:txBody>
              <a:bodyPr>
                <a:normAutofit lnSpcReduction="10000"/>
              </a:bodyPr>
              <a:lstStyle/>
              <a:p>
                <a:pPr marL="0" indent="0">
                  <a:lnSpc>
                    <a:spcPct val="107000"/>
                  </a:lnSpc>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Constant pressure process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14:m>
                  <m:oMathPara xmlns:m="http://schemas.openxmlformats.org/officeDocument/2006/math">
                    <m:oMathParaPr>
                      <m:jc m:val="centerGroup"/>
                    </m:oMathParaPr>
                    <m:oMath xmlns:m="http://schemas.openxmlformats.org/officeDocument/2006/math">
                      <m:sSubSup>
                        <m:sSubSupPr>
                          <m:ctrlPr>
                            <a:rPr lang="en-IN" sz="2400"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𝑊</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sup>
                      </m:sSub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nary>
                        <m:naryPr>
                          <m:limLoc m:val="subSup"/>
                          <m:ctrlPr>
                            <a:rPr lang="en-IN" sz="24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24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2400" i="1">
                              <a:effectLst/>
                              <a:latin typeface="Cambria Math" panose="02040503050406030204" pitchFamily="18" charset="0"/>
                              <a:ea typeface="Calibri" panose="020F0502020204030204" pitchFamily="34" charset="0"/>
                              <a:cs typeface="Times New Roman" panose="02020603050405020304" pitchFamily="18" charset="0"/>
                            </a:rPr>
                            <m:t>2</m:t>
                          </m:r>
                        </m:sup>
                        <m:e>
                          <m:r>
                            <a:rPr lang="en-US" sz="2400" i="1">
                              <a:effectLst/>
                              <a:latin typeface="Cambria Math" panose="02040503050406030204" pitchFamily="18" charset="0"/>
                              <a:ea typeface="Calibri" panose="020F0502020204030204" pitchFamily="34" charset="0"/>
                              <a:cs typeface="Times New Roman" panose="02020603050405020304" pitchFamily="18" charset="0"/>
                            </a:rPr>
                            <m:t>𝑃</m:t>
                          </m:r>
                          <m:r>
                            <a:rPr lang="en-US" sz="2400" i="1">
                              <a:effectLst/>
                              <a:latin typeface="Cambria Math" panose="02040503050406030204" pitchFamily="18" charset="0"/>
                              <a:ea typeface="Calibri" panose="020F0502020204030204" pitchFamily="34" charset="0"/>
                              <a:cs typeface="Times New Roman" panose="02020603050405020304" pitchFamily="18" charset="0"/>
                            </a:rPr>
                            <m:t> </m:t>
                          </m:r>
                          <m:r>
                            <a:rPr lang="en-US" sz="2400" i="1">
                              <a:effectLst/>
                              <a:latin typeface="Cambria Math" panose="02040503050406030204" pitchFamily="18" charset="0"/>
                              <a:ea typeface="Calibri" panose="020F0502020204030204" pitchFamily="34" charset="0"/>
                              <a:cs typeface="Times New Roman" panose="02020603050405020304" pitchFamily="18" charset="0"/>
                            </a:rPr>
                            <m:t>𝑑𝑣</m:t>
                          </m:r>
                        </m:e>
                      </m:nary>
                    </m:oMath>
                  </m:oMathPara>
                </a14:m>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2400" dirty="0">
                    <a:effectLst/>
                    <a:ea typeface="Times New Roman" panose="02020603050405020304" pitchFamily="18" charset="0"/>
                    <a:cs typeface="Times New Roman" panose="02020603050405020304" pitchFamily="18" charset="0"/>
                  </a:rPr>
                  <a:t/>
                </a:r>
                <a14:m>
                  <m:oMath xmlns:m="http://schemas.openxmlformats.org/officeDocument/2006/math">
                    <m:sSubSup>
                      <m:sSubSupPr>
                        <m:ctrlPr>
                          <a:rPr lang="en-IN" sz="2400"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𝑊</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sup>
                    </m:sSub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400" i="1">
                        <a:effectLst/>
                        <a:latin typeface="Cambria Math" panose="02040503050406030204" pitchFamily="18" charset="0"/>
                        <a:ea typeface="Calibri" panose="020F0502020204030204" pitchFamily="34" charset="0"/>
                        <a:cs typeface="Times New Roman" panose="02020603050405020304" pitchFamily="18" charset="0"/>
                      </a:rPr>
                      <m:t>𝑃</m:t>
                    </m:r>
                    <m:r>
                      <a:rPr lang="en-US" sz="2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i="1">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2400" i="1">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2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i="1">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24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2400" i="1">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(J)</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Constant volume process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14:m>
                  <m:oMathPara xmlns:m="http://schemas.openxmlformats.org/officeDocument/2006/math">
                    <m:oMathParaPr>
                      <m:jc m:val="centerGroup"/>
                    </m:oMathParaPr>
                    <m:oMath xmlns:m="http://schemas.openxmlformats.org/officeDocument/2006/math">
                      <m:sSub>
                        <m:sSubPr>
                          <m:ctrlPr>
                            <a:rPr lang="en-IN" sz="2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i="1">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24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2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i="1">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2400" i="1">
                              <a:effectLst/>
                              <a:latin typeface="Cambria Math" panose="02040503050406030204" pitchFamily="18" charset="0"/>
                              <a:ea typeface="Calibri" panose="020F0502020204030204" pitchFamily="34" charset="0"/>
                              <a:cs typeface="Times New Roman" panose="02020603050405020304" pitchFamily="18" charset="0"/>
                            </a:rPr>
                            <m:t>2</m:t>
                          </m:r>
                        </m:sub>
                      </m:sSub>
                    </m:oMath>
                  </m:oMathPara>
                </a14:m>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14:m>
                  <m:oMathPara xmlns:m="http://schemas.openxmlformats.org/officeDocument/2006/math">
                    <m:oMathParaPr>
                      <m:jc m:val="centerGroup"/>
                    </m:oMathParaPr>
                    <m:oMath xmlns:m="http://schemas.openxmlformats.org/officeDocument/2006/math">
                      <m:sSubSup>
                        <m:sSubSupPr>
                          <m:ctrlPr>
                            <a:rPr lang="en-IN" sz="2400"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𝑊</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sup>
                      </m:sSub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=0</m:t>
                      </m:r>
                    </m:oMath>
                  </m:oMathPara>
                </a14:m>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100"/>
                  </a:spcBef>
                  <a:spcAft>
                    <a:spcPts val="200"/>
                  </a:spcAft>
                  <a:buNone/>
                </a:pP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xmlns="" xmlns:a14="http://schemas.microsoft.com/office/drawing/2010/main" id="{F111FC45-5615-CE5A-A063-FD286E477E6A}"/>
                  </a:ext>
                </a:extLst>
              </p:cNvPr>
              <p:cNvSpPr>
                <a:spLocks noGrp="1" noRot="1" noChangeAspect="1" noMove="1" noResize="1" noEditPoints="1" noAdjustHandles="1" noChangeArrowheads="1" noChangeShapeType="1" noTextEdit="1"/>
              </p:cNvSpPr>
              <p:nvPr>
                <p:ph idx="1"/>
              </p:nvPr>
            </p:nvSpPr>
            <p:spPr>
              <a:blipFill>
                <a:blip r:embed="rId2"/>
                <a:stretch>
                  <a:fillRect l="-928" t="-1541"/>
                </a:stretch>
              </a:blipFill>
            </p:spPr>
            <p:txBody>
              <a:bodyPr/>
              <a:lstStyle/>
              <a:p>
                <a:r>
                  <a:rPr lang="en-IN" dirty="0">
                    <a:noFill/>
                  </a:rPr>
                  <a:t> </a:t>
                </a:r>
              </a:p>
            </p:txBody>
          </p:sp>
        </mc:Fallback>
      </mc:AlternateContent>
    </p:spTree>
    <p:extLst>
      <p:ext uri="{BB962C8B-B14F-4D97-AF65-F5344CB8AC3E}">
        <p14:creationId xmlns:p14="http://schemas.microsoft.com/office/powerpoint/2010/main" xmlns="" val="341156226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A9F645-B85C-E58B-233C-8797BC4F692E}"/>
              </a:ext>
            </a:extLst>
          </p:cNvPr>
          <p:cNvSpPr>
            <a:spLocks noGrp="1"/>
          </p:cNvSpPr>
          <p:nvPr>
            <p:ph type="title"/>
          </p:nvPr>
        </p:nvSpPr>
        <p:spPr/>
        <p:txBody>
          <a:bodyPr>
            <a:normAutofit fontScale="90000"/>
          </a:bodyPr>
          <a:lstStyle/>
          <a:p>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P dv work in various Thermodynamic process (Reversible)</a:t>
            </a:r>
            <a:endParaRPr lang="en-IN" sz="6600" dirty="0"/>
          </a:p>
        </p:txBody>
      </p:sp>
      <mc:AlternateContent xmlns:mc="http://schemas.openxmlformats.org/markup-compatibility/2006">
        <mc:Choice xmlns:a14="http://schemas.microsoft.com/office/drawing/2010/main" xmlns="" Requires="a14">
          <p:sp>
            <p:nvSpPr>
              <p:cNvPr id="3" name="Content Placeholder 2">
                <a:extLst>
                  <a:ext uri="{FF2B5EF4-FFF2-40B4-BE49-F238E27FC236}">
                    <a16:creationId xmlns:a16="http://schemas.microsoft.com/office/drawing/2014/main" id="{9199CC79-1419-FFDA-3C0B-E64F170D0C90}"/>
                  </a:ext>
                </a:extLst>
              </p:cNvPr>
              <p:cNvSpPr>
                <a:spLocks noGrp="1"/>
              </p:cNvSpPr>
              <p:nvPr>
                <p:ph sz="half" idx="1"/>
              </p:nvPr>
            </p:nvSpPr>
            <p:spPr/>
            <p:txBody>
              <a:bodyPr>
                <a:normAutofit/>
              </a:bodyPr>
              <a:lstStyle/>
              <a:p>
                <a:pPr marL="0" indent="0">
                  <a:lnSpc>
                    <a:spcPct val="107000"/>
                  </a:lnSpc>
                  <a:spcAft>
                    <a:spcPts val="800"/>
                  </a:spcAft>
                  <a:buNone/>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Constant temperature process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Pv</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 C)</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14:m>
                  <m:oMathPara xmlns:m="http://schemas.openxmlformats.org/officeDocument/2006/math">
                    <m:oMathParaPr>
                      <m:jc m:val="centerGroup"/>
                    </m:oMathParaPr>
                    <m:oMath xmlns:m="http://schemas.openxmlformats.org/officeDocument/2006/math">
                      <m:sSub>
                        <m:sSub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b>
                      </m:sSub>
                      <m:sSub>
                        <m:sSub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b>
                      </m:sSub>
                      <m:sSub>
                        <m:sSub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b>
                      </m:sSub>
                    </m:oMath>
                  </m:oMathPara>
                </a14:m>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𝑃</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b>
                          </m:sSub>
                          <m:sSub>
                            <m:sSub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b>
                          </m:sSub>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𝑉</m:t>
                          </m:r>
                        </m:den>
                      </m:f>
                    </m:oMath>
                  </m:oMathPara>
                </a14:m>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14:m>
                  <m:oMathPara xmlns:m="http://schemas.openxmlformats.org/officeDocument/2006/math">
                    <m:oMathParaPr>
                      <m:jc m:val="centerGroup"/>
                    </m:oMathParaPr>
                    <m:oMath xmlns:m="http://schemas.openxmlformats.org/officeDocument/2006/math">
                      <m:sSubSup>
                        <m:sSubSup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𝑊</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b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nary>
                        <m:naryPr>
                          <m:limLoc m:val="subSup"/>
                          <m:ctrlPr>
                            <a:rPr lang="en-IN" sz="20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20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sup>
                        <m:e>
                          <m:f>
                            <m:f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b>
                              </m:sSub>
                              <m:sSub>
                                <m:sSub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b>
                              </m:sSub>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𝑉</m:t>
                              </m:r>
                            </m:den>
                          </m:f>
                          <m:r>
                            <a:rPr lang="en-US" sz="2000" i="1">
                              <a:effectLst/>
                              <a:latin typeface="Cambria Math" panose="02040503050406030204" pitchFamily="18" charset="0"/>
                              <a:ea typeface="Calibri" panose="020F0502020204030204" pitchFamily="34" charset="0"/>
                              <a:cs typeface="Times New Roman" panose="02020603050405020304" pitchFamily="18" charset="0"/>
                            </a:rPr>
                            <m:t> </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𝑑𝑣</m:t>
                          </m:r>
                        </m:e>
                      </m:nary>
                    </m:oMath>
                  </m:oMathPara>
                </a14:m>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14:m>
                  <m:oMathPara xmlns:m="http://schemas.openxmlformats.org/officeDocument/2006/math">
                    <m:oMathParaPr>
                      <m:jc m:val="centerGroup"/>
                    </m:oMathParaPr>
                    <m:oMath xmlns:m="http://schemas.openxmlformats.org/officeDocument/2006/math">
                      <m:sSubSup>
                        <m:sSubSup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𝑊</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b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b>
                      </m:sSub>
                      <m:sSub>
                        <m:sSub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b>
                      </m:sSub>
                      <m:func>
                        <m:func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2000">
                              <a:effectLst/>
                              <a:latin typeface="Cambria Math" panose="02040503050406030204" pitchFamily="18" charset="0"/>
                              <a:ea typeface="Times New Roman" panose="02020603050405020304" pitchFamily="18" charset="0"/>
                              <a:cs typeface="Times New Roman" panose="02020603050405020304" pitchFamily="18" charset="0"/>
                            </a:rPr>
                            <m:t>ln</m:t>
                          </m:r>
                        </m:fName>
                        <m:e>
                          <m:d>
                            <m:d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b>
                                  </m:sSub>
                                </m:num>
                                <m:den>
                                  <m:sSub>
                                    <m:sSub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b>
                                  </m:sSub>
                                </m:den>
                              </m:f>
                            </m:e>
                          </m:d>
                        </m:e>
                      </m:func>
                    </m:oMath>
                  </m:oMathPara>
                </a14:m>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14:m>
                  <m:oMathPara xmlns:m="http://schemas.openxmlformats.org/officeDocument/2006/math">
                    <m:oMathParaPr>
                      <m:jc m:val="centerGroup"/>
                    </m:oMathParaPr>
                    <m:oMath xmlns:m="http://schemas.openxmlformats.org/officeDocument/2006/math">
                      <m:sSubSup>
                        <m:sSubSup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𝑊</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b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b>
                      </m:sSub>
                      <m:sSub>
                        <m:sSub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b>
                      </m:sSub>
                      <m:func>
                        <m:func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2000">
                              <a:effectLst/>
                              <a:latin typeface="Cambria Math" panose="02040503050406030204" pitchFamily="18" charset="0"/>
                              <a:ea typeface="Times New Roman" panose="02020603050405020304" pitchFamily="18" charset="0"/>
                              <a:cs typeface="Times New Roman" panose="02020603050405020304" pitchFamily="18" charset="0"/>
                            </a:rPr>
                            <m:t>ln</m:t>
                          </m:r>
                        </m:fName>
                        <m:e>
                          <m:d>
                            <m:d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b>
                                  </m:sSub>
                                </m:num>
                                <m:den>
                                  <m:sSub>
                                    <m:sSub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b>
                                  </m:sSub>
                                </m:den>
                              </m:f>
                            </m:e>
                          </m:d>
                        </m:e>
                      </m:func>
                    </m:oMath>
                  </m:oMathPara>
                </a14:m>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xmlns="" xmlns:a14="http://schemas.microsoft.com/office/drawing/2010/main" id="{9199CC79-1419-FFDA-3C0B-E64F170D0C90}"/>
                  </a:ext>
                </a:extLst>
              </p:cNvPr>
              <p:cNvSpPr>
                <a:spLocks noGrp="1" noRot="1" noChangeAspect="1" noMove="1" noResize="1" noEditPoints="1" noAdjustHandles="1" noChangeArrowheads="1" noChangeShapeType="1" noTextEdit="1"/>
              </p:cNvSpPr>
              <p:nvPr>
                <p:ph sz="half" idx="1"/>
              </p:nvPr>
            </p:nvSpPr>
            <p:spPr>
              <a:blipFill>
                <a:blip r:embed="rId2"/>
                <a:stretch>
                  <a:fillRect l="-1294" t="-700"/>
                </a:stretch>
              </a:blipFill>
            </p:spPr>
            <p:txBody>
              <a:bodyPr/>
              <a:lstStyle/>
              <a:p>
                <a:r>
                  <a:rPr lang="en-IN">
                    <a:noFill/>
                  </a:rPr>
                  <a:t> </a:t>
                </a:r>
              </a:p>
            </p:txBody>
          </p:sp>
        </mc:Fallback>
      </mc:AlternateContent>
      <mc:AlternateContent xmlns:mc="http://schemas.openxmlformats.org/markup-compatibility/2006">
        <mc:Choice xmlns:a14="http://schemas.microsoft.com/office/drawing/2010/main" xmlns="" Requires="a14">
          <p:sp>
            <p:nvSpPr>
              <p:cNvPr id="4" name="Content Placeholder 3">
                <a:extLst>
                  <a:ext uri="{FF2B5EF4-FFF2-40B4-BE49-F238E27FC236}">
                    <a16:creationId xmlns:a16="http://schemas.microsoft.com/office/drawing/2014/main" id="{21114AC3-85A5-9258-36D2-5A8BA881024A}"/>
                  </a:ext>
                </a:extLst>
              </p:cNvPr>
              <p:cNvSpPr>
                <a:spLocks noGrp="1"/>
              </p:cNvSpPr>
              <p:nvPr>
                <p:ph sz="half" idx="2"/>
              </p:nvPr>
            </p:nvSpPr>
            <p:spPr/>
            <p:txBody>
              <a:bodyPr>
                <a:noAutofit/>
              </a:bodyPr>
              <a:lstStyle/>
              <a:p>
                <a:pPr marL="0" indent="0">
                  <a:lnSpc>
                    <a:spcPct val="107000"/>
                  </a:lnSpc>
                  <a:spcAft>
                    <a:spcPts val="800"/>
                  </a:spcAft>
                  <a:buNone/>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Isentropic process / Reversible adiabatic process </a:t>
                </a:r>
                <a14:m>
                  <m:oMath xmlns:m="http://schemas.openxmlformats.org/officeDocument/2006/math">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𝑃</m:t>
                    </m:r>
                    <m:sSup>
                      <m:sSupPr>
                        <m:ctrlPr>
                          <a:rPr lang="en-IN" sz="16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𝑣</m:t>
                        </m:r>
                      </m:e>
                      <m:sup>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𝛾</m:t>
                        </m:r>
                      </m:sup>
                    </m:sSup>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𝐶</m:t>
                    </m:r>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14:m>
                  <m:oMathPara xmlns:m="http://schemas.openxmlformats.org/officeDocument/2006/math">
                    <m:oMathParaPr>
                      <m:jc m:val="centerGroup"/>
                    </m:oMathParaPr>
                    <m:oMath xmlns:m="http://schemas.openxmlformats.org/officeDocument/2006/math">
                      <m:sSubSup>
                        <m:sSubSupPr>
                          <m:ctrlPr>
                            <a:rPr lang="en-IN" sz="1600"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𝑊</m:t>
                          </m:r>
                        </m:e>
                        <m:sub>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2</m:t>
                          </m:r>
                        </m:sup>
                      </m:sSubSup>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6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n-US" sz="1600" i="1">
                              <a:effectLst/>
                              <a:latin typeface="Cambria Math" panose="02040503050406030204" pitchFamily="18" charset="0"/>
                              <a:ea typeface="Calibri" panose="020F0502020204030204" pitchFamily="34" charset="0"/>
                              <a:cs typeface="Times New Roman" panose="02020603050405020304" pitchFamily="18" charset="0"/>
                            </a:rPr>
                            <m:t>1</m:t>
                          </m:r>
                        </m:sub>
                      </m:sSub>
                      <m:sSubSup>
                        <m:sSubSupPr>
                          <m:ctrlPr>
                            <a:rPr lang="en-IN" sz="16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16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600" i="1">
                              <a:effectLst/>
                              <a:latin typeface="Cambria Math" panose="02040503050406030204" pitchFamily="18" charset="0"/>
                              <a:ea typeface="Calibri" panose="020F0502020204030204" pitchFamily="34" charset="0"/>
                              <a:cs typeface="Times New Roman" panose="02020603050405020304" pitchFamily="18" charset="0"/>
                            </a:rPr>
                            <m:t>𝛾</m:t>
                          </m:r>
                        </m:sup>
                      </m:sSubSup>
                      <m:nary>
                        <m:naryPr>
                          <m:limLoc m:val="subSup"/>
                          <m:ctrlPr>
                            <a:rPr lang="en-IN" sz="16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16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600" i="1">
                              <a:effectLst/>
                              <a:latin typeface="Cambria Math" panose="02040503050406030204" pitchFamily="18" charset="0"/>
                              <a:ea typeface="Calibri" panose="020F0502020204030204" pitchFamily="34" charset="0"/>
                              <a:cs typeface="Times New Roman" panose="02020603050405020304" pitchFamily="18" charset="0"/>
                            </a:rPr>
                            <m:t>2</m:t>
                          </m:r>
                        </m:sup>
                        <m:e>
                          <m:f>
                            <m:fPr>
                              <m:ctrlPr>
                                <a:rPr lang="en-IN" sz="16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i="1">
                                  <a:effectLst/>
                                  <a:latin typeface="Cambria Math" panose="02040503050406030204" pitchFamily="18" charset="0"/>
                                  <a:ea typeface="Calibri" panose="020F0502020204030204" pitchFamily="34" charset="0"/>
                                  <a:cs typeface="Times New Roman" panose="02020603050405020304" pitchFamily="18" charset="0"/>
                                </a:rPr>
                                <m:t>𝑑𝑣</m:t>
                              </m:r>
                            </m:num>
                            <m:den>
                              <m:sSup>
                                <m:sSupPr>
                                  <m:ctrlPr>
                                    <a:rPr lang="en-IN" sz="16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𝑣</m:t>
                                  </m:r>
                                </m:e>
                                <m:sup>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𝛾</m:t>
                                  </m:r>
                                </m:sup>
                              </m:sSup>
                            </m:den>
                          </m:f>
                        </m:e>
                      </m:nary>
                    </m:oMath>
                  </m:oMathPara>
                </a14:m>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14:m>
                  <m:oMathPara xmlns:m="http://schemas.openxmlformats.org/officeDocument/2006/math">
                    <m:oMathParaPr>
                      <m:jc m:val="centerGroup"/>
                    </m:oMathParaPr>
                    <m:oMath xmlns:m="http://schemas.openxmlformats.org/officeDocument/2006/math">
                      <m:sSubSup>
                        <m:sSubSupPr>
                          <m:ctrlPr>
                            <a:rPr lang="en-IN" sz="1600"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𝑊</m:t>
                          </m:r>
                        </m:e>
                        <m:sub>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2</m:t>
                          </m:r>
                        </m:sup>
                      </m:sSubSup>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6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n-US" sz="1600" i="1">
                              <a:effectLst/>
                              <a:latin typeface="Cambria Math" panose="02040503050406030204" pitchFamily="18" charset="0"/>
                              <a:ea typeface="Calibri" panose="020F0502020204030204" pitchFamily="34" charset="0"/>
                              <a:cs typeface="Times New Roman" panose="02020603050405020304" pitchFamily="18" charset="0"/>
                            </a:rPr>
                            <m:t>1</m:t>
                          </m:r>
                        </m:sub>
                      </m:sSub>
                      <m:sSubSup>
                        <m:sSubSupPr>
                          <m:ctrlPr>
                            <a:rPr lang="en-IN" sz="16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16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600" i="1">
                              <a:effectLst/>
                              <a:latin typeface="Cambria Math" panose="02040503050406030204" pitchFamily="18" charset="0"/>
                              <a:ea typeface="Calibri" panose="020F0502020204030204" pitchFamily="34" charset="0"/>
                              <a:cs typeface="Times New Roman" panose="02020603050405020304" pitchFamily="18" charset="0"/>
                            </a:rPr>
                            <m:t>𝛾</m:t>
                          </m:r>
                        </m:sup>
                      </m:sSubSup>
                      <m:nary>
                        <m:naryPr>
                          <m:limLoc m:val="subSup"/>
                          <m:ctrlPr>
                            <a:rPr lang="en-IN" sz="16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16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600" i="1">
                              <a:effectLst/>
                              <a:latin typeface="Cambria Math" panose="02040503050406030204" pitchFamily="18" charset="0"/>
                              <a:ea typeface="Calibri" panose="020F0502020204030204" pitchFamily="34" charset="0"/>
                              <a:cs typeface="Times New Roman" panose="02020603050405020304" pitchFamily="18" charset="0"/>
                            </a:rPr>
                            <m:t>2</m:t>
                          </m:r>
                        </m:sup>
                        <m:e>
                          <m:sSup>
                            <m:sSupPr>
                              <m:ctrlPr>
                                <a:rPr lang="en-IN" sz="16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𝑣</m:t>
                              </m:r>
                            </m:e>
                            <m:sup>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𝛾</m:t>
                              </m:r>
                            </m:sup>
                          </m:sSup>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𝑑𝑣</m:t>
                          </m:r>
                        </m:e>
                      </m:nary>
                    </m:oMath>
                  </m:oMathPara>
                </a14:m>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14:m>
                  <m:oMathPara xmlns:m="http://schemas.openxmlformats.org/officeDocument/2006/math">
                    <m:oMathParaPr>
                      <m:jc m:val="centerGroup"/>
                    </m:oMathParaPr>
                    <m:oMath xmlns:m="http://schemas.openxmlformats.org/officeDocument/2006/math">
                      <m:sSubSup>
                        <m:sSubSupPr>
                          <m:ctrlPr>
                            <a:rPr lang="en-IN" sz="1600"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𝑊</m:t>
                          </m:r>
                        </m:e>
                        <m:sub>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2</m:t>
                          </m:r>
                        </m:sup>
                      </m:sSubSup>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6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n-US" sz="1600" i="1">
                              <a:effectLst/>
                              <a:latin typeface="Cambria Math" panose="02040503050406030204" pitchFamily="18" charset="0"/>
                              <a:ea typeface="Calibri" panose="020F0502020204030204" pitchFamily="34" charset="0"/>
                              <a:cs typeface="Times New Roman" panose="02020603050405020304" pitchFamily="18" charset="0"/>
                            </a:rPr>
                            <m:t>1</m:t>
                          </m:r>
                        </m:sub>
                      </m:sSub>
                      <m:sSubSup>
                        <m:sSubSupPr>
                          <m:ctrlPr>
                            <a:rPr lang="en-IN" sz="16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16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600" i="1">
                              <a:effectLst/>
                              <a:latin typeface="Cambria Math" panose="02040503050406030204" pitchFamily="18" charset="0"/>
                              <a:ea typeface="Calibri" panose="020F0502020204030204" pitchFamily="34" charset="0"/>
                              <a:cs typeface="Times New Roman" panose="02020603050405020304" pitchFamily="18" charset="0"/>
                            </a:rPr>
                            <m:t>𝛾</m:t>
                          </m:r>
                        </m:sup>
                      </m:sSubSup>
                      <m:sSubSup>
                        <m:sSubSupPr>
                          <m:ctrlPr>
                            <a:rPr lang="en-IN" sz="1600" i="1">
                              <a:effectLst/>
                              <a:latin typeface="Cambria Math" panose="02040503050406030204" pitchFamily="18" charset="0"/>
                              <a:ea typeface="Calibri" panose="020F0502020204030204" pitchFamily="34" charset="0"/>
                              <a:cs typeface="Times New Roman" panose="02020603050405020304" pitchFamily="18" charset="0"/>
                            </a:rPr>
                          </m:ctrlPr>
                        </m:sSubSupPr>
                        <m:e>
                          <m:d>
                            <m:dPr>
                              <m:begChr m:val="["/>
                              <m:endChr m:val="]"/>
                              <m:ctrlPr>
                                <a:rPr lang="en-IN" sz="1600" i="1">
                                  <a:effectLst/>
                                  <a:latin typeface="Cambria Math" panose="02040503050406030204" pitchFamily="18" charset="0"/>
                                  <a:ea typeface="Calibri" panose="020F0502020204030204" pitchFamily="34" charset="0"/>
                                  <a:cs typeface="Times New Roman" panose="02020603050405020304" pitchFamily="18" charset="0"/>
                                </a:rPr>
                              </m:ctrlPr>
                            </m:dPr>
                            <m:e>
                              <m:f>
                                <m:fPr>
                                  <m:ctrlPr>
                                    <a:rPr lang="en-IN" sz="1600" i="1">
                                      <a:effectLst/>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IN" sz="16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𝑣</m:t>
                                      </m:r>
                                    </m:e>
                                    <m:sup>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𝛾</m:t>
                                      </m:r>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+1</m:t>
                                      </m:r>
                                    </m:sup>
                                  </m:sSup>
                                </m:num>
                                <m:den>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𝛾</m:t>
                                  </m:r>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+1</m:t>
                                  </m:r>
                                </m:den>
                              </m:f>
                            </m:e>
                          </m:d>
                        </m:e>
                        <m:sub>
                          <m:r>
                            <a:rPr lang="en-US" sz="16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600" i="1">
                              <a:effectLst/>
                              <a:latin typeface="Cambria Math" panose="02040503050406030204" pitchFamily="18" charset="0"/>
                              <a:ea typeface="Calibri" panose="020F0502020204030204" pitchFamily="34" charset="0"/>
                              <a:cs typeface="Times New Roman" panose="02020603050405020304" pitchFamily="18" charset="0"/>
                            </a:rPr>
                            <m:t>2</m:t>
                          </m:r>
                        </m:sup>
                      </m:sSubSup>
                    </m:oMath>
                  </m:oMathPara>
                </a14:m>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14:m>
                  <m:oMathPara xmlns:m="http://schemas.openxmlformats.org/officeDocument/2006/math">
                    <m:oMathParaPr>
                      <m:jc m:val="centerGroup"/>
                    </m:oMathParaPr>
                    <m:oMath xmlns:m="http://schemas.openxmlformats.org/officeDocument/2006/math">
                      <m:sSubSup>
                        <m:sSubSupPr>
                          <m:ctrlPr>
                            <a:rPr lang="en-IN" sz="1600"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𝑊</m:t>
                          </m:r>
                        </m:e>
                        <m:sub>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2</m:t>
                          </m:r>
                        </m:sup>
                      </m:sSubSup>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sz="1600" i="1">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IN" sz="16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n-US" sz="1600" i="1">
                                  <a:effectLst/>
                                  <a:latin typeface="Cambria Math" panose="02040503050406030204" pitchFamily="18" charset="0"/>
                                  <a:ea typeface="Calibri" panose="020F0502020204030204" pitchFamily="34" charset="0"/>
                                  <a:cs typeface="Times New Roman" panose="02020603050405020304" pitchFamily="18" charset="0"/>
                                </a:rPr>
                                <m:t>1</m:t>
                              </m:r>
                            </m:sub>
                          </m:sSub>
                          <m:sSubSup>
                            <m:sSubSupPr>
                              <m:ctrlPr>
                                <a:rPr lang="en-IN" sz="16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16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600" i="1">
                                  <a:effectLst/>
                                  <a:latin typeface="Cambria Math" panose="02040503050406030204" pitchFamily="18" charset="0"/>
                                  <a:ea typeface="Calibri" panose="020F0502020204030204" pitchFamily="34" charset="0"/>
                                  <a:cs typeface="Times New Roman" panose="02020603050405020304" pitchFamily="18" charset="0"/>
                                </a:rPr>
                                <m:t>𝛾</m:t>
                              </m:r>
                            </m:sup>
                          </m:sSubSup>
                          <m:sSup>
                            <m:sSupPr>
                              <m:ctrlPr>
                                <a:rPr lang="en-IN" sz="1600" i="1">
                                  <a:effectLst/>
                                  <a:latin typeface="Cambria Math" panose="02040503050406030204" pitchFamily="18" charset="0"/>
                                  <a:ea typeface="Times New Roman" panose="02020603050405020304" pitchFamily="18" charset="0"/>
                                  <a:cs typeface="Times New Roman" panose="02020603050405020304" pitchFamily="18" charset="0"/>
                                </a:rPr>
                              </m:ctrlPr>
                            </m:sSupPr>
                            <m:e>
                              <m:sSub>
                                <m:sSubPr>
                                  <m:ctrlPr>
                                    <a:rPr lang="en-IN"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2</m:t>
                                  </m:r>
                                </m:sub>
                              </m:sSub>
                            </m:e>
                            <m:sup>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𝛾</m:t>
                              </m:r>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+1</m:t>
                              </m:r>
                            </m:sup>
                          </m:sSup>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6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n-US" sz="1600" i="1">
                                  <a:effectLst/>
                                  <a:latin typeface="Cambria Math" panose="02040503050406030204" pitchFamily="18" charset="0"/>
                                  <a:ea typeface="Calibri" panose="020F0502020204030204" pitchFamily="34" charset="0"/>
                                  <a:cs typeface="Times New Roman" panose="02020603050405020304" pitchFamily="18" charset="0"/>
                                </a:rPr>
                                <m:t>1</m:t>
                              </m:r>
                            </m:sub>
                          </m:sSub>
                          <m:sSubSup>
                            <m:sSubSupPr>
                              <m:ctrlPr>
                                <a:rPr lang="en-IN" sz="16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16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600" i="1">
                                  <a:effectLst/>
                                  <a:latin typeface="Cambria Math" panose="02040503050406030204" pitchFamily="18" charset="0"/>
                                  <a:ea typeface="Calibri" panose="020F0502020204030204" pitchFamily="34" charset="0"/>
                                  <a:cs typeface="Times New Roman" panose="02020603050405020304" pitchFamily="18" charset="0"/>
                                </a:rPr>
                                <m:t>𝛾</m:t>
                              </m:r>
                            </m:sup>
                          </m:sSubSup>
                          <m:sSup>
                            <m:sSupPr>
                              <m:ctrlPr>
                                <a:rPr lang="en-IN" sz="1600" i="1">
                                  <a:effectLst/>
                                  <a:latin typeface="Cambria Math" panose="02040503050406030204" pitchFamily="18" charset="0"/>
                                  <a:ea typeface="Times New Roman" panose="02020603050405020304" pitchFamily="18" charset="0"/>
                                  <a:cs typeface="Times New Roman" panose="02020603050405020304" pitchFamily="18" charset="0"/>
                                </a:rPr>
                              </m:ctrlPr>
                            </m:sSupPr>
                            <m:e>
                              <m:sSub>
                                <m:sSubPr>
                                  <m:ctrlPr>
                                    <a:rPr lang="en-IN"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1</m:t>
                                  </m:r>
                                </m:sub>
                              </m:sSub>
                            </m:e>
                            <m:sup>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𝛾</m:t>
                              </m:r>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+1</m:t>
                              </m:r>
                            </m:sup>
                          </m:sSup>
                        </m:num>
                        <m:den>
                          <m:r>
                            <a:rPr lang="en-US" sz="1600" i="1">
                              <a:effectLst/>
                              <a:latin typeface="Cambria Math" panose="02040503050406030204" pitchFamily="18" charset="0"/>
                              <a:ea typeface="Calibri" panose="020F0502020204030204" pitchFamily="34" charset="0"/>
                              <a:cs typeface="Times New Roman" panose="02020603050405020304" pitchFamily="18" charset="0"/>
                            </a:rPr>
                            <m:t>1−</m:t>
                          </m:r>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𝛾</m:t>
                          </m:r>
                        </m:den>
                      </m:f>
                    </m:oMath>
                  </m:oMathPara>
                </a14:m>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Since </a:t>
                </a:r>
                <a14:m>
                  <m:oMath xmlns:m="http://schemas.openxmlformats.org/officeDocument/2006/math">
                    <m:sSub>
                      <m:sSubPr>
                        <m:ctrlPr>
                          <a:rPr lang="en-IN" sz="16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n-US" sz="1600" i="1">
                            <a:effectLst/>
                            <a:latin typeface="Cambria Math" panose="02040503050406030204" pitchFamily="18" charset="0"/>
                            <a:ea typeface="Calibri" panose="020F0502020204030204" pitchFamily="34" charset="0"/>
                            <a:cs typeface="Times New Roman" panose="02020603050405020304" pitchFamily="18" charset="0"/>
                          </a:rPr>
                          <m:t>1</m:t>
                        </m:r>
                      </m:sub>
                    </m:sSub>
                    <m:sSubSup>
                      <m:sSubSupPr>
                        <m:ctrlPr>
                          <a:rPr lang="en-IN" sz="16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16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600" i="1">
                            <a:effectLst/>
                            <a:latin typeface="Cambria Math" panose="02040503050406030204" pitchFamily="18" charset="0"/>
                            <a:ea typeface="Calibri" panose="020F0502020204030204" pitchFamily="34" charset="0"/>
                            <a:cs typeface="Times New Roman" panose="02020603050405020304" pitchFamily="18" charset="0"/>
                          </a:rPr>
                          <m:t>𝛾</m:t>
                        </m:r>
                      </m:sup>
                    </m:sSubSup>
                    <m:r>
                      <a:rPr lang="en-US"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16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n-US" sz="1600" i="1">
                            <a:effectLst/>
                            <a:latin typeface="Cambria Math" panose="02040503050406030204" pitchFamily="18" charset="0"/>
                            <a:ea typeface="Calibri" panose="020F0502020204030204" pitchFamily="34" charset="0"/>
                            <a:cs typeface="Times New Roman" panose="02020603050405020304" pitchFamily="18" charset="0"/>
                          </a:rPr>
                          <m:t>2</m:t>
                        </m:r>
                      </m:sub>
                    </m:sSub>
                    <m:sSubSup>
                      <m:sSubSupPr>
                        <m:ctrlPr>
                          <a:rPr lang="en-IN" sz="16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1600" i="1">
                            <a:effectLst/>
                            <a:latin typeface="Cambria Math" panose="02040503050406030204" pitchFamily="18" charset="0"/>
                            <a:ea typeface="Calibri" panose="020F0502020204030204" pitchFamily="34" charset="0"/>
                            <a:cs typeface="Times New Roman" panose="02020603050405020304" pitchFamily="18" charset="0"/>
                          </a:rPr>
                          <m:t>2</m:t>
                        </m:r>
                      </m:sub>
                      <m:sup>
                        <m:r>
                          <a:rPr lang="en-US" sz="1600" i="1">
                            <a:effectLst/>
                            <a:latin typeface="Cambria Math" panose="02040503050406030204" pitchFamily="18" charset="0"/>
                            <a:ea typeface="Calibri" panose="020F0502020204030204" pitchFamily="34" charset="0"/>
                            <a:cs typeface="Times New Roman" panose="02020603050405020304" pitchFamily="18" charset="0"/>
                          </a:rPr>
                          <m:t>𝛾</m:t>
                        </m:r>
                      </m:sup>
                    </m:sSubSup>
                  </m:oMath>
                </a14:m>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14:m>
                  <m:oMathPara xmlns:m="http://schemas.openxmlformats.org/officeDocument/2006/math">
                    <m:oMathParaPr>
                      <m:jc m:val="centerGroup"/>
                    </m:oMathParaPr>
                    <m:oMath xmlns:m="http://schemas.openxmlformats.org/officeDocument/2006/math">
                      <m:sSubSup>
                        <m:sSubSupPr>
                          <m:ctrlPr>
                            <a:rPr lang="en-IN" sz="1600"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𝑊</m:t>
                          </m:r>
                        </m:e>
                        <m:sub>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2</m:t>
                          </m:r>
                        </m:sup>
                      </m:sSubSup>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sz="16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IN"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1</m:t>
                              </m:r>
                            </m:sub>
                          </m:sSub>
                          <m:sSub>
                            <m:sSubPr>
                              <m:ctrlPr>
                                <a:rPr lang="en-IN"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2</m:t>
                              </m:r>
                            </m:sub>
                          </m:sSub>
                          <m:sSub>
                            <m:sSubPr>
                              <m:ctrlPr>
                                <a:rPr lang="en-IN"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2</m:t>
                              </m:r>
                            </m:sub>
                          </m:sSub>
                        </m:num>
                        <m:den>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𝛾</m:t>
                          </m:r>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−1</m:t>
                          </m:r>
                        </m:den>
                      </m:f>
                    </m:oMath>
                  </m:oMathPara>
                </a14:m>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14:m>
                  <m:oMathPara xmlns:m="http://schemas.openxmlformats.org/officeDocument/2006/math">
                    <m:oMathParaPr>
                      <m:jc m:val="centerGroup"/>
                    </m:oMathParaPr>
                    <m:oMath xmlns:m="http://schemas.openxmlformats.org/officeDocument/2006/math">
                      <m:sSubSup>
                        <m:sSubSupPr>
                          <m:ctrlPr>
                            <a:rPr lang="en-IN" sz="1600"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𝑊</m:t>
                          </m:r>
                        </m:e>
                        <m:sub>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2</m:t>
                          </m:r>
                        </m:sup>
                      </m:sSubSup>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sz="16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IN"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1</m:t>
                              </m:r>
                            </m:sub>
                          </m:sSub>
                          <m:sSub>
                            <m:sSubPr>
                              <m:ctrlPr>
                                <a:rPr lang="en-IN"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2</m:t>
                              </m:r>
                            </m:sub>
                          </m:sSub>
                          <m:sSub>
                            <m:sSubPr>
                              <m:ctrlPr>
                                <a:rPr lang="en-IN"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2</m:t>
                              </m:r>
                            </m:sub>
                          </m:sSub>
                        </m:num>
                        <m:den>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sz="1600" i="1">
                              <a:effectLst/>
                              <a:latin typeface="Cambria Math" panose="02040503050406030204" pitchFamily="18" charset="0"/>
                              <a:ea typeface="Times New Roman" panose="02020603050405020304" pitchFamily="18" charset="0"/>
                              <a:cs typeface="Times New Roman" panose="02020603050405020304" pitchFamily="18" charset="0"/>
                            </a:rPr>
                            <m:t>−1</m:t>
                          </m:r>
                        </m:den>
                      </m:f>
                    </m:oMath>
                  </m:oMathPara>
                </a14:m>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4" name="Content Placeholder 3">
                <a:extLst>
                  <a:ext uri="{FF2B5EF4-FFF2-40B4-BE49-F238E27FC236}">
                    <a16:creationId xmlns:a16="http://schemas.microsoft.com/office/drawing/2014/main" xmlns="" xmlns:a14="http://schemas.microsoft.com/office/drawing/2010/main" id="{21114AC3-85A5-9258-36D2-5A8BA881024A}"/>
                  </a:ext>
                </a:extLst>
              </p:cNvPr>
              <p:cNvSpPr>
                <a:spLocks noGrp="1" noRot="1" noChangeAspect="1" noMove="1" noResize="1" noEditPoints="1" noAdjustHandles="1" noChangeArrowheads="1" noChangeShapeType="1" noTextEdit="1"/>
              </p:cNvSpPr>
              <p:nvPr>
                <p:ph sz="half" idx="2"/>
              </p:nvPr>
            </p:nvSpPr>
            <p:spPr>
              <a:blipFill>
                <a:blip r:embed="rId3"/>
                <a:stretch>
                  <a:fillRect l="-706" t="-420" b="-12045"/>
                </a:stretch>
              </a:blipFill>
            </p:spPr>
            <p:txBody>
              <a:bodyPr/>
              <a:lstStyle/>
              <a:p>
                <a:r>
                  <a:rPr lang="en-IN">
                    <a:noFill/>
                  </a:rPr>
                  <a:t> </a:t>
                </a:r>
              </a:p>
            </p:txBody>
          </p:sp>
        </mc:Fallback>
      </mc:AlternateContent>
    </p:spTree>
    <p:extLst>
      <p:ext uri="{BB962C8B-B14F-4D97-AF65-F5344CB8AC3E}">
        <p14:creationId xmlns:p14="http://schemas.microsoft.com/office/powerpoint/2010/main" xmlns="" val="377583323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A9F645-B85C-E58B-233C-8797BC4F692E}"/>
              </a:ext>
            </a:extLst>
          </p:cNvPr>
          <p:cNvSpPr>
            <a:spLocks noGrp="1"/>
          </p:cNvSpPr>
          <p:nvPr>
            <p:ph type="title"/>
          </p:nvPr>
        </p:nvSpPr>
        <p:spPr/>
        <p:txBody>
          <a:bodyPr>
            <a:normAutofit/>
          </a:bodyPr>
          <a:lstStyle/>
          <a:p>
            <a:endParaRPr lang="en-IN" sz="66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xmlns="" Requires="a14">
          <p:sp>
            <p:nvSpPr>
              <p:cNvPr id="3" name="Content Placeholder 2">
                <a:extLst>
                  <a:ext uri="{FF2B5EF4-FFF2-40B4-BE49-F238E27FC236}">
                    <a16:creationId xmlns:a16="http://schemas.microsoft.com/office/drawing/2014/main" id="{9199CC79-1419-FFDA-3C0B-E64F170D0C90}"/>
                  </a:ext>
                </a:extLst>
              </p:cNvPr>
              <p:cNvSpPr>
                <a:spLocks noGrp="1"/>
              </p:cNvSpPr>
              <p:nvPr>
                <p:ph sz="half" idx="1"/>
              </p:nvPr>
            </p:nvSpPr>
            <p:spPr/>
            <p:txBody>
              <a:bodyPr>
                <a:normAutofit fontScale="85000" lnSpcReduction="10000"/>
              </a:bodyPr>
              <a:lstStyle/>
              <a:p>
                <a:pPr marL="0" indent="0">
                  <a:buNone/>
                </a:pPr>
                <a:r>
                  <a:rPr lang="en-US" sz="2400" b="1" u="sng" dirty="0">
                    <a:latin typeface="Times New Roman" panose="02020603050405020304" pitchFamily="18" charset="0"/>
                    <a:cs typeface="Times New Roman" panose="02020603050405020304" pitchFamily="18" charset="0"/>
                  </a:rPr>
                  <a:t>Displacement work</a:t>
                </a:r>
                <a:endParaRPr lang="en-IN" sz="2400" b="1" u="sng"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Sup>
                        <m:sSubSupPr>
                          <m:ctrlPr>
                            <a:rPr lang="en-IN"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1</m:t>
                          </m:r>
                        </m:sub>
                        <m:sup>
                          <m:r>
                            <a:rPr lang="en-US" i="1">
                              <a:latin typeface="Cambria Math" panose="02040503050406030204" pitchFamily="18" charset="0"/>
                            </a:rPr>
                            <m:t>2</m:t>
                          </m:r>
                        </m:sup>
                      </m:sSubSup>
                      <m:r>
                        <a:rPr lang="en-US" i="1">
                          <a:latin typeface="Cambria Math" panose="02040503050406030204" pitchFamily="18" charset="0"/>
                        </a:rPr>
                        <m:t>=</m:t>
                      </m:r>
                      <m:nary>
                        <m:naryPr>
                          <m:limLoc m:val="subSup"/>
                          <m:ctrlPr>
                            <a:rPr lang="en-IN" i="1">
                              <a:latin typeface="Cambria Math" panose="02040503050406030204" pitchFamily="18" charset="0"/>
                            </a:rPr>
                          </m:ctrlPr>
                        </m:naryPr>
                        <m:sub>
                          <m:r>
                            <a:rPr lang="en-US" i="1">
                              <a:latin typeface="Cambria Math" panose="02040503050406030204" pitchFamily="18" charset="0"/>
                            </a:rPr>
                            <m:t>1</m:t>
                          </m:r>
                        </m:sub>
                        <m:sup>
                          <m:r>
                            <a:rPr lang="en-US" i="1">
                              <a:latin typeface="Cambria Math" panose="02040503050406030204" pitchFamily="18" charset="0"/>
                            </a:rPr>
                            <m:t>2</m:t>
                          </m:r>
                        </m:sup>
                        <m:e>
                          <m:r>
                            <a:rPr lang="en-US" i="1">
                              <a:latin typeface="Cambria Math" panose="02040503050406030204" pitchFamily="18" charset="0"/>
                            </a:rPr>
                            <m:t>𝑃</m:t>
                          </m:r>
                          <m:r>
                            <a:rPr lang="en-US" i="1">
                              <a:latin typeface="Cambria Math" panose="02040503050406030204" pitchFamily="18" charset="0"/>
                            </a:rPr>
                            <m:t> </m:t>
                          </m:r>
                          <m:r>
                            <a:rPr lang="en-US" i="1">
                              <a:latin typeface="Cambria Math" panose="02040503050406030204" pitchFamily="18" charset="0"/>
                            </a:rPr>
                            <m:t>𝑑𝑣</m:t>
                          </m:r>
                        </m:e>
                      </m:nary>
                    </m:oMath>
                  </m:oMathPara>
                </a14:m>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r>
                <a:r>
                  <a:rPr lang="en-US" dirty="0" err="1">
                    <a:latin typeface="Times New Roman" panose="02020603050405020304" pitchFamily="18" charset="0"/>
                    <a:cs typeface="Times New Roman" panose="02020603050405020304" pitchFamily="18" charset="0"/>
                  </a:rPr>
                  <a:t>dw</a:t>
                </a:r>
                <a:r>
                  <a:rPr lang="en-US" dirty="0">
                    <a:latin typeface="Times New Roman" panose="02020603050405020304" pitchFamily="18" charset="0"/>
                    <a:cs typeface="Times New Roman" panose="02020603050405020304" pitchFamily="18" charset="0"/>
                  </a:rPr>
                  <a:t> 	= F dx</a:t>
                </a:r>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 P A dx</a:t>
                </a:r>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r>
                <a:r>
                  <a:rPr lang="en-US" dirty="0" err="1">
                    <a:latin typeface="Times New Roman" panose="02020603050405020304" pitchFamily="18" charset="0"/>
                    <a:cs typeface="Times New Roman" panose="02020603050405020304" pitchFamily="18" charset="0"/>
                  </a:rPr>
                  <a:t>dw</a:t>
                </a:r>
                <a:r>
                  <a:rPr lang="en-US" dirty="0">
                    <a:latin typeface="Times New Roman" panose="02020603050405020304" pitchFamily="18" charset="0"/>
                    <a:cs typeface="Times New Roman" panose="02020603050405020304" pitchFamily="18" charset="0"/>
                  </a:rPr>
                  <a:t>	= P dv</a:t>
                </a:r>
                <a:endParaRPr lang="en-IN"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Sup>
                        <m:sSubSupPr>
                          <m:ctrlPr>
                            <a:rPr lang="en-IN"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1</m:t>
                          </m:r>
                        </m:sub>
                        <m:sup>
                          <m:r>
                            <a:rPr lang="en-US" i="1">
                              <a:latin typeface="Cambria Math" panose="02040503050406030204" pitchFamily="18" charset="0"/>
                            </a:rPr>
                            <m:t>2</m:t>
                          </m:r>
                        </m:sup>
                      </m:sSubSup>
                      <m:r>
                        <a:rPr lang="en-US" i="1">
                          <a:latin typeface="Cambria Math" panose="02040503050406030204" pitchFamily="18" charset="0"/>
                        </a:rPr>
                        <m:t>=</m:t>
                      </m:r>
                      <m:nary>
                        <m:naryPr>
                          <m:limLoc m:val="subSup"/>
                          <m:ctrlPr>
                            <a:rPr lang="en-IN" i="1">
                              <a:latin typeface="Cambria Math" panose="02040503050406030204" pitchFamily="18" charset="0"/>
                            </a:rPr>
                          </m:ctrlPr>
                        </m:naryPr>
                        <m:sub>
                          <m:r>
                            <a:rPr lang="en-US" i="1">
                              <a:latin typeface="Cambria Math" panose="02040503050406030204" pitchFamily="18" charset="0"/>
                            </a:rPr>
                            <m:t>1</m:t>
                          </m:r>
                        </m:sub>
                        <m:sup>
                          <m:r>
                            <a:rPr lang="en-US" i="1">
                              <a:latin typeface="Cambria Math" panose="02040503050406030204" pitchFamily="18" charset="0"/>
                            </a:rPr>
                            <m:t>2</m:t>
                          </m:r>
                        </m:sup>
                        <m:e>
                          <m:r>
                            <a:rPr lang="en-US" i="1">
                              <a:latin typeface="Cambria Math" panose="02040503050406030204" pitchFamily="18" charset="0"/>
                            </a:rPr>
                            <m:t>𝑃</m:t>
                          </m:r>
                          <m:r>
                            <a:rPr lang="en-US" i="1">
                              <a:latin typeface="Cambria Math" panose="02040503050406030204" pitchFamily="18" charset="0"/>
                            </a:rPr>
                            <m:t> </m:t>
                          </m:r>
                          <m:r>
                            <a:rPr lang="en-US" i="1">
                              <a:latin typeface="Cambria Math" panose="02040503050406030204" pitchFamily="18" charset="0"/>
                            </a:rPr>
                            <m:t>𝑑𝑣</m:t>
                          </m:r>
                        </m:e>
                      </m:nary>
                    </m:oMath>
                  </m:oMathPara>
                </a14:m>
                <a:endParaRPr lang="en-IN" dirty="0">
                  <a:latin typeface="Times New Roman" panose="02020603050405020304" pitchFamily="18" charset="0"/>
                  <a:cs typeface="Times New Roman" panose="02020603050405020304" pitchFamily="18" charset="0"/>
                </a:endParaRPr>
              </a:p>
              <a:p>
                <a:pPr marL="0" indent="0">
                  <a:lnSpc>
                    <a:spcPct val="107000"/>
                  </a:lnSpc>
                  <a:spcAft>
                    <a:spcPts val="800"/>
                  </a:spcAft>
                  <a:buNone/>
                </a:pP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xmlns="" xmlns:a14="http://schemas.microsoft.com/office/drawing/2010/main" id="{9199CC79-1419-FFDA-3C0B-E64F170D0C90}"/>
                  </a:ext>
                </a:extLst>
              </p:cNvPr>
              <p:cNvSpPr>
                <a:spLocks noGrp="1" noRot="1" noChangeAspect="1" noMove="1" noResize="1" noEditPoints="1" noAdjustHandles="1" noChangeArrowheads="1" noChangeShapeType="1" noTextEdit="1"/>
              </p:cNvSpPr>
              <p:nvPr>
                <p:ph sz="half" idx="1"/>
              </p:nvPr>
            </p:nvSpPr>
            <p:spPr>
              <a:blipFill>
                <a:blip r:embed="rId2"/>
                <a:stretch>
                  <a:fillRect l="-1294" t="-2101"/>
                </a:stretch>
              </a:blipFill>
            </p:spPr>
            <p:txBody>
              <a:bodyPr/>
              <a:lstStyle/>
              <a:p>
                <a:r>
                  <a:rPr lang="en-IN">
                    <a:noFill/>
                  </a:rPr>
                  <a:t> </a:t>
                </a:r>
              </a:p>
            </p:txBody>
          </p:sp>
        </mc:Fallback>
      </mc:AlternateContent>
      <mc:AlternateContent xmlns:mc="http://schemas.openxmlformats.org/markup-compatibility/2006">
        <mc:Choice xmlns:a14="http://schemas.microsoft.com/office/drawing/2010/main" xmlns="" Requires="a14">
          <p:sp>
            <p:nvSpPr>
              <p:cNvPr id="4" name="Content Placeholder 3">
                <a:extLst>
                  <a:ext uri="{FF2B5EF4-FFF2-40B4-BE49-F238E27FC236}">
                    <a16:creationId xmlns:a16="http://schemas.microsoft.com/office/drawing/2014/main" id="{21114AC3-85A5-9258-36D2-5A8BA881024A}"/>
                  </a:ext>
                </a:extLst>
              </p:cNvPr>
              <p:cNvSpPr>
                <a:spLocks noGrp="1"/>
              </p:cNvSpPr>
              <p:nvPr>
                <p:ph sz="half" idx="2"/>
              </p:nvPr>
            </p:nvSpPr>
            <p:spPr/>
            <p:txBody>
              <a:bodyPr>
                <a:noAutofit/>
              </a:bodyPr>
              <a:lstStyle/>
              <a:p>
                <a:pPr marL="0" indent="0">
                  <a:buNone/>
                </a:pPr>
                <a:r>
                  <a:rPr lang="en-US" sz="2000" b="1" u="sng" dirty="0">
                    <a:latin typeface="Times New Roman" panose="02020603050405020304" pitchFamily="18" charset="0"/>
                    <a:cs typeface="Times New Roman" panose="02020603050405020304" pitchFamily="18" charset="0"/>
                  </a:rPr>
                  <a:t>Flow work</a:t>
                </a:r>
                <a:endParaRPr lang="en-IN" sz="2000" b="1" u="sng"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Piston is force to move the element</a:t>
                </a:r>
                <a:endParaRPr lang="en-IN" sz="200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IN" sz="2000" i="1">
                              <a:latin typeface="Cambria Math" panose="02040503050406030204" pitchFamily="18" charset="0"/>
                            </a:rPr>
                          </m:ctrlPr>
                        </m:fPr>
                        <m:num>
                          <m:r>
                            <a:rPr lang="en-US" sz="2000" i="1">
                              <a:latin typeface="Cambria Math" panose="02040503050406030204" pitchFamily="18" charset="0"/>
                            </a:rPr>
                            <m:t>𝛿</m:t>
                          </m:r>
                          <m:r>
                            <a:rPr lang="en-US" sz="2000" i="1">
                              <a:latin typeface="Cambria Math" panose="02040503050406030204" pitchFamily="18" charset="0"/>
                            </a:rPr>
                            <m:t>𝑤</m:t>
                          </m:r>
                        </m:num>
                        <m:den>
                          <m:r>
                            <a:rPr lang="en-US" sz="2000" i="1">
                              <a:latin typeface="Cambria Math" panose="02040503050406030204" pitchFamily="18" charset="0"/>
                            </a:rPr>
                            <m:t>𝛿</m:t>
                          </m:r>
                          <m:r>
                            <a:rPr lang="en-US" sz="2000" i="1">
                              <a:latin typeface="Cambria Math" panose="02040503050406030204" pitchFamily="18" charset="0"/>
                            </a:rPr>
                            <m:t>𝑚</m:t>
                          </m:r>
                        </m:den>
                      </m:f>
                      <m:r>
                        <a:rPr lang="en-US" sz="2000" i="1">
                          <a:latin typeface="Cambria Math" panose="02040503050406030204" pitchFamily="18" charset="0"/>
                        </a:rPr>
                        <m:t>=</m:t>
                      </m:r>
                      <m:r>
                        <a:rPr lang="en-US" sz="2000" i="1">
                          <a:latin typeface="Cambria Math" panose="02040503050406030204" pitchFamily="18" charset="0"/>
                        </a:rPr>
                        <m:t>𝑃𝐴</m:t>
                      </m:r>
                      <m:f>
                        <m:fPr>
                          <m:ctrlPr>
                            <a:rPr lang="en-IN" sz="2000" i="1">
                              <a:latin typeface="Cambria Math" panose="02040503050406030204" pitchFamily="18" charset="0"/>
                            </a:rPr>
                          </m:ctrlPr>
                        </m:fPr>
                        <m:num>
                          <m:r>
                            <a:rPr lang="en-US" sz="2000" i="1">
                              <a:latin typeface="Cambria Math" panose="02040503050406030204" pitchFamily="18" charset="0"/>
                            </a:rPr>
                            <m:t>𝑑𝑥</m:t>
                          </m:r>
                        </m:num>
                        <m:den>
                          <m:r>
                            <a:rPr lang="en-US" sz="2000" i="1">
                              <a:latin typeface="Cambria Math" panose="02040503050406030204" pitchFamily="18" charset="0"/>
                            </a:rPr>
                            <m:t>𝜕</m:t>
                          </m:r>
                          <m:r>
                            <a:rPr lang="en-US" sz="2000" i="1">
                              <a:latin typeface="Cambria Math" panose="02040503050406030204" pitchFamily="18" charset="0"/>
                            </a:rPr>
                            <m:t>𝑚</m:t>
                          </m:r>
                        </m:den>
                      </m:f>
                      <m:r>
                        <a:rPr lang="en-US" sz="2000" i="1">
                          <a:latin typeface="Cambria Math" panose="02040503050406030204" pitchFamily="18" charset="0"/>
                        </a:rPr>
                        <m:t>=</m:t>
                      </m:r>
                      <m:f>
                        <m:fPr>
                          <m:ctrlPr>
                            <a:rPr lang="en-IN" sz="2000" i="1">
                              <a:latin typeface="Cambria Math" panose="02040503050406030204" pitchFamily="18" charset="0"/>
                            </a:rPr>
                          </m:ctrlPr>
                        </m:fPr>
                        <m:num>
                          <m:r>
                            <m:rPr>
                              <m:sty m:val="p"/>
                            </m:rPr>
                            <a:rPr lang="en-US" sz="2000">
                              <a:latin typeface="Cambria Math" panose="02040503050406030204" pitchFamily="18" charset="0"/>
                            </a:rPr>
                            <m:t>P</m:t>
                          </m:r>
                          <m:r>
                            <a:rPr lang="en-US" sz="2000">
                              <a:latin typeface="Cambria Math" panose="02040503050406030204" pitchFamily="18" charset="0"/>
                            </a:rPr>
                            <m:t> </m:t>
                          </m:r>
                          <m:r>
                            <m:rPr>
                              <m:sty m:val="p"/>
                            </m:rPr>
                            <a:rPr lang="en-US" sz="2000">
                              <a:latin typeface="Cambria Math" panose="02040503050406030204" pitchFamily="18" charset="0"/>
                            </a:rPr>
                            <m:t>dv</m:t>
                          </m:r>
                        </m:num>
                        <m:den>
                          <m:r>
                            <a:rPr lang="en-US" sz="2000" i="1">
                              <a:latin typeface="Cambria Math" panose="02040503050406030204" pitchFamily="18" charset="0"/>
                            </a:rPr>
                            <m:t>𝜕</m:t>
                          </m:r>
                          <m:r>
                            <a:rPr lang="en-US" sz="2000" i="1">
                              <a:latin typeface="Cambria Math" panose="02040503050406030204" pitchFamily="18" charset="0"/>
                            </a:rPr>
                            <m:t>𝑚</m:t>
                          </m:r>
                        </m:den>
                      </m:f>
                    </m:oMath>
                  </m:oMathPara>
                </a14:m>
                <a:endParaRPr lang="en-IN" sz="200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IN" sz="2000" i="1">
                              <a:latin typeface="Cambria Math" panose="02040503050406030204" pitchFamily="18" charset="0"/>
                            </a:rPr>
                          </m:ctrlPr>
                        </m:fPr>
                        <m:num>
                          <m:r>
                            <a:rPr lang="en-US" sz="2000" i="1">
                              <a:latin typeface="Cambria Math" panose="02040503050406030204" pitchFamily="18" charset="0"/>
                            </a:rPr>
                            <m:t>𝛿</m:t>
                          </m:r>
                          <m:r>
                            <a:rPr lang="en-US" sz="2000" i="1">
                              <a:latin typeface="Cambria Math" panose="02040503050406030204" pitchFamily="18" charset="0"/>
                            </a:rPr>
                            <m:t>𝑤</m:t>
                          </m:r>
                        </m:num>
                        <m:den>
                          <m:r>
                            <a:rPr lang="en-US" sz="2000" i="1">
                              <a:latin typeface="Cambria Math" panose="02040503050406030204" pitchFamily="18" charset="0"/>
                            </a:rPr>
                            <m:t>𝛿</m:t>
                          </m:r>
                          <m:r>
                            <a:rPr lang="en-US" sz="2000" i="1">
                              <a:latin typeface="Cambria Math" panose="02040503050406030204" pitchFamily="18" charset="0"/>
                            </a:rPr>
                            <m:t>𝑚</m:t>
                          </m:r>
                        </m:den>
                      </m:f>
                      <m:r>
                        <a:rPr lang="en-US" sz="2000" i="1">
                          <a:latin typeface="Cambria Math" panose="02040503050406030204" pitchFamily="18" charset="0"/>
                        </a:rPr>
                        <m:t>=</m:t>
                      </m:r>
                      <m:f>
                        <m:fPr>
                          <m:ctrlPr>
                            <a:rPr lang="en-IN" sz="2000" i="1">
                              <a:latin typeface="Cambria Math" panose="02040503050406030204" pitchFamily="18" charset="0"/>
                            </a:rPr>
                          </m:ctrlPr>
                        </m:fPr>
                        <m:num>
                          <m:r>
                            <a:rPr lang="en-US" sz="2000" i="1">
                              <a:latin typeface="Cambria Math" panose="02040503050406030204" pitchFamily="18" charset="0"/>
                            </a:rPr>
                            <m:t>𝑃𝐴</m:t>
                          </m:r>
                          <m:r>
                            <a:rPr lang="en-US" sz="2000" i="1">
                              <a:latin typeface="Cambria Math" panose="02040503050406030204" pitchFamily="18" charset="0"/>
                            </a:rPr>
                            <m:t> </m:t>
                          </m:r>
                          <m:r>
                            <a:rPr lang="en-US" sz="2000" i="1">
                              <a:latin typeface="Cambria Math" panose="02040503050406030204" pitchFamily="18" charset="0"/>
                            </a:rPr>
                            <m:t>𝑑𝑥</m:t>
                          </m:r>
                        </m:num>
                        <m:den>
                          <m:r>
                            <a:rPr lang="en-US" sz="2000" i="1">
                              <a:latin typeface="Cambria Math" panose="02040503050406030204" pitchFamily="18" charset="0"/>
                            </a:rPr>
                            <m:t>𝜌</m:t>
                          </m:r>
                          <m:r>
                            <a:rPr lang="en-US" sz="2000" i="1">
                              <a:latin typeface="Cambria Math" panose="02040503050406030204" pitchFamily="18" charset="0"/>
                            </a:rPr>
                            <m:t>𝐴</m:t>
                          </m:r>
                          <m:r>
                            <a:rPr lang="en-US" sz="2000" i="1">
                              <a:latin typeface="Cambria Math" panose="02040503050406030204" pitchFamily="18" charset="0"/>
                            </a:rPr>
                            <m:t> </m:t>
                          </m:r>
                          <m:r>
                            <a:rPr lang="en-US" sz="2000" i="1">
                              <a:latin typeface="Cambria Math" panose="02040503050406030204" pitchFamily="18" charset="0"/>
                            </a:rPr>
                            <m:t>𝑑𝑥</m:t>
                          </m:r>
                        </m:den>
                      </m:f>
                      <m:r>
                        <a:rPr lang="en-US" sz="2000" i="1">
                          <a:latin typeface="Cambria Math" panose="02040503050406030204" pitchFamily="18" charset="0"/>
                        </a:rPr>
                        <m:t>=</m:t>
                      </m:r>
                      <m:f>
                        <m:fPr>
                          <m:ctrlPr>
                            <a:rPr lang="en-IN" sz="2000" i="1">
                              <a:latin typeface="Cambria Math" panose="02040503050406030204" pitchFamily="18" charset="0"/>
                            </a:rPr>
                          </m:ctrlPr>
                        </m:fPr>
                        <m:num>
                          <m:r>
                            <a:rPr lang="en-US" sz="2000" i="1">
                              <a:latin typeface="Cambria Math" panose="02040503050406030204" pitchFamily="18" charset="0"/>
                            </a:rPr>
                            <m:t>𝑃</m:t>
                          </m:r>
                        </m:num>
                        <m:den>
                          <m:r>
                            <a:rPr lang="en-US" sz="2000" i="1">
                              <a:latin typeface="Cambria Math" panose="02040503050406030204" pitchFamily="18" charset="0"/>
                            </a:rPr>
                            <m:t>𝜌</m:t>
                          </m:r>
                        </m:den>
                      </m:f>
                    </m:oMath>
                  </m:oMathPara>
                </a14:m>
                <a:endParaRPr lang="en-IN" sz="200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IN" sz="2000" i="1">
                              <a:latin typeface="Cambria Math" panose="02040503050406030204" pitchFamily="18" charset="0"/>
                            </a:rPr>
                          </m:ctrlPr>
                        </m:fPr>
                        <m:num>
                          <m:r>
                            <a:rPr lang="en-US" sz="2000" i="1">
                              <a:latin typeface="Cambria Math" panose="02040503050406030204" pitchFamily="18" charset="0"/>
                            </a:rPr>
                            <m:t>𝛿</m:t>
                          </m:r>
                          <m:r>
                            <a:rPr lang="en-US" sz="2000" i="1">
                              <a:latin typeface="Cambria Math" panose="02040503050406030204" pitchFamily="18" charset="0"/>
                            </a:rPr>
                            <m:t>𝑤</m:t>
                          </m:r>
                        </m:num>
                        <m:den>
                          <m:r>
                            <a:rPr lang="en-US" sz="2000" i="1">
                              <a:latin typeface="Cambria Math" panose="02040503050406030204" pitchFamily="18" charset="0"/>
                            </a:rPr>
                            <m:t>𝛿</m:t>
                          </m:r>
                          <m:r>
                            <a:rPr lang="en-US" sz="2000" i="1">
                              <a:latin typeface="Cambria Math" panose="02040503050406030204" pitchFamily="18" charset="0"/>
                            </a:rPr>
                            <m:t>𝑚</m:t>
                          </m:r>
                        </m:den>
                      </m:f>
                      <m:r>
                        <a:rPr lang="en-US" sz="2000" i="1">
                          <a:latin typeface="Cambria Math" panose="02040503050406030204" pitchFamily="18" charset="0"/>
                        </a:rPr>
                        <m:t>=</m:t>
                      </m:r>
                      <m:r>
                        <a:rPr lang="en-US" sz="2000" i="1">
                          <a:latin typeface="Cambria Math" panose="02040503050406030204" pitchFamily="18" charset="0"/>
                        </a:rPr>
                        <m:t>𝑃𝑣</m:t>
                      </m:r>
                    </m:oMath>
                  </m:oMathPara>
                </a14:m>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where </a:t>
                </a:r>
                <a14:m>
                  <m:oMath xmlns:m="http://schemas.openxmlformats.org/officeDocument/2006/math">
                    <m:f>
                      <m:fPr>
                        <m:ctrlPr>
                          <a:rPr lang="en-IN"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𝜌</m:t>
                        </m:r>
                      </m:den>
                    </m:f>
                    <m:r>
                      <a:rPr lang="en-US" sz="2000" i="1">
                        <a:latin typeface="Cambria Math" panose="02040503050406030204" pitchFamily="18" charset="0"/>
                      </a:rPr>
                      <m:t>=</m:t>
                    </m:r>
                  </m:oMath>
                </a14:m>
                <a:r>
                  <a:rPr lang="en-US" sz="2000" dirty="0">
                    <a:latin typeface="Times New Roman" panose="02020603050405020304" pitchFamily="18" charset="0"/>
                    <a:cs typeface="Times New Roman" panose="02020603050405020304" pitchFamily="18" charset="0"/>
                  </a:rPr>
                  <a:t> Specific volume</a:t>
                </a:r>
                <a:endParaRPr lang="en-IN" sz="200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IN" sz="2000" i="1">
                              <a:latin typeface="Cambria Math" panose="02040503050406030204" pitchFamily="18" charset="0"/>
                            </a:rPr>
                          </m:ctrlPr>
                        </m:fPr>
                        <m:num>
                          <m:r>
                            <a:rPr lang="en-US" sz="2000" i="1">
                              <a:latin typeface="Cambria Math" panose="02040503050406030204" pitchFamily="18" charset="0"/>
                            </a:rPr>
                            <m:t>𝐹𝑙𝑜𝑤</m:t>
                          </m:r>
                          <m:r>
                            <a:rPr lang="en-US" sz="2000" i="1">
                              <a:latin typeface="Cambria Math" panose="02040503050406030204" pitchFamily="18" charset="0"/>
                            </a:rPr>
                            <m:t> </m:t>
                          </m:r>
                          <m:r>
                            <a:rPr lang="en-US" sz="2000" i="1">
                              <a:latin typeface="Cambria Math" panose="02040503050406030204" pitchFamily="18" charset="0"/>
                            </a:rPr>
                            <m:t>𝑤𝑜𝑟𝑘</m:t>
                          </m:r>
                        </m:num>
                        <m:den>
                          <m:r>
                            <a:rPr lang="en-US" sz="2000" i="1">
                              <a:latin typeface="Cambria Math" panose="02040503050406030204" pitchFamily="18" charset="0"/>
                            </a:rPr>
                            <m:t>𝑈𝑛𝑖𝑡</m:t>
                          </m:r>
                          <m:r>
                            <a:rPr lang="en-US" sz="2000" i="1">
                              <a:latin typeface="Cambria Math" panose="02040503050406030204" pitchFamily="18" charset="0"/>
                            </a:rPr>
                            <m:t> </m:t>
                          </m:r>
                          <m:r>
                            <a:rPr lang="en-US" sz="2000" i="1">
                              <a:latin typeface="Cambria Math" panose="02040503050406030204" pitchFamily="18" charset="0"/>
                            </a:rPr>
                            <m:t>𝑚𝑎𝑠𝑠</m:t>
                          </m:r>
                        </m:den>
                      </m:f>
                      <m:r>
                        <a:rPr lang="en-US" sz="2000" i="1">
                          <a:latin typeface="Cambria Math" panose="02040503050406030204" pitchFamily="18" charset="0"/>
                        </a:rPr>
                        <m:t>=</m:t>
                      </m:r>
                      <m:r>
                        <a:rPr lang="en-US" sz="2000" i="1">
                          <a:latin typeface="Cambria Math" panose="02040503050406030204" pitchFamily="18" charset="0"/>
                        </a:rPr>
                        <m:t>𝑃𝑣</m:t>
                      </m:r>
                    </m:oMath>
                  </m:oMathPara>
                </a14:m>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Pressure energy / Store energy</a:t>
                </a:r>
                <a:endParaRPr lang="en-IN" sz="2000" dirty="0">
                  <a:latin typeface="Times New Roman" panose="02020603050405020304" pitchFamily="18" charset="0"/>
                  <a:cs typeface="Times New Roman" panose="02020603050405020304" pitchFamily="18" charset="0"/>
                </a:endParaRPr>
              </a:p>
              <a:p>
                <a:pPr marL="0" indent="0">
                  <a:lnSpc>
                    <a:spcPct val="107000"/>
                  </a:lnSpc>
                  <a:spcAft>
                    <a:spcPts val="800"/>
                  </a:spcAft>
                  <a:buNone/>
                </a:pP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p:sp>
            <p:nvSpPr>
              <p:cNvPr id="4" name="Content Placeholder 3">
                <a:extLst>
                  <a:ext uri="{FF2B5EF4-FFF2-40B4-BE49-F238E27FC236}">
                    <a16:creationId xmlns:a16="http://schemas.microsoft.com/office/drawing/2014/main" xmlns="" xmlns:a14="http://schemas.microsoft.com/office/drawing/2010/main" id="{21114AC3-85A5-9258-36D2-5A8BA881024A}"/>
                  </a:ext>
                </a:extLst>
              </p:cNvPr>
              <p:cNvSpPr>
                <a:spLocks noGrp="1" noRot="1" noChangeAspect="1" noMove="1" noResize="1" noEditPoints="1" noAdjustHandles="1" noChangeArrowheads="1" noChangeShapeType="1" noTextEdit="1"/>
              </p:cNvSpPr>
              <p:nvPr>
                <p:ph sz="half" idx="2"/>
              </p:nvPr>
            </p:nvSpPr>
            <p:spPr>
              <a:blipFill>
                <a:blip r:embed="rId3"/>
                <a:stretch>
                  <a:fillRect l="-1294" t="-1401"/>
                </a:stretch>
              </a:blipFill>
            </p:spPr>
            <p:txBody>
              <a:bodyPr/>
              <a:lstStyle/>
              <a:p>
                <a:r>
                  <a:rPr lang="en-IN">
                    <a:noFill/>
                  </a:rPr>
                  <a:t> </a:t>
                </a:r>
              </a:p>
            </p:txBody>
          </p:sp>
        </mc:Fallback>
      </mc:AlternateContent>
    </p:spTree>
    <p:extLst>
      <p:ext uri="{BB962C8B-B14F-4D97-AF65-F5344CB8AC3E}">
        <p14:creationId xmlns:p14="http://schemas.microsoft.com/office/powerpoint/2010/main" xmlns="" val="225517340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A9F645-B85C-E58B-233C-8797BC4F692E}"/>
              </a:ext>
            </a:extLst>
          </p:cNvPr>
          <p:cNvSpPr>
            <a:spLocks noGrp="1"/>
          </p:cNvSpPr>
          <p:nvPr>
            <p:ph type="title"/>
          </p:nvPr>
        </p:nvSpPr>
        <p:spPr/>
        <p:txBody>
          <a:bodyPr>
            <a:normAutofit/>
          </a:bodyPr>
          <a:lstStyle/>
          <a:p>
            <a:endParaRPr lang="en-IN" sz="66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xmlns="" Requires="a14">
          <p:sp>
            <p:nvSpPr>
              <p:cNvPr id="3" name="Content Placeholder 2">
                <a:extLst>
                  <a:ext uri="{FF2B5EF4-FFF2-40B4-BE49-F238E27FC236}">
                    <a16:creationId xmlns:a16="http://schemas.microsoft.com/office/drawing/2014/main" id="{9199CC79-1419-FFDA-3C0B-E64F170D0C90}"/>
                  </a:ext>
                </a:extLst>
              </p:cNvPr>
              <p:cNvSpPr>
                <a:spLocks noGrp="1"/>
              </p:cNvSpPr>
              <p:nvPr>
                <p:ph sz="half" idx="1"/>
              </p:nvPr>
            </p:nvSpPr>
            <p:spPr/>
            <p:txBody>
              <a:bodyPr>
                <a:noAutofit/>
              </a:bodyPr>
              <a:lstStyle/>
              <a:p>
                <a:pPr marL="0" indent="0">
                  <a:buNone/>
                </a:pPr>
                <a:r>
                  <a:rPr lang="en-US" sz="1800" b="1" u="sng" dirty="0">
                    <a:latin typeface="Times New Roman" panose="02020603050405020304" pitchFamily="18" charset="0"/>
                    <a:cs typeface="Times New Roman" panose="02020603050405020304" pitchFamily="18" charset="0"/>
                  </a:rPr>
                  <a:t>Electrical work</a:t>
                </a:r>
                <a:endParaRPr lang="en-IN" sz="1800" b="1" u="sng"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rPr>
                  <a:t> </a:t>
                </a:r>
                <a:endParaRPr lang="en-IN"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rPr>
                  <a:t> </a:t>
                </a:r>
                <a:endParaRPr lang="en-IN"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rPr>
                  <a:t> </a:t>
                </a:r>
                <a:endParaRPr lang="en-IN" sz="1400" dirty="0">
                  <a:latin typeface="Times New Roman" panose="02020603050405020304" pitchFamily="18" charset="0"/>
                  <a:cs typeface="Times New Roman" panose="02020603050405020304" pitchFamily="18" charset="0"/>
                </a:endParaRPr>
              </a:p>
              <a:p>
                <a:pPr marL="0" lvl="0" indent="0">
                  <a:buNone/>
                </a:pPr>
                <a:r>
                  <a:rPr lang="en-US" sz="1400" dirty="0">
                    <a:latin typeface="Times New Roman" panose="02020603050405020304" pitchFamily="18" charset="0"/>
                    <a:cs typeface="Times New Roman" panose="02020603050405020304" pitchFamily="18" charset="0"/>
                  </a:rPr>
                  <a:t>Current flows through register is a system</a:t>
                </a:r>
                <a:endParaRPr lang="en-IN" sz="1400" dirty="0">
                  <a:latin typeface="Times New Roman" panose="02020603050405020304" pitchFamily="18" charset="0"/>
                  <a:cs typeface="Times New Roman" panose="02020603050405020304" pitchFamily="18" charset="0"/>
                </a:endParaRPr>
              </a:p>
              <a:p>
                <a:pPr marL="0" lvl="0" indent="0">
                  <a:buNone/>
                </a:pPr>
                <a:r>
                  <a:rPr lang="en-US" sz="1400" dirty="0">
                    <a:latin typeface="Times New Roman" panose="02020603050405020304" pitchFamily="18" charset="0"/>
                    <a:cs typeface="Times New Roman" panose="02020603050405020304" pitchFamily="18" charset="0"/>
                  </a:rPr>
                  <a:t>Current can drive the motor</a:t>
                </a:r>
                <a:endParaRPr lang="en-IN" sz="1400" dirty="0">
                  <a:latin typeface="Times New Roman" panose="02020603050405020304" pitchFamily="18" charset="0"/>
                  <a:cs typeface="Times New Roman" panose="02020603050405020304" pitchFamily="18" charset="0"/>
                </a:endParaRPr>
              </a:p>
              <a:p>
                <a:pPr marL="0" lvl="0" indent="0">
                  <a:buNone/>
                </a:pPr>
                <a:r>
                  <a:rPr lang="en-US" sz="1400" dirty="0">
                    <a:latin typeface="Times New Roman" panose="02020603050405020304" pitchFamily="18" charset="0"/>
                    <a:cs typeface="Times New Roman" panose="02020603050405020304" pitchFamily="18" charset="0"/>
                  </a:rPr>
                  <a:t>Motor can raise the weight</a:t>
                </a:r>
                <a:endParaRPr lang="en-IN" sz="1400" dirty="0">
                  <a:latin typeface="Times New Roman" panose="02020603050405020304" pitchFamily="18" charset="0"/>
                  <a:cs typeface="Times New Roman" panose="02020603050405020304" pitchFamily="18" charset="0"/>
                </a:endParaRPr>
              </a:p>
              <a:p>
                <a:pPr marL="0" lvl="0" indent="0">
                  <a:buNone/>
                </a:pPr>
                <a:r>
                  <a:rPr lang="en-US" sz="1400" dirty="0">
                    <a:latin typeface="Times New Roman" panose="02020603050405020304" pitchFamily="18" charset="0"/>
                    <a:cs typeface="Times New Roman" panose="02020603050405020304" pitchFamily="18" charset="0"/>
                  </a:rPr>
                  <a:t>Work transfer into system</a:t>
                </a:r>
                <a:endParaRPr lang="en-IN" sz="140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sz="1400" i="1">
                          <a:latin typeface="Cambria Math" panose="02040503050406030204" pitchFamily="18" charset="0"/>
                        </a:rPr>
                        <m:t>𝐼</m:t>
                      </m:r>
                      <m:r>
                        <a:rPr lang="en-US" sz="1400" i="1">
                          <a:latin typeface="Cambria Math" panose="02040503050406030204" pitchFamily="18" charset="0"/>
                        </a:rPr>
                        <m:t>=</m:t>
                      </m:r>
                      <m:f>
                        <m:fPr>
                          <m:ctrlPr>
                            <a:rPr lang="en-IN" sz="1400" i="1">
                              <a:latin typeface="Cambria Math" panose="02040503050406030204" pitchFamily="18" charset="0"/>
                            </a:rPr>
                          </m:ctrlPr>
                        </m:fPr>
                        <m:num>
                          <m:r>
                            <a:rPr lang="en-US" sz="1400" i="1">
                              <a:latin typeface="Cambria Math" panose="02040503050406030204" pitchFamily="18" charset="0"/>
                            </a:rPr>
                            <m:t>𝑑𝑐</m:t>
                          </m:r>
                        </m:num>
                        <m:den>
                          <m:r>
                            <a:rPr lang="en-US" sz="1400" i="1">
                              <a:latin typeface="Cambria Math" panose="02040503050406030204" pitchFamily="18" charset="0"/>
                            </a:rPr>
                            <m:t>𝑑𝑡</m:t>
                          </m:r>
                        </m:den>
                      </m:f>
                    </m:oMath>
                  </m:oMathPara>
                </a14:m>
                <a:endParaRPr lang="en-IN" sz="140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sz="1400" i="1">
                          <a:latin typeface="Cambria Math" panose="02040503050406030204" pitchFamily="18" charset="0"/>
                        </a:rPr>
                        <m:t>𝑑𝑤</m:t>
                      </m:r>
                      <m:r>
                        <a:rPr lang="en-US" sz="1400" i="1">
                          <a:latin typeface="Cambria Math" panose="02040503050406030204" pitchFamily="18" charset="0"/>
                        </a:rPr>
                        <m:t>=</m:t>
                      </m:r>
                      <m:r>
                        <a:rPr lang="en-US" sz="1400" i="1">
                          <a:latin typeface="Cambria Math" panose="02040503050406030204" pitchFamily="18" charset="0"/>
                        </a:rPr>
                        <m:t>𝑣</m:t>
                      </m:r>
                      <m:r>
                        <a:rPr lang="en-US" sz="1400" i="1">
                          <a:latin typeface="Cambria Math" panose="02040503050406030204" pitchFamily="18" charset="0"/>
                        </a:rPr>
                        <m:t> </m:t>
                      </m:r>
                      <m:r>
                        <a:rPr lang="en-US" sz="1400" i="1">
                          <a:latin typeface="Cambria Math" panose="02040503050406030204" pitchFamily="18" charset="0"/>
                        </a:rPr>
                        <m:t>𝑑𝑐</m:t>
                      </m:r>
                    </m:oMath>
                  </m:oMathPara>
                </a14:m>
                <a:endParaRPr lang="en-IN" sz="140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sz="1400" i="1">
                          <a:latin typeface="Cambria Math" panose="02040503050406030204" pitchFamily="18" charset="0"/>
                        </a:rPr>
                        <m:t>𝑑𝑤</m:t>
                      </m:r>
                      <m:r>
                        <a:rPr lang="en-US" sz="1400" i="1">
                          <a:latin typeface="Cambria Math" panose="02040503050406030204" pitchFamily="18" charset="0"/>
                        </a:rPr>
                        <m:t>=</m:t>
                      </m:r>
                      <m:r>
                        <a:rPr lang="en-US" sz="1400" i="1">
                          <a:latin typeface="Cambria Math" panose="02040503050406030204" pitchFamily="18" charset="0"/>
                        </a:rPr>
                        <m:t>𝑣</m:t>
                      </m:r>
                      <m:r>
                        <a:rPr lang="en-US" sz="1400" i="1">
                          <a:latin typeface="Cambria Math" panose="02040503050406030204" pitchFamily="18" charset="0"/>
                        </a:rPr>
                        <m:t> </m:t>
                      </m:r>
                      <m:r>
                        <a:rPr lang="en-US" sz="1400" i="1">
                          <a:latin typeface="Cambria Math" panose="02040503050406030204" pitchFamily="18" charset="0"/>
                        </a:rPr>
                        <m:t>𝐼</m:t>
                      </m:r>
                      <m:r>
                        <a:rPr lang="en-US" sz="1400" i="1">
                          <a:latin typeface="Cambria Math" panose="02040503050406030204" pitchFamily="18" charset="0"/>
                        </a:rPr>
                        <m:t> </m:t>
                      </m:r>
                      <m:r>
                        <a:rPr lang="en-US" sz="1400" i="1">
                          <a:latin typeface="Cambria Math" panose="02040503050406030204" pitchFamily="18" charset="0"/>
                        </a:rPr>
                        <m:t>𝑑𝑡</m:t>
                      </m:r>
                    </m:oMath>
                  </m:oMathPara>
                </a14:m>
                <a:endParaRPr lang="en-IN" sz="140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sz="1400" i="1">
                          <a:latin typeface="Cambria Math" panose="02040503050406030204" pitchFamily="18" charset="0"/>
                        </a:rPr>
                        <m:t>𝑊</m:t>
                      </m:r>
                      <m:r>
                        <a:rPr lang="en-US" sz="1400" i="1">
                          <a:latin typeface="Cambria Math" panose="02040503050406030204" pitchFamily="18" charset="0"/>
                        </a:rPr>
                        <m:t>=</m:t>
                      </m:r>
                      <m:r>
                        <a:rPr lang="en-US" sz="1400" i="1">
                          <a:latin typeface="Cambria Math" panose="02040503050406030204" pitchFamily="18" charset="0"/>
                        </a:rPr>
                        <m:t>𝑉𝐼</m:t>
                      </m:r>
                      <m:r>
                        <a:rPr lang="en-US" sz="1400" i="1">
                          <a:latin typeface="Cambria Math" panose="02040503050406030204" pitchFamily="18" charset="0"/>
                        </a:rPr>
                        <m:t> </m:t>
                      </m:r>
                      <m:r>
                        <a:rPr lang="en-US" sz="1400" i="1">
                          <a:latin typeface="Cambria Math" panose="02040503050406030204" pitchFamily="18" charset="0"/>
                        </a:rPr>
                        <m:t>𝑑𝑡</m:t>
                      </m:r>
                    </m:oMath>
                  </m:oMathPara>
                </a14:m>
                <a:endParaRPr lang="en-IN"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rPr>
                  <a:t>W = VI (Rate of change)</a:t>
                </a:r>
                <a:endParaRPr lang="en-IN"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rPr>
                  <a:t>Where c </a:t>
                </a:r>
                <a:r>
                  <a:rPr lang="en-US" sz="1400" dirty="0">
                    <a:latin typeface="Times New Roman" panose="02020603050405020304" pitchFamily="18" charset="0"/>
                    <a:cs typeface="Times New Roman" panose="02020603050405020304" pitchFamily="18" charset="0"/>
                    <a:sym typeface="Wingdings" panose="05000000000000000000" pitchFamily="2" charset="2"/>
                  </a:rPr>
                  <a:t></a:t>
                </a:r>
                <a:r>
                  <a:rPr lang="en-US" sz="1400" dirty="0">
                    <a:latin typeface="Times New Roman" panose="02020603050405020304" pitchFamily="18" charset="0"/>
                    <a:cs typeface="Times New Roman" panose="02020603050405020304" pitchFamily="18" charset="0"/>
                  </a:rPr>
                  <a:t> change in coulomb’s</a:t>
                </a:r>
                <a:endParaRPr lang="en-IN"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rPr>
                  <a:t>	t </a:t>
                </a:r>
                <a:r>
                  <a:rPr lang="en-US" sz="1400" dirty="0">
                    <a:latin typeface="Times New Roman" panose="02020603050405020304" pitchFamily="18" charset="0"/>
                    <a:cs typeface="Times New Roman" panose="02020603050405020304" pitchFamily="18" charset="0"/>
                    <a:sym typeface="Wingdings" panose="05000000000000000000" pitchFamily="2" charset="2"/>
                  </a:rPr>
                  <a:t></a:t>
                </a:r>
                <a:r>
                  <a:rPr lang="en-US" sz="1400" dirty="0">
                    <a:latin typeface="Times New Roman" panose="02020603050405020304" pitchFamily="18" charset="0"/>
                    <a:cs typeface="Times New Roman" panose="02020603050405020304" pitchFamily="18" charset="0"/>
                  </a:rPr>
                  <a:t> time is sec</a:t>
                </a:r>
                <a:endParaRPr lang="en-IN"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rPr>
                  <a:t>	v </a:t>
                </a:r>
                <a:r>
                  <a:rPr lang="en-US" sz="1400" dirty="0">
                    <a:latin typeface="Times New Roman" panose="02020603050405020304" pitchFamily="18" charset="0"/>
                    <a:cs typeface="Times New Roman" panose="02020603050405020304" pitchFamily="18" charset="0"/>
                    <a:sym typeface="Wingdings" panose="05000000000000000000" pitchFamily="2" charset="2"/>
                  </a:rPr>
                  <a:t></a:t>
                </a:r>
                <a:r>
                  <a:rPr lang="en-US" sz="1400" dirty="0">
                    <a:latin typeface="Times New Roman" panose="02020603050405020304" pitchFamily="18" charset="0"/>
                    <a:cs typeface="Times New Roman" panose="02020603050405020304" pitchFamily="18" charset="0"/>
                  </a:rPr>
                  <a:t> voltage</a:t>
                </a:r>
                <a:endParaRPr lang="en-IN" sz="1400"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xmlns="" xmlns:a14="http://schemas.microsoft.com/office/drawing/2010/main" id="{9199CC79-1419-FFDA-3C0B-E64F170D0C90}"/>
                  </a:ext>
                </a:extLst>
              </p:cNvPr>
              <p:cNvSpPr>
                <a:spLocks noGrp="1" noRot="1" noChangeAspect="1" noMove="1" noResize="1" noEditPoints="1" noAdjustHandles="1" noChangeArrowheads="1" noChangeShapeType="1" noTextEdit="1"/>
              </p:cNvSpPr>
              <p:nvPr>
                <p:ph sz="half" idx="1"/>
              </p:nvPr>
            </p:nvSpPr>
            <p:spPr>
              <a:blipFill>
                <a:blip r:embed="rId2"/>
                <a:stretch>
                  <a:fillRect l="-1059" t="-1261" b="-11625"/>
                </a:stretch>
              </a:blipFill>
            </p:spPr>
            <p:txBody>
              <a:bodyPr/>
              <a:lstStyle/>
              <a:p>
                <a:r>
                  <a:rPr lang="en-IN">
                    <a:noFill/>
                  </a:rPr>
                  <a:t> </a:t>
                </a:r>
              </a:p>
            </p:txBody>
          </p:sp>
        </mc:Fallback>
      </mc:AlternateContent>
      <mc:AlternateContent xmlns:mc="http://schemas.openxmlformats.org/markup-compatibility/2006">
        <mc:Choice xmlns:a14="http://schemas.microsoft.com/office/drawing/2010/main" xmlns="" Requires="a14">
          <p:sp>
            <p:nvSpPr>
              <p:cNvPr id="4" name="Content Placeholder 3">
                <a:extLst>
                  <a:ext uri="{FF2B5EF4-FFF2-40B4-BE49-F238E27FC236}">
                    <a16:creationId xmlns:a16="http://schemas.microsoft.com/office/drawing/2014/main" id="{21114AC3-85A5-9258-36D2-5A8BA881024A}"/>
                  </a:ext>
                </a:extLst>
              </p:cNvPr>
              <p:cNvSpPr>
                <a:spLocks noGrp="1"/>
              </p:cNvSpPr>
              <p:nvPr>
                <p:ph sz="half" idx="2"/>
              </p:nvPr>
            </p:nvSpPr>
            <p:spPr/>
            <p:txBody>
              <a:bodyPr>
                <a:noAutofit/>
              </a:bodyPr>
              <a:lstStyle/>
              <a:p>
                <a:pPr marL="0" indent="0">
                  <a:buNone/>
                </a:pPr>
                <a:r>
                  <a:rPr lang="en-US" sz="2000" b="1" u="sng" dirty="0">
                    <a:latin typeface="Times New Roman" panose="02020603050405020304" pitchFamily="18" charset="0"/>
                    <a:cs typeface="Times New Roman" panose="02020603050405020304" pitchFamily="18" charset="0"/>
                  </a:rPr>
                  <a:t>Shaft work </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marL="0" lvl="0" indent="0">
                  <a:buNone/>
                </a:pPr>
                <a:r>
                  <a:rPr lang="en-US" sz="2000" dirty="0">
                    <a:latin typeface="Times New Roman" panose="02020603050405020304" pitchFamily="18" charset="0"/>
                    <a:cs typeface="Times New Roman" panose="02020603050405020304" pitchFamily="18" charset="0"/>
                  </a:rPr>
                  <a:t>Shaft is considered as system and it rotates by a motor. Work transfer into the system</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Here, 	T = Torque</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a:r>
                <a14:m>
                  <m:oMath xmlns:m="http://schemas.openxmlformats.org/officeDocument/2006/math">
                    <m:r>
                      <a:rPr lang="en-US" sz="2000" i="1">
                        <a:latin typeface="Cambria Math" panose="02040503050406030204" pitchFamily="18" charset="0"/>
                      </a:rPr>
                      <m:t>𝑑</m:t>
                    </m:r>
                    <m:r>
                      <a:rPr lang="en-US" sz="2000" i="1">
                        <a:latin typeface="Cambria Math" panose="02040503050406030204" pitchFamily="18" charset="0"/>
                      </a:rPr>
                      <m:t>𝜃</m:t>
                    </m:r>
                    <m:r>
                      <a:rPr lang="en-US" sz="2000" i="1">
                        <a:latin typeface="Cambria Math" panose="02040503050406030204" pitchFamily="18" charset="0"/>
                      </a:rPr>
                      <m:t>=</m:t>
                    </m:r>
                    <m:r>
                      <a:rPr lang="en-US" sz="2000" i="1">
                        <a:latin typeface="Cambria Math" panose="02040503050406030204" pitchFamily="18" charset="0"/>
                      </a:rPr>
                      <m:t>𝐴𝑛𝑔𝑢𝑙𝑎𝑟</m:t>
                    </m:r>
                    <m:r>
                      <a:rPr lang="en-US" sz="2000" i="1">
                        <a:latin typeface="Cambria Math" panose="02040503050406030204" pitchFamily="18" charset="0"/>
                      </a:rPr>
                      <m:t> </m:t>
                    </m:r>
                    <m:r>
                      <a:rPr lang="en-US" sz="2000" i="1">
                        <a:latin typeface="Cambria Math" panose="02040503050406030204" pitchFamily="18" charset="0"/>
                      </a:rPr>
                      <m:t>𝑑𝑖𝑠𝑝𝑙𝑎𝑐𝑒𝑚𝑒𝑛𝑡</m:t>
                    </m:r>
                  </m:oMath>
                </a14:m>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Shaft work = W = </a:t>
                </a:r>
                <a14:m>
                  <m:oMath xmlns:m="http://schemas.openxmlformats.org/officeDocument/2006/math">
                    <m:nary>
                      <m:naryPr>
                        <m:limLoc m:val="subSup"/>
                        <m:ctrlPr>
                          <a:rPr lang="en-IN" sz="2000" i="1">
                            <a:latin typeface="Cambria Math" panose="02040503050406030204" pitchFamily="18" charset="0"/>
                          </a:rPr>
                        </m:ctrlPr>
                      </m:naryPr>
                      <m:sub>
                        <m:r>
                          <a:rPr lang="en-US" sz="2000" i="1">
                            <a:latin typeface="Cambria Math" panose="02040503050406030204" pitchFamily="18" charset="0"/>
                          </a:rPr>
                          <m:t>1</m:t>
                        </m:r>
                      </m:sub>
                      <m:sup>
                        <m:r>
                          <a:rPr lang="en-US" sz="2000" i="1">
                            <a:latin typeface="Cambria Math" panose="02040503050406030204" pitchFamily="18" charset="0"/>
                          </a:rPr>
                          <m:t>2</m:t>
                        </m:r>
                      </m:sup>
                      <m:e>
                        <m:r>
                          <a:rPr lang="en-US" sz="2000" i="1">
                            <a:latin typeface="Cambria Math" panose="02040503050406030204" pitchFamily="18" charset="0"/>
                          </a:rPr>
                          <m:t>𝑇</m:t>
                        </m:r>
                        <m:f>
                          <m:fPr>
                            <m:ctrlPr>
                              <a:rPr lang="en-IN" sz="2000" i="1">
                                <a:latin typeface="Cambria Math" panose="02040503050406030204" pitchFamily="18" charset="0"/>
                              </a:rPr>
                            </m:ctrlPr>
                          </m:fPr>
                          <m:num>
                            <m:r>
                              <a:rPr lang="en-US" sz="2000" i="1">
                                <a:latin typeface="Cambria Math" panose="02040503050406030204" pitchFamily="18" charset="0"/>
                              </a:rPr>
                              <m:t>𝑑</m:t>
                            </m:r>
                            <m:r>
                              <a:rPr lang="en-US" sz="2000" i="1">
                                <a:latin typeface="Cambria Math" panose="02040503050406030204" pitchFamily="18" charset="0"/>
                              </a:rPr>
                              <m:t>𝜃</m:t>
                            </m:r>
                          </m:num>
                          <m:den>
                            <m:r>
                              <a:rPr lang="en-US" sz="2000" i="1">
                                <a:latin typeface="Cambria Math" panose="02040503050406030204" pitchFamily="18" charset="0"/>
                              </a:rPr>
                              <m:t>𝑑𝑡</m:t>
                            </m:r>
                          </m:den>
                        </m:f>
                        <m:r>
                          <a:rPr lang="en-US" sz="2000" i="1">
                            <a:latin typeface="Cambria Math" panose="02040503050406030204" pitchFamily="18" charset="0"/>
                          </a:rPr>
                          <m:t>=</m:t>
                        </m:r>
                      </m:e>
                    </m:nary>
                    <m:r>
                      <a:rPr lang="en-US" sz="2000" i="1">
                        <a:latin typeface="Cambria Math" panose="02040503050406030204" pitchFamily="18" charset="0"/>
                      </a:rPr>
                      <m:t> </m:t>
                    </m:r>
                    <m:nary>
                      <m:naryPr>
                        <m:limLoc m:val="subSup"/>
                        <m:ctrlPr>
                          <a:rPr lang="en-IN" sz="2000" i="1">
                            <a:latin typeface="Cambria Math" panose="02040503050406030204" pitchFamily="18" charset="0"/>
                          </a:rPr>
                        </m:ctrlPr>
                      </m:naryPr>
                      <m:sub>
                        <m:r>
                          <a:rPr lang="en-US" sz="2000" i="1">
                            <a:latin typeface="Cambria Math" panose="02040503050406030204" pitchFamily="18" charset="0"/>
                          </a:rPr>
                          <m:t>1</m:t>
                        </m:r>
                      </m:sub>
                      <m:sup>
                        <m:r>
                          <a:rPr lang="en-US" sz="2000" i="1">
                            <a:latin typeface="Cambria Math" panose="02040503050406030204" pitchFamily="18" charset="0"/>
                          </a:rPr>
                          <m:t>2</m:t>
                        </m:r>
                      </m:sup>
                      <m:e>
                        <m:r>
                          <a:rPr lang="en-US" sz="2000" i="1">
                            <a:latin typeface="Cambria Math" panose="02040503050406030204" pitchFamily="18" charset="0"/>
                          </a:rPr>
                          <m:t>𝑇</m:t>
                        </m:r>
                        <m:r>
                          <a:rPr lang="en-US" sz="2000" i="1">
                            <a:latin typeface="Cambria Math" panose="02040503050406030204" pitchFamily="18" charset="0"/>
                          </a:rPr>
                          <m:t> </m:t>
                        </m:r>
                        <m:r>
                          <a:rPr lang="en-US" sz="2000" i="1">
                            <a:latin typeface="Cambria Math" panose="02040503050406030204" pitchFamily="18" charset="0"/>
                          </a:rPr>
                          <m:t>𝑤</m:t>
                        </m:r>
                      </m:e>
                    </m:nary>
                  </m:oMath>
                </a14:m>
                <a:endParaRPr lang="en-IN" sz="2000" dirty="0">
                  <a:latin typeface="Times New Roman" panose="02020603050405020304" pitchFamily="18" charset="0"/>
                  <a:cs typeface="Times New Roman" panose="02020603050405020304" pitchFamily="18" charset="0"/>
                </a:endParaRPr>
              </a:p>
            </p:txBody>
          </p:sp>
        </mc:Choice>
        <mc:Fallback>
          <p:sp>
            <p:nvSpPr>
              <p:cNvPr id="4" name="Content Placeholder 3">
                <a:extLst>
                  <a:ext uri="{FF2B5EF4-FFF2-40B4-BE49-F238E27FC236}">
                    <a16:creationId xmlns:a16="http://schemas.microsoft.com/office/drawing/2014/main" xmlns="" xmlns:a14="http://schemas.microsoft.com/office/drawing/2010/main" id="{21114AC3-85A5-9258-36D2-5A8BA881024A}"/>
                  </a:ext>
                </a:extLst>
              </p:cNvPr>
              <p:cNvSpPr>
                <a:spLocks noGrp="1" noRot="1" noChangeAspect="1" noMove="1" noResize="1" noEditPoints="1" noAdjustHandles="1" noChangeArrowheads="1" noChangeShapeType="1" noTextEdit="1"/>
              </p:cNvSpPr>
              <p:nvPr>
                <p:ph sz="half" idx="2"/>
              </p:nvPr>
            </p:nvSpPr>
            <p:spPr>
              <a:blipFill>
                <a:blip r:embed="rId3"/>
                <a:stretch>
                  <a:fillRect l="-1294" t="-1401"/>
                </a:stretch>
              </a:blipFill>
            </p:spPr>
            <p:txBody>
              <a:bodyPr/>
              <a:lstStyle/>
              <a:p>
                <a:r>
                  <a:rPr lang="en-IN">
                    <a:noFill/>
                  </a:rPr>
                  <a:t> </a:t>
                </a:r>
              </a:p>
            </p:txBody>
          </p:sp>
        </mc:Fallback>
      </mc:AlternateContent>
    </p:spTree>
    <p:extLst>
      <p:ext uri="{BB962C8B-B14F-4D97-AF65-F5344CB8AC3E}">
        <p14:creationId xmlns:p14="http://schemas.microsoft.com/office/powerpoint/2010/main" xmlns="" val="374305483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A9F645-B85C-E58B-233C-8797BC4F692E}"/>
              </a:ext>
            </a:extLst>
          </p:cNvPr>
          <p:cNvSpPr>
            <a:spLocks noGrp="1"/>
          </p:cNvSpPr>
          <p:nvPr>
            <p:ph type="title"/>
          </p:nvPr>
        </p:nvSpPr>
        <p:spPr/>
        <p:txBody>
          <a:bodyPr>
            <a:normAutofit/>
          </a:bodyPr>
          <a:lstStyle/>
          <a:p>
            <a:endParaRPr lang="en-IN" sz="66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xmlns="" Requires="a14">
          <p:sp>
            <p:nvSpPr>
              <p:cNvPr id="3" name="Content Placeholder 2">
                <a:extLst>
                  <a:ext uri="{FF2B5EF4-FFF2-40B4-BE49-F238E27FC236}">
                    <a16:creationId xmlns:a16="http://schemas.microsoft.com/office/drawing/2014/main" id="{9199CC79-1419-FFDA-3C0B-E64F170D0C90}"/>
                  </a:ext>
                </a:extLst>
              </p:cNvPr>
              <p:cNvSpPr>
                <a:spLocks noGrp="1"/>
              </p:cNvSpPr>
              <p:nvPr>
                <p:ph sz="half" idx="1"/>
              </p:nvPr>
            </p:nvSpPr>
            <p:spPr/>
            <p:txBody>
              <a:bodyPr>
                <a:noAutofit/>
              </a:bodyPr>
              <a:lstStyle/>
              <a:p>
                <a:pPr marL="0" indent="0">
                  <a:buNone/>
                </a:pPr>
                <a:r>
                  <a:rPr lang="en-US" sz="1800" b="1" u="sng" dirty="0">
                    <a:latin typeface="Times New Roman" panose="02020603050405020304" pitchFamily="18" charset="0"/>
                    <a:cs typeface="Times New Roman" panose="02020603050405020304" pitchFamily="18" charset="0"/>
                  </a:rPr>
                  <a:t>Free expansion:</a:t>
                </a:r>
                <a:endParaRPr lang="en-IN"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
                </a:r>
                <a14:m>
                  <m:oMath xmlns:m="http://schemas.openxmlformats.org/officeDocument/2006/math">
                    <m:nary>
                      <m:naryPr>
                        <m:limLoc m:val="undOvr"/>
                        <m:subHide m:val="on"/>
                        <m:supHide m:val="on"/>
                        <m:ctrlPr>
                          <a:rPr lang="en-IN" sz="1800" i="1">
                            <a:latin typeface="Cambria Math" panose="02040503050406030204" pitchFamily="18" charset="0"/>
                          </a:rPr>
                        </m:ctrlPr>
                      </m:naryPr>
                      <m:sub/>
                      <m:sup/>
                      <m:e>
                        <m:r>
                          <a:rPr lang="en-US" sz="1800" i="1">
                            <a:latin typeface="Cambria Math" panose="02040503050406030204" pitchFamily="18" charset="0"/>
                          </a:rPr>
                          <m:t>𝑃</m:t>
                        </m:r>
                        <m:r>
                          <a:rPr lang="en-US" sz="1800" i="1">
                            <a:latin typeface="Cambria Math" panose="02040503050406030204" pitchFamily="18" charset="0"/>
                          </a:rPr>
                          <m:t> </m:t>
                        </m:r>
                        <m:r>
                          <a:rPr lang="en-US" sz="1800" i="1">
                            <a:latin typeface="Cambria Math" panose="02040503050406030204" pitchFamily="18" charset="0"/>
                          </a:rPr>
                          <m:t>𝑑𝑣</m:t>
                        </m:r>
                      </m:e>
                    </m:nary>
                  </m:oMath>
                </a14:m>
                <a:r>
                  <a:rPr lang="en-US" sz="1800" dirty="0">
                    <a:latin typeface="Times New Roman" panose="02020603050405020304" pitchFamily="18" charset="0"/>
                    <a:cs typeface="Times New Roman" panose="02020603050405020304" pitchFamily="18" charset="0"/>
                  </a:rPr>
                  <a:t> is finite, but no work done.</a:t>
                </a:r>
                <a:endParaRPr lang="en-IN"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 </a:t>
                </a:r>
                <a:endParaRPr lang="en-IN"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 </a:t>
                </a:r>
                <a:endParaRPr lang="en-IN"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 </a:t>
                </a:r>
                <a:endParaRPr lang="en-IN" sz="1800" dirty="0">
                  <a:latin typeface="Times New Roman" panose="02020603050405020304" pitchFamily="18" charset="0"/>
                  <a:cs typeface="Times New Roman" panose="02020603050405020304" pitchFamily="18" charset="0"/>
                </a:endParaRPr>
              </a:p>
              <a:p>
                <a:pPr marL="0" lvl="0" indent="0">
                  <a:buNone/>
                </a:pPr>
                <a:r>
                  <a:rPr lang="en-US" sz="1800" dirty="0">
                    <a:latin typeface="Times New Roman" panose="02020603050405020304" pitchFamily="18" charset="0"/>
                    <a:cs typeface="Times New Roman" panose="02020603050405020304" pitchFamily="18" charset="0"/>
                  </a:rPr>
                  <a:t>Consider a vessel divided into two compartment</a:t>
                </a:r>
                <a:endParaRPr lang="en-IN" sz="1800" dirty="0">
                  <a:latin typeface="Times New Roman" panose="02020603050405020304" pitchFamily="18" charset="0"/>
                  <a:cs typeface="Times New Roman" panose="02020603050405020304" pitchFamily="18" charset="0"/>
                </a:endParaRPr>
              </a:p>
              <a:p>
                <a:pPr marL="0" lvl="0" indent="0">
                  <a:buNone/>
                </a:pPr>
                <a:r>
                  <a:rPr lang="en-US" sz="1800" dirty="0">
                    <a:latin typeface="Times New Roman" panose="02020603050405020304" pitchFamily="18" charset="0"/>
                    <a:cs typeface="Times New Roman" panose="02020603050405020304" pitchFamily="18" charset="0"/>
                  </a:rPr>
                  <a:t>One filled with gas and other evacuated </a:t>
                </a:r>
                <a:endParaRPr lang="en-IN" sz="1800" dirty="0">
                  <a:latin typeface="Times New Roman" panose="02020603050405020304" pitchFamily="18" charset="0"/>
                  <a:cs typeface="Times New Roman" panose="02020603050405020304" pitchFamily="18" charset="0"/>
                </a:endParaRPr>
              </a:p>
              <a:p>
                <a:pPr marL="0" lvl="0" indent="0">
                  <a:buNone/>
                </a:pPr>
                <a:r>
                  <a:rPr lang="en-US" sz="1800" dirty="0">
                    <a:latin typeface="Times New Roman" panose="02020603050405020304" pitchFamily="18" charset="0"/>
                    <a:cs typeface="Times New Roman" panose="02020603050405020304" pitchFamily="18" charset="0"/>
                  </a:rPr>
                  <a:t>Partition is removed expansion of gas takes place</a:t>
                </a:r>
                <a:endParaRPr lang="en-IN" sz="1800" dirty="0">
                  <a:latin typeface="Times New Roman" panose="02020603050405020304" pitchFamily="18" charset="0"/>
                  <a:cs typeface="Times New Roman" panose="02020603050405020304" pitchFamily="18" charset="0"/>
                </a:endParaRPr>
              </a:p>
              <a:p>
                <a:pPr marL="0" lvl="0" indent="0">
                  <a:buNone/>
                </a:pPr>
                <a:r>
                  <a:rPr lang="en-US" sz="1800" dirty="0">
                    <a:latin typeface="Times New Roman" panose="02020603050405020304" pitchFamily="18" charset="0"/>
                    <a:cs typeface="Times New Roman" panose="02020603050405020304" pitchFamily="18" charset="0"/>
                  </a:rPr>
                  <a:t>Gas is not restrained by an opposing force</a:t>
                </a:r>
                <a:endParaRPr lang="en-IN" sz="1800" dirty="0">
                  <a:latin typeface="Times New Roman" panose="02020603050405020304" pitchFamily="18" charset="0"/>
                  <a:cs typeface="Times New Roman" panose="02020603050405020304" pitchFamily="18" charset="0"/>
                </a:endParaRPr>
              </a:p>
              <a:p>
                <a:pPr marL="0" lvl="0" indent="0">
                  <a:buNone/>
                </a:pPr>
                <a:r>
                  <a:rPr lang="en-US" sz="1800" dirty="0">
                    <a:latin typeface="Times New Roman" panose="02020603050405020304" pitchFamily="18" charset="0"/>
                    <a:cs typeface="Times New Roman" panose="02020603050405020304" pitchFamily="18" charset="0"/>
                  </a:rPr>
                  <a:t>Other side is </a:t>
                </a:r>
                <a:r>
                  <a:rPr lang="en-US" sz="1800" dirty="0" err="1">
                    <a:latin typeface="Times New Roman" panose="02020603050405020304" pitchFamily="18" charset="0"/>
                    <a:cs typeface="Times New Roman" panose="02020603050405020304" pitchFamily="18" charset="0"/>
                  </a:rPr>
                  <a:t>vaccum</a:t>
                </a:r>
                <a:r>
                  <a:rPr lang="en-US" sz="1800" dirty="0">
                    <a:latin typeface="Times New Roman" panose="02020603050405020304" pitchFamily="18" charset="0"/>
                    <a:cs typeface="Times New Roman" panose="02020603050405020304" pitchFamily="18" charset="0"/>
                  </a:rPr>
                  <a:t>; therefore </a:t>
                </a:r>
                <a:r>
                  <a:rPr lang="en-US" sz="1800" dirty="0" err="1">
                    <a:latin typeface="Times New Roman" panose="02020603050405020304" pitchFamily="18" charset="0"/>
                    <a:cs typeface="Times New Roman" panose="02020603050405020304" pitchFamily="18" charset="0"/>
                  </a:rPr>
                  <a:t>Workdone</a:t>
                </a:r>
                <a:r>
                  <a:rPr lang="en-US" sz="1800" dirty="0">
                    <a:latin typeface="Times New Roman" panose="02020603050405020304" pitchFamily="18" charset="0"/>
                    <a:cs typeface="Times New Roman" panose="02020603050405020304" pitchFamily="18" charset="0"/>
                  </a:rPr>
                  <a:t> = 0</a:t>
                </a:r>
                <a:endParaRPr lang="en-IN" sz="1800" dirty="0">
                  <a:latin typeface="Times New Roman" panose="02020603050405020304" pitchFamily="18" charset="0"/>
                  <a:cs typeface="Times New Roman" panose="02020603050405020304" pitchFamily="18" charset="0"/>
                </a:endParaRPr>
              </a:p>
              <a:p>
                <a:pPr marL="0" lvl="0" indent="0">
                  <a:buNone/>
                </a:pPr>
                <a:r>
                  <a:rPr lang="en-US" sz="1800" dirty="0">
                    <a:latin typeface="Times New Roman" panose="02020603050405020304" pitchFamily="18" charset="0"/>
                    <a:cs typeface="Times New Roman" panose="02020603050405020304" pitchFamily="18" charset="0"/>
                  </a:rPr>
                  <a:t>Free expansion is irreversible process, therefore W = OW </a:t>
                </a:r>
                <a14:m>
                  <m:oMath xmlns:m="http://schemas.openxmlformats.org/officeDocument/2006/math">
                    <m:r>
                      <a:rPr lang="en-US" sz="1800" i="1">
                        <a:latin typeface="Cambria Math" panose="02040503050406030204" pitchFamily="18" charset="0"/>
                      </a:rPr>
                      <m:t>≠</m:t>
                    </m:r>
                    <m:r>
                      <a:rPr lang="en-US" sz="1800">
                        <a:latin typeface="Cambria Math" panose="02040503050406030204" pitchFamily="18" charset="0"/>
                      </a:rPr>
                      <m:t> </m:t>
                    </m:r>
                    <m:nary>
                      <m:naryPr>
                        <m:limLoc m:val="undOvr"/>
                        <m:subHide m:val="on"/>
                        <m:supHide m:val="on"/>
                        <m:ctrlPr>
                          <a:rPr lang="en-IN" sz="1800" i="1">
                            <a:latin typeface="Cambria Math" panose="02040503050406030204" pitchFamily="18" charset="0"/>
                          </a:rPr>
                        </m:ctrlPr>
                      </m:naryPr>
                      <m:sub/>
                      <m:sup/>
                      <m:e>
                        <m:r>
                          <a:rPr lang="en-US" sz="1800" i="1">
                            <a:latin typeface="Cambria Math" panose="02040503050406030204" pitchFamily="18" charset="0"/>
                          </a:rPr>
                          <m:t>𝑃</m:t>
                        </m:r>
                        <m:r>
                          <a:rPr lang="en-US" sz="1800" i="1">
                            <a:latin typeface="Cambria Math" panose="02040503050406030204" pitchFamily="18" charset="0"/>
                          </a:rPr>
                          <m:t> </m:t>
                        </m:r>
                        <m:r>
                          <a:rPr lang="en-US" sz="1800" i="1">
                            <a:latin typeface="Cambria Math" panose="02040503050406030204" pitchFamily="18" charset="0"/>
                          </a:rPr>
                          <m:t>𝑑𝑣</m:t>
                        </m:r>
                      </m:e>
                    </m:nary>
                  </m:oMath>
                </a14:m>
                <a:endParaRPr lang="en-IN" sz="1800" dirty="0">
                  <a:latin typeface="Times New Roman" panose="02020603050405020304" pitchFamily="18" charset="0"/>
                  <a:cs typeface="Times New Roman" panose="02020603050405020304" pitchFamily="18" charset="0"/>
                </a:endParaRPr>
              </a:p>
              <a:p>
                <a:pPr marL="0" indent="0">
                  <a:buNone/>
                </a:pPr>
                <a14:m>
                  <m:oMath xmlns:m="http://schemas.openxmlformats.org/officeDocument/2006/math">
                    <m:r>
                      <a:rPr lang="en-US" sz="1800" i="1">
                        <a:latin typeface="Cambria Math" panose="02040503050406030204" pitchFamily="18" charset="0"/>
                      </a:rPr>
                      <m:t>𝑊</m:t>
                    </m:r>
                    <m:r>
                      <a:rPr lang="en-US" sz="1800" i="1">
                        <a:latin typeface="Cambria Math" panose="02040503050406030204" pitchFamily="18" charset="0"/>
                      </a:rPr>
                      <m:t>=</m:t>
                    </m:r>
                    <m:nary>
                      <m:naryPr>
                        <m:limLoc m:val="undOvr"/>
                        <m:subHide m:val="on"/>
                        <m:supHide m:val="on"/>
                        <m:ctrlPr>
                          <a:rPr lang="en-IN" sz="1800" i="1">
                            <a:latin typeface="Cambria Math" panose="02040503050406030204" pitchFamily="18" charset="0"/>
                          </a:rPr>
                        </m:ctrlPr>
                      </m:naryPr>
                      <m:sub/>
                      <m:sup/>
                      <m:e>
                        <m:r>
                          <a:rPr lang="en-US" sz="1800" i="1">
                            <a:latin typeface="Cambria Math" panose="02040503050406030204" pitchFamily="18" charset="0"/>
                          </a:rPr>
                          <m:t>𝑃</m:t>
                        </m:r>
                        <m:r>
                          <a:rPr lang="en-US" sz="1800" i="1">
                            <a:latin typeface="Cambria Math" panose="02040503050406030204" pitchFamily="18" charset="0"/>
                          </a:rPr>
                          <m:t> </m:t>
                        </m:r>
                        <m:r>
                          <a:rPr lang="en-US" sz="1800" i="1">
                            <a:latin typeface="Cambria Math" panose="02040503050406030204" pitchFamily="18" charset="0"/>
                          </a:rPr>
                          <m:t>𝑑𝑣</m:t>
                        </m:r>
                      </m:e>
                    </m:nary>
                    <m:r>
                      <a:rPr lang="en-US" sz="1800" i="1">
                        <a:latin typeface="Cambria Math" panose="02040503050406030204" pitchFamily="18" charset="0"/>
                      </a:rPr>
                      <m:t> </m:t>
                    </m:r>
                  </m:oMath>
                </a14:m>
                <a:r>
                  <a:rPr lang="en-US" sz="1800" dirty="0">
                    <a:latin typeface="Times New Roman" panose="02020603050405020304" pitchFamily="18" charset="0"/>
                    <a:cs typeface="Times New Roman" panose="02020603050405020304" pitchFamily="18" charset="0"/>
                  </a:rPr>
                  <a:t>only for reversible process</a:t>
                </a:r>
                <a:endParaRPr lang="en-IN" sz="1800" dirty="0">
                  <a:latin typeface="Times New Roman" panose="02020603050405020304" pitchFamily="18" charset="0"/>
                  <a:cs typeface="Times New Roman" panose="02020603050405020304" pitchFamily="18" charset="0"/>
                </a:endParaRPr>
              </a:p>
              <a:p>
                <a:pPr marL="0" indent="0">
                  <a:buNone/>
                </a:pPr>
                <a:endParaRPr lang="en-IN" sz="1050"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xmlns="" xmlns:a14="http://schemas.microsoft.com/office/drawing/2010/main" id="{9199CC79-1419-FFDA-3C0B-E64F170D0C90}"/>
                  </a:ext>
                </a:extLst>
              </p:cNvPr>
              <p:cNvSpPr>
                <a:spLocks noGrp="1" noRot="1" noChangeAspect="1" noMove="1" noResize="1" noEditPoints="1" noAdjustHandles="1" noChangeArrowheads="1" noChangeShapeType="1" noTextEdit="1"/>
              </p:cNvSpPr>
              <p:nvPr>
                <p:ph sz="half" idx="1"/>
              </p:nvPr>
            </p:nvSpPr>
            <p:spPr>
              <a:blipFill>
                <a:blip r:embed="rId2"/>
                <a:stretch>
                  <a:fillRect l="-6941" t="-4482" b="-29132"/>
                </a:stretch>
              </a:blipFill>
            </p:spPr>
            <p:txBody>
              <a:bodyPr/>
              <a:lstStyle/>
              <a:p>
                <a:r>
                  <a:rPr lang="en-IN" dirty="0">
                    <a:noFill/>
                  </a:rPr>
                  <a:t> </a:t>
                </a:r>
              </a:p>
            </p:txBody>
          </p:sp>
        </mc:Fallback>
      </mc:AlternateContent>
      <mc:AlternateContent xmlns:mc="http://schemas.openxmlformats.org/markup-compatibility/2006">
        <mc:Choice xmlns:a14="http://schemas.microsoft.com/office/drawing/2010/main" xmlns="" Requires="a14">
          <p:sp>
            <p:nvSpPr>
              <p:cNvPr id="4" name="Content Placeholder 3">
                <a:extLst>
                  <a:ext uri="{FF2B5EF4-FFF2-40B4-BE49-F238E27FC236}">
                    <a16:creationId xmlns:a16="http://schemas.microsoft.com/office/drawing/2014/main" id="{21114AC3-85A5-9258-36D2-5A8BA881024A}"/>
                  </a:ext>
                </a:extLst>
              </p:cNvPr>
              <p:cNvSpPr>
                <a:spLocks noGrp="1"/>
              </p:cNvSpPr>
              <p:nvPr>
                <p:ph sz="half" idx="2"/>
              </p:nvPr>
            </p:nvSpPr>
            <p:spPr/>
            <p:txBody>
              <a:bodyPr>
                <a:noAutofit/>
              </a:bodyPr>
              <a:lstStyle/>
              <a:p>
                <a:pPr marL="0" indent="0">
                  <a:buNone/>
                </a:pPr>
                <a:r>
                  <a:rPr lang="en-US" sz="2000" b="1" u="sng" dirty="0">
                    <a:latin typeface="Times New Roman" panose="02020603050405020304" pitchFamily="18" charset="0"/>
                    <a:cs typeface="Times New Roman" panose="02020603050405020304" pitchFamily="18" charset="0"/>
                  </a:rPr>
                  <a:t>Peddle work:</a:t>
                </a:r>
                <a:endParaRPr lang="en-IN"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marL="0" indent="0">
                  <a:buNone/>
                </a:pPr>
                <a14:m>
                  <m:oMath xmlns:m="http://schemas.openxmlformats.org/officeDocument/2006/math">
                    <m:nary>
                      <m:naryPr>
                        <m:limLoc m:val="undOvr"/>
                        <m:subHide m:val="on"/>
                        <m:supHide m:val="on"/>
                        <m:ctrlPr>
                          <a:rPr lang="en-IN" sz="2000" i="1">
                            <a:latin typeface="Cambria Math" panose="02040503050406030204" pitchFamily="18" charset="0"/>
                          </a:rPr>
                        </m:ctrlPr>
                      </m:naryPr>
                      <m:sub/>
                      <m:sup/>
                      <m:e>
                        <m:r>
                          <a:rPr lang="en-US" sz="2000" i="1">
                            <a:latin typeface="Cambria Math" panose="02040503050406030204" pitchFamily="18" charset="0"/>
                          </a:rPr>
                          <m:t>𝑃</m:t>
                        </m:r>
                        <m:r>
                          <a:rPr lang="en-US" sz="2000" i="1">
                            <a:latin typeface="Cambria Math" panose="02040503050406030204" pitchFamily="18" charset="0"/>
                          </a:rPr>
                          <m:t> </m:t>
                        </m:r>
                        <m:r>
                          <a:rPr lang="en-US" sz="2000" i="1">
                            <a:latin typeface="Cambria Math" panose="02040503050406030204" pitchFamily="18" charset="0"/>
                          </a:rPr>
                          <m:t>𝑑𝑣</m:t>
                        </m:r>
                      </m:e>
                    </m:nary>
                    <m:r>
                      <a:rPr lang="en-US" sz="2000" i="1">
                        <a:latin typeface="Cambria Math" panose="02040503050406030204" pitchFamily="18" charset="0"/>
                      </a:rPr>
                      <m:t>=0</m:t>
                    </m:r>
                  </m:oMath>
                </a14:m>
                <a:r>
                  <a:rPr lang="en-US" sz="2000" dirty="0">
                    <a:latin typeface="Times New Roman" panose="02020603050405020304" pitchFamily="18" charset="0"/>
                    <a:cs typeface="Times New Roman" panose="02020603050405020304" pitchFamily="18" charset="0"/>
                  </a:rPr>
                  <a:t>, But work is done</a:t>
                </a:r>
                <a:endParaRPr lang="en-IN" sz="2000" dirty="0">
                  <a:latin typeface="Times New Roman" panose="02020603050405020304" pitchFamily="18" charset="0"/>
                  <a:cs typeface="Times New Roman" panose="02020603050405020304" pitchFamily="18" charset="0"/>
                </a:endParaRPr>
              </a:p>
              <a:p>
                <a:pPr marL="0" lvl="0" indent="0">
                  <a:buNone/>
                </a:pPr>
                <a:r>
                  <a:rPr lang="en-US" sz="2000" dirty="0">
                    <a:latin typeface="Times New Roman" panose="02020603050405020304" pitchFamily="18" charset="0"/>
                    <a:cs typeface="Times New Roman" panose="02020603050405020304" pitchFamily="18" charset="0"/>
                  </a:rPr>
                  <a:t>Involving friction for work process</a:t>
                </a:r>
                <a:endParaRPr lang="en-IN" sz="2000" dirty="0">
                  <a:latin typeface="Times New Roman" panose="02020603050405020304" pitchFamily="18" charset="0"/>
                  <a:cs typeface="Times New Roman" panose="02020603050405020304" pitchFamily="18" charset="0"/>
                </a:endParaRPr>
              </a:p>
              <a:p>
                <a:pPr marL="0" lvl="0" indent="0">
                  <a:buNone/>
                </a:pPr>
                <a:r>
                  <a:rPr lang="en-US" sz="2000" dirty="0">
                    <a:latin typeface="Times New Roman" panose="02020603050405020304" pitchFamily="18" charset="0"/>
                    <a:cs typeface="Times New Roman" panose="02020603050405020304" pitchFamily="18" charset="0"/>
                  </a:rPr>
                  <a:t>No. volume change</a:t>
                </a:r>
                <a:endParaRPr lang="en-IN" sz="2000" dirty="0">
                  <a:latin typeface="Times New Roman" panose="02020603050405020304" pitchFamily="18" charset="0"/>
                  <a:cs typeface="Times New Roman" panose="02020603050405020304" pitchFamily="18" charset="0"/>
                </a:endParaRPr>
              </a:p>
              <a:p>
                <a:pPr marL="0" lvl="0" indent="0">
                  <a:buNone/>
                </a:pPr>
                <a:r>
                  <a:rPr lang="en-US" sz="2000" dirty="0">
                    <a:latin typeface="Times New Roman" panose="02020603050405020304" pitchFamily="18" charset="0"/>
                    <a:cs typeface="Times New Roman" panose="02020603050405020304" pitchFamily="18" charset="0"/>
                  </a:rPr>
                  <a:t>W = 0 ; W = </a:t>
                </a:r>
                <a14:m>
                  <m:oMath xmlns:m="http://schemas.openxmlformats.org/officeDocument/2006/math">
                    <m:nary>
                      <m:naryPr>
                        <m:limLoc m:val="undOvr"/>
                        <m:subHide m:val="on"/>
                        <m:supHide m:val="on"/>
                        <m:ctrlPr>
                          <a:rPr lang="en-IN" sz="2000" i="1">
                            <a:latin typeface="Cambria Math" panose="02040503050406030204" pitchFamily="18" charset="0"/>
                          </a:rPr>
                        </m:ctrlPr>
                      </m:naryPr>
                      <m:sub/>
                      <m:sup/>
                      <m:e>
                        <m:r>
                          <a:rPr lang="en-US" sz="2000" i="1">
                            <a:latin typeface="Cambria Math" panose="02040503050406030204" pitchFamily="18" charset="0"/>
                          </a:rPr>
                          <m:t>𝑑𝑣</m:t>
                        </m:r>
                      </m:e>
                    </m:nary>
                  </m:oMath>
                </a14:m>
                <a:endParaRPr lang="en-IN"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mc:Choice>
        <mc:Fallback>
          <p:sp>
            <p:nvSpPr>
              <p:cNvPr id="4" name="Content Placeholder 3">
                <a:extLst>
                  <a:ext uri="{FF2B5EF4-FFF2-40B4-BE49-F238E27FC236}">
                    <a16:creationId xmlns:a16="http://schemas.microsoft.com/office/drawing/2014/main" xmlns="" xmlns:a14="http://schemas.microsoft.com/office/drawing/2010/main" id="{21114AC3-85A5-9258-36D2-5A8BA881024A}"/>
                  </a:ext>
                </a:extLst>
              </p:cNvPr>
              <p:cNvSpPr>
                <a:spLocks noGrp="1" noRot="1" noChangeAspect="1" noMove="1" noResize="1" noEditPoints="1" noAdjustHandles="1" noChangeArrowheads="1" noChangeShapeType="1" noTextEdit="1"/>
              </p:cNvSpPr>
              <p:nvPr>
                <p:ph sz="half" idx="2"/>
              </p:nvPr>
            </p:nvSpPr>
            <p:spPr>
              <a:blipFill>
                <a:blip r:embed="rId3"/>
                <a:stretch>
                  <a:fillRect l="-9176" t="-1401"/>
                </a:stretch>
              </a:blipFill>
            </p:spPr>
            <p:txBody>
              <a:bodyPr/>
              <a:lstStyle/>
              <a:p>
                <a:r>
                  <a:rPr lang="en-IN">
                    <a:noFill/>
                  </a:rPr>
                  <a:t> </a:t>
                </a:r>
              </a:p>
            </p:txBody>
          </p:sp>
        </mc:Fallback>
      </mc:AlternateContent>
    </p:spTree>
    <p:extLst>
      <p:ext uri="{BB962C8B-B14F-4D97-AF65-F5344CB8AC3E}">
        <p14:creationId xmlns:p14="http://schemas.microsoft.com/office/powerpoint/2010/main" xmlns="" val="388505207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Heat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Mode of energy transfer, which cannot be accounted as work from Macroscopic point of view is called Heat.</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Energy transfer by virtue of temperature difference across the boundary of the system</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Heat is not property system</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Heat is energy in transit</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Its difference is in exact </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87617501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0040"/>
            <a:ext cx="6861048" cy="822960"/>
          </a:xfrm>
        </p:spPr>
        <p:txBody>
          <a:bodyPr/>
          <a:lstStyle/>
          <a:p>
            <a:r>
              <a:rPr lang="en-US" dirty="0">
                <a:latin typeface="Times New Roman" panose="02020603050405020304" pitchFamily="18" charset="0"/>
                <a:cs typeface="Times New Roman" panose="02020603050405020304" pitchFamily="18" charset="0"/>
              </a:rPr>
              <a:t>Heat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Mode of energy transfer, which cannot be accounted as work from Macroscopic point of view is called Heat.</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Energy transfer by virtue of temperature difference across the boundary of the system</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Heat is not property system</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Heat is energy in transit</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Its difference is in exact </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half" idx="2"/>
          </p:nvPr>
        </p:nvSpPr>
        <p:spPr/>
        <p:txBody>
          <a:bodyPr>
            <a:normAutofit fontScale="85000" lnSpcReduction="20000"/>
          </a:bodyPr>
          <a:lstStyle/>
          <a:p>
            <a:pPr marL="0" indent="0">
              <a:buNone/>
            </a:pPr>
            <a:r>
              <a:rPr lang="en-US" dirty="0">
                <a:latin typeface="Times New Roman" panose="02020603050405020304" pitchFamily="18" charset="0"/>
                <a:cs typeface="Times New Roman" panose="02020603050405020304" pitchFamily="18" charset="0"/>
              </a:rPr>
              <a:t>Sign convection</a:t>
            </a:r>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Expansion </a:t>
            </a:r>
            <a:r>
              <a:rPr lang="en-US" dirty="0">
                <a:latin typeface="Times New Roman" panose="02020603050405020304" pitchFamily="18" charset="0"/>
                <a:cs typeface="Times New Roman" panose="02020603050405020304" pitchFamily="18" charset="0"/>
                <a:sym typeface="Wingdings" panose="05000000000000000000" pitchFamily="2" charset="2"/>
              </a:rPr>
              <a:t></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ve</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Compression </a:t>
            </a:r>
            <a:r>
              <a:rPr lang="en-US" dirty="0">
                <a:latin typeface="Times New Roman" panose="02020603050405020304" pitchFamily="18" charset="0"/>
                <a:cs typeface="Times New Roman" panose="02020603050405020304" pitchFamily="18" charset="0"/>
                <a:sym typeface="Wingdings" panose="05000000000000000000" pitchFamily="2" charset="2"/>
              </a:rPr>
              <a:t></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ve</a:t>
            </a:r>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Heating </a:t>
            </a:r>
            <a:r>
              <a:rPr lang="en-US" dirty="0">
                <a:latin typeface="Times New Roman" panose="02020603050405020304" pitchFamily="18" charset="0"/>
                <a:cs typeface="Times New Roman" panose="02020603050405020304" pitchFamily="18" charset="0"/>
                <a:sym typeface="Wingdings" panose="05000000000000000000" pitchFamily="2" charset="2"/>
              </a:rPr>
              <a:t></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ve</a:t>
            </a:r>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Cooling </a:t>
            </a:r>
            <a:r>
              <a:rPr lang="en-US" dirty="0">
                <a:latin typeface="Times New Roman" panose="02020603050405020304" pitchFamily="18" charset="0"/>
                <a:cs typeface="Times New Roman" panose="02020603050405020304" pitchFamily="18" charset="0"/>
                <a:sym typeface="Wingdings" panose="05000000000000000000" pitchFamily="2" charset="2"/>
              </a:rPr>
              <a:t></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ve</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xmlns="" val="56868604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 y="365126"/>
            <a:ext cx="3628328" cy="1325563"/>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Similarities between Heat and Work</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p:txBody>
          <a:bodyPr>
            <a:normAutofit fontScale="55000" lnSpcReduction="20000"/>
          </a:bodyPr>
          <a:lstStyle/>
          <a:p>
            <a:pPr lvl="0">
              <a:lnSpc>
                <a:spcPct val="160000"/>
              </a:lnSpc>
            </a:pPr>
            <a:r>
              <a:rPr lang="en-US" b="1" dirty="0">
                <a:solidFill>
                  <a:srgbClr val="00B0F0"/>
                </a:solidFill>
                <a:cs typeface="Times New Roman" panose="02020603050405020304" pitchFamily="18" charset="0"/>
              </a:rPr>
              <a:t>Both are Transient phenomena</a:t>
            </a:r>
            <a:endParaRPr lang="en-IN" b="1" dirty="0">
              <a:solidFill>
                <a:srgbClr val="00B0F0"/>
              </a:solidFill>
              <a:cs typeface="Times New Roman" panose="02020603050405020304" pitchFamily="18" charset="0"/>
            </a:endParaRPr>
          </a:p>
          <a:p>
            <a:pPr lvl="0">
              <a:lnSpc>
                <a:spcPct val="160000"/>
              </a:lnSpc>
            </a:pPr>
            <a:r>
              <a:rPr lang="en-US" b="1" dirty="0">
                <a:solidFill>
                  <a:srgbClr val="00B0F0"/>
                </a:solidFill>
                <a:cs typeface="Times New Roman" panose="02020603050405020304" pitchFamily="18" charset="0"/>
              </a:rPr>
              <a:t>System never possess Heat and work</a:t>
            </a:r>
            <a:endParaRPr lang="en-IN" b="1" dirty="0">
              <a:solidFill>
                <a:srgbClr val="00B0F0"/>
              </a:solidFill>
              <a:cs typeface="Times New Roman" panose="02020603050405020304" pitchFamily="18" charset="0"/>
            </a:endParaRPr>
          </a:p>
          <a:p>
            <a:pPr lvl="0">
              <a:lnSpc>
                <a:spcPct val="160000"/>
              </a:lnSpc>
            </a:pPr>
            <a:r>
              <a:rPr lang="en-US" b="1" dirty="0">
                <a:solidFill>
                  <a:srgbClr val="00B0F0"/>
                </a:solidFill>
                <a:cs typeface="Times New Roman" panose="02020603050405020304" pitchFamily="18" charset="0"/>
              </a:rPr>
              <a:t>May occur when the system undergoes a change of state.</a:t>
            </a:r>
            <a:endParaRPr lang="en-IN" b="1" dirty="0">
              <a:solidFill>
                <a:srgbClr val="00B0F0"/>
              </a:solidFill>
              <a:cs typeface="Times New Roman" panose="02020603050405020304" pitchFamily="18" charset="0"/>
            </a:endParaRPr>
          </a:p>
          <a:p>
            <a:pPr lvl="0">
              <a:lnSpc>
                <a:spcPct val="160000"/>
              </a:lnSpc>
            </a:pPr>
            <a:r>
              <a:rPr lang="en-US" b="1" dirty="0">
                <a:solidFill>
                  <a:srgbClr val="00B0F0"/>
                </a:solidFill>
                <a:cs typeface="Times New Roman" panose="02020603050405020304" pitchFamily="18" charset="0"/>
              </a:rPr>
              <a:t>Both are boundary phenomena</a:t>
            </a:r>
            <a:endParaRPr lang="en-IN" b="1" dirty="0">
              <a:solidFill>
                <a:srgbClr val="00B0F0"/>
              </a:solidFill>
              <a:cs typeface="Times New Roman" panose="02020603050405020304" pitchFamily="18" charset="0"/>
            </a:endParaRPr>
          </a:p>
          <a:p>
            <a:pPr lvl="0">
              <a:lnSpc>
                <a:spcPct val="160000"/>
              </a:lnSpc>
            </a:pPr>
            <a:r>
              <a:rPr lang="en-US" b="1" dirty="0">
                <a:solidFill>
                  <a:srgbClr val="00B0F0"/>
                </a:solidFill>
                <a:cs typeface="Times New Roman" panose="02020603050405020304" pitchFamily="18" charset="0"/>
              </a:rPr>
              <a:t>Both are path functions</a:t>
            </a:r>
            <a:endParaRPr lang="en-IN" b="1" dirty="0">
              <a:solidFill>
                <a:srgbClr val="00B0F0"/>
              </a:solidFill>
              <a:cs typeface="Times New Roman" panose="02020603050405020304" pitchFamily="18" charset="0"/>
            </a:endParaRPr>
          </a:p>
          <a:p>
            <a:pPr lvl="0">
              <a:lnSpc>
                <a:spcPct val="160000"/>
              </a:lnSpc>
            </a:pPr>
            <a:r>
              <a:rPr lang="en-US" b="1" dirty="0">
                <a:solidFill>
                  <a:srgbClr val="00B0F0"/>
                </a:solidFill>
                <a:cs typeface="Times New Roman" panose="02020603050405020304" pitchFamily="18" charset="0"/>
              </a:rPr>
              <a:t>Both are in exact differentials.</a:t>
            </a:r>
            <a:endParaRPr lang="en-IN" b="1" dirty="0">
              <a:solidFill>
                <a:srgbClr val="00B0F0"/>
              </a:solidFill>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half" idx="2"/>
          </p:nvPr>
        </p:nvSpPr>
        <p:spPr>
          <a:xfrm>
            <a:off x="4495800" y="1600200"/>
            <a:ext cx="4234164" cy="4351338"/>
          </a:xfrm>
        </p:spPr>
        <p:txBody>
          <a:bodyPr>
            <a:normAutofit fontScale="55000" lnSpcReduction="20000"/>
          </a:bodyPr>
          <a:lstStyle/>
          <a:p>
            <a:pPr lvl="0">
              <a:lnSpc>
                <a:spcPct val="170000"/>
              </a:lnSpc>
            </a:pPr>
            <a:r>
              <a:rPr lang="en-US" b="1" dirty="0">
                <a:solidFill>
                  <a:srgbClr val="0070C0"/>
                </a:solidFill>
                <a:cs typeface="Times New Roman" panose="02020603050405020304" pitchFamily="18" charset="0"/>
              </a:rPr>
              <a:t>Work can be converted 100% into heat</a:t>
            </a:r>
            <a:endParaRPr lang="en-IN" b="1" dirty="0">
              <a:solidFill>
                <a:srgbClr val="0070C0"/>
              </a:solidFill>
              <a:cs typeface="Times New Roman" panose="02020603050405020304" pitchFamily="18" charset="0"/>
            </a:endParaRPr>
          </a:p>
          <a:p>
            <a:pPr lvl="0">
              <a:lnSpc>
                <a:spcPct val="170000"/>
              </a:lnSpc>
            </a:pPr>
            <a:r>
              <a:rPr lang="en-US" b="1" dirty="0">
                <a:solidFill>
                  <a:srgbClr val="0070C0"/>
                </a:solidFill>
                <a:cs typeface="Times New Roman" panose="02020603050405020304" pitchFamily="18" charset="0"/>
              </a:rPr>
              <a:t>Heat cannot be converted 100% into work</a:t>
            </a:r>
            <a:endParaRPr lang="en-IN" b="1" dirty="0">
              <a:solidFill>
                <a:srgbClr val="0070C0"/>
              </a:solidFill>
              <a:cs typeface="Times New Roman" panose="02020603050405020304" pitchFamily="18" charset="0"/>
            </a:endParaRPr>
          </a:p>
          <a:p>
            <a:pPr lvl="0">
              <a:lnSpc>
                <a:spcPct val="170000"/>
              </a:lnSpc>
            </a:pPr>
            <a:r>
              <a:rPr lang="en-US" b="1" dirty="0">
                <a:solidFill>
                  <a:srgbClr val="0070C0"/>
                </a:solidFill>
                <a:cs typeface="Times New Roman" panose="02020603050405020304" pitchFamily="18" charset="0"/>
              </a:rPr>
              <a:t>Their sign convection are opposite</a:t>
            </a:r>
            <a:endParaRPr lang="en-IN" b="1" dirty="0">
              <a:solidFill>
                <a:srgbClr val="0070C0"/>
              </a:solidFill>
              <a:cs typeface="Times New Roman" panose="02020603050405020304" pitchFamily="18" charset="0"/>
            </a:endParaRPr>
          </a:p>
          <a:p>
            <a:pPr lvl="0">
              <a:lnSpc>
                <a:spcPct val="170000"/>
              </a:lnSpc>
            </a:pPr>
            <a:r>
              <a:rPr lang="en-US" b="1" dirty="0">
                <a:solidFill>
                  <a:srgbClr val="0070C0"/>
                </a:solidFill>
                <a:cs typeface="Times New Roman" panose="02020603050405020304" pitchFamily="18" charset="0"/>
              </a:rPr>
              <a:t>Heat is low grade &amp; work is high energy</a:t>
            </a:r>
            <a:endParaRPr lang="en-IN" b="1" dirty="0">
              <a:solidFill>
                <a:srgbClr val="0070C0"/>
              </a:solidFill>
              <a:cs typeface="Times New Roman" panose="02020603050405020304" pitchFamily="18" charset="0"/>
            </a:endParaRPr>
          </a:p>
          <a:p>
            <a:pPr lvl="0">
              <a:lnSpc>
                <a:spcPct val="170000"/>
              </a:lnSpc>
            </a:pPr>
            <a:r>
              <a:rPr lang="en-US" b="1" dirty="0">
                <a:solidFill>
                  <a:srgbClr val="0070C0"/>
                </a:solidFill>
                <a:cs typeface="Times New Roman" panose="02020603050405020304" pitchFamily="18" charset="0"/>
              </a:rPr>
              <a:t>Heat transfer due to temperature difference</a:t>
            </a:r>
            <a:endParaRPr lang="en-IN" b="1" dirty="0">
              <a:solidFill>
                <a:srgbClr val="0070C0"/>
              </a:solidFill>
              <a:cs typeface="Times New Roman" panose="02020603050405020304" pitchFamily="18" charset="0"/>
            </a:endParaRPr>
          </a:p>
          <a:p>
            <a:pPr lvl="0">
              <a:lnSpc>
                <a:spcPct val="170000"/>
              </a:lnSpc>
            </a:pPr>
            <a:r>
              <a:rPr lang="en-US" b="1" dirty="0">
                <a:solidFill>
                  <a:srgbClr val="0070C0"/>
                </a:solidFill>
                <a:cs typeface="Times New Roman" panose="02020603050405020304" pitchFamily="18" charset="0"/>
              </a:rPr>
              <a:t>Work transfer due to other than temperature difference</a:t>
            </a:r>
            <a:endParaRPr lang="en-IN" b="1" dirty="0">
              <a:solidFill>
                <a:srgbClr val="0070C0"/>
              </a:solidFill>
              <a:cs typeface="Times New Roman" panose="02020603050405020304" pitchFamily="18" charset="0"/>
            </a:endParaRPr>
          </a:p>
        </p:txBody>
      </p:sp>
      <p:sp>
        <p:nvSpPr>
          <p:cNvPr id="6" name="Title 1"/>
          <p:cNvSpPr txBox="1">
            <a:spLocks/>
          </p:cNvSpPr>
          <p:nvPr/>
        </p:nvSpPr>
        <p:spPr>
          <a:xfrm>
            <a:off x="4596597" y="340009"/>
            <a:ext cx="36283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solidFill>
                  <a:srgbClr val="FF0000"/>
                </a:solidFill>
                <a:latin typeface="Times New Roman" panose="02020603050405020304" pitchFamily="18" charset="0"/>
                <a:cs typeface="Times New Roman" panose="02020603050405020304" pitchFamily="18" charset="0"/>
              </a:rPr>
              <a:t>Difference between Heat and Work</a:t>
            </a:r>
            <a:endParaRPr lang="en-IN" sz="32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00020974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Thermodynamic equilibrium</a:t>
            </a:r>
            <a:endParaRPr lang="en-US" dirty="0"/>
          </a:p>
        </p:txBody>
      </p:sp>
      <p:sp>
        <p:nvSpPr>
          <p:cNvPr id="3" name="Content Placeholder 2"/>
          <p:cNvSpPr>
            <a:spLocks noGrp="1"/>
          </p:cNvSpPr>
          <p:nvPr>
            <p:ph idx="1"/>
          </p:nvPr>
        </p:nvSpPr>
        <p:spPr/>
        <p:txBody>
          <a:bodyPr/>
          <a:lstStyle/>
          <a:p>
            <a:r>
              <a:rPr lang="en-US" dirty="0" smtClean="0"/>
              <a:t>A system is said to be in thermodynamic equilibrium if it satisfies the following three conditions</a:t>
            </a:r>
          </a:p>
          <a:p>
            <a:pPr marL="514350" indent="-514350">
              <a:buAutoNum type="arabicPeriod"/>
            </a:pPr>
            <a:r>
              <a:rPr lang="en-US" dirty="0" smtClean="0">
                <a:solidFill>
                  <a:schemeClr val="tx2">
                    <a:lumMod val="75000"/>
                  </a:schemeClr>
                </a:solidFill>
              </a:rPr>
              <a:t>Thermal Equilibrium</a:t>
            </a:r>
            <a:r>
              <a:rPr lang="en-US" dirty="0" smtClean="0"/>
              <a:t>-No temperature difference between system and surrounding</a:t>
            </a:r>
          </a:p>
          <a:p>
            <a:pPr marL="514350" indent="-514350">
              <a:buAutoNum type="arabicPeriod"/>
            </a:pPr>
            <a:r>
              <a:rPr lang="en-US" dirty="0" smtClean="0">
                <a:solidFill>
                  <a:srgbClr val="0070C0"/>
                </a:solidFill>
              </a:rPr>
              <a:t>Mechanical equilibrium</a:t>
            </a:r>
            <a:r>
              <a:rPr lang="en-US" dirty="0" smtClean="0"/>
              <a:t>-no unbalanced forces within the system or with the surrounding</a:t>
            </a:r>
          </a:p>
          <a:p>
            <a:pPr marL="514350" indent="-514350">
              <a:buAutoNum type="arabicPeriod"/>
            </a:pPr>
            <a:r>
              <a:rPr lang="en-US" dirty="0" smtClean="0">
                <a:solidFill>
                  <a:schemeClr val="accent6">
                    <a:lumMod val="50000"/>
                  </a:schemeClr>
                </a:solidFill>
              </a:rPr>
              <a:t>Chemical equilibrium</a:t>
            </a:r>
            <a:r>
              <a:rPr lang="en-US" dirty="0" smtClean="0"/>
              <a:t>-no chemical reaction and no change in chemical composition</a:t>
            </a:r>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2060"/>
                </a:solidFill>
                <a:latin typeface="Times New Roman" panose="02020603050405020304" pitchFamily="18" charset="0"/>
                <a:cs typeface="Times New Roman" panose="02020603050405020304" pitchFamily="18" charset="0"/>
              </a:rPr>
              <a:t>       Quasi-static Process</a:t>
            </a:r>
            <a:endParaRPr lang="en-US" dirty="0"/>
          </a:p>
        </p:txBody>
      </p:sp>
      <p:sp>
        <p:nvSpPr>
          <p:cNvPr id="4" name="Content Placeholder 2"/>
          <p:cNvSpPr>
            <a:spLocks noGrp="1"/>
          </p:cNvSpPr>
          <p:nvPr>
            <p:ph idx="1"/>
          </p:nvPr>
        </p:nvSpPr>
        <p:spPr>
          <a:xfrm>
            <a:off x="152400" y="1752600"/>
            <a:ext cx="4038600" cy="4703136"/>
          </a:xfrm>
        </p:spPr>
        <p:txBody>
          <a:bodyPr>
            <a:normAutofit fontScale="92500" lnSpcReduction="10000"/>
          </a:bodyPr>
          <a:lstStyle/>
          <a:p>
            <a:pPr marL="45720" indent="0">
              <a:buNone/>
            </a:pPr>
            <a:r>
              <a:rPr lang="en-US" b="1" dirty="0">
                <a:solidFill>
                  <a:schemeClr val="tx1"/>
                </a:solidFill>
                <a:latin typeface="Times New Roman" panose="02020603050405020304" pitchFamily="18" charset="0"/>
                <a:cs typeface="Times New Roman" panose="02020603050405020304" pitchFamily="18" charset="0"/>
              </a:rPr>
              <a:t>Quasi-static </a:t>
            </a:r>
            <a:r>
              <a:rPr lang="en-US" b="1" dirty="0" smtClean="0">
                <a:solidFill>
                  <a:schemeClr val="tx1"/>
                </a:solidFill>
                <a:latin typeface="Times New Roman" panose="02020603050405020304" pitchFamily="18" charset="0"/>
                <a:cs typeface="Times New Roman" panose="02020603050405020304" pitchFamily="18" charset="0"/>
              </a:rPr>
              <a:t>Process: </a:t>
            </a:r>
            <a:r>
              <a:rPr lang="en-US" dirty="0">
                <a:solidFill>
                  <a:schemeClr val="tx1"/>
                </a:solidFill>
                <a:latin typeface="Times New Roman" panose="02020603050405020304" pitchFamily="18" charset="0"/>
                <a:cs typeface="Times New Roman" panose="02020603050405020304" pitchFamily="18" charset="0"/>
              </a:rPr>
              <a:t>The very slow process consists of many equilibrium states. Ideal process.</a:t>
            </a:r>
          </a:p>
          <a:p>
            <a:pPr marL="45720" indent="0">
              <a:buNone/>
            </a:pPr>
            <a:r>
              <a:rPr lang="en-US" dirty="0">
                <a:solidFill>
                  <a:schemeClr val="tx1"/>
                </a:solidFill>
                <a:latin typeface="Times New Roman" panose="02020603050405020304" pitchFamily="18" charset="0"/>
                <a:cs typeface="Times New Roman" panose="02020603050405020304" pitchFamily="18" charset="0"/>
              </a:rPr>
              <a:t>A quasi-static process is one in which</a:t>
            </a:r>
          </a:p>
          <a:p>
            <a:pPr>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	The deviation from thermodynamic equilibrium is infinitesimal.</a:t>
            </a:r>
          </a:p>
          <a:p>
            <a:pPr>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	All states of the system passes through are equilibrium states.</a:t>
            </a:r>
          </a:p>
          <a:p>
            <a:pPr marL="45720" indent="0">
              <a:buNone/>
            </a:pPr>
            <a:endParaRPr lang="en-US" dirty="0"/>
          </a:p>
        </p:txBody>
      </p:sp>
      <p:pic>
        <p:nvPicPr>
          <p:cNvPr id="5" name="Picture 4"/>
          <p:cNvPicPr>
            <a:picLocks noChangeAspect="1"/>
          </p:cNvPicPr>
          <p:nvPr/>
        </p:nvPicPr>
        <p:blipFill>
          <a:blip r:embed="rId2"/>
          <a:stretch>
            <a:fillRect/>
          </a:stretch>
        </p:blipFill>
        <p:spPr>
          <a:xfrm>
            <a:off x="4495800" y="1981200"/>
            <a:ext cx="3548607" cy="3657600"/>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457200" y="914400"/>
            <a:ext cx="3733800" cy="4724400"/>
          </a:xfrm>
        </p:spPr>
        <p:txBody>
          <a:bodyPr>
            <a:normAutofit fontScale="70000" lnSpcReduction="20000"/>
          </a:bodyPr>
          <a:lstStyle/>
          <a:p>
            <a:pPr marL="45720" indent="0">
              <a:buNone/>
            </a:pPr>
            <a:endParaRPr lang="en-US" dirty="0" smtClean="0">
              <a:solidFill>
                <a:schemeClr val="tx1"/>
              </a:solidFill>
              <a:latin typeface="Times New Roman" panose="02020603050405020304" pitchFamily="18" charset="0"/>
              <a:cs typeface="Times New Roman" panose="02020603050405020304" pitchFamily="18" charset="0"/>
            </a:endParaRPr>
          </a:p>
          <a:p>
            <a:pPr marL="45720" indent="0" algn="just">
              <a:buNone/>
            </a:pPr>
            <a:r>
              <a:rPr lang="en-US" dirty="0" smtClean="0">
                <a:solidFill>
                  <a:schemeClr val="tx1"/>
                </a:solidFill>
                <a:latin typeface="Times New Roman" panose="02020603050405020304" pitchFamily="18" charset="0"/>
                <a:cs typeface="Times New Roman" panose="02020603050405020304" pitchFamily="18" charset="0"/>
              </a:rPr>
              <a:t>If </a:t>
            </a:r>
            <a:r>
              <a:rPr lang="en-US" dirty="0">
                <a:solidFill>
                  <a:schemeClr val="tx1"/>
                </a:solidFill>
                <a:latin typeface="Times New Roman" panose="02020603050405020304" pitchFamily="18" charset="0"/>
                <a:cs typeface="Times New Roman" panose="02020603050405020304" pitchFamily="18" charset="0"/>
              </a:rPr>
              <a:t>we remove the weights slowly one by one the pressure of the gas will displace the piston gradually. It is </a:t>
            </a:r>
            <a:r>
              <a:rPr lang="en-US" dirty="0" smtClean="0">
                <a:solidFill>
                  <a:schemeClr val="tx1"/>
                </a:solidFill>
                <a:latin typeface="Times New Roman" panose="02020603050405020304" pitchFamily="18" charset="0"/>
                <a:cs typeface="Times New Roman" panose="02020603050405020304" pitchFamily="18" charset="0"/>
              </a:rPr>
              <a:t>quasi-static.</a:t>
            </a:r>
          </a:p>
          <a:p>
            <a:pPr marL="45720" indent="0" algn="just">
              <a:buNone/>
            </a:pPr>
            <a:r>
              <a:rPr lang="en-US" dirty="0" smtClean="0">
                <a:solidFill>
                  <a:schemeClr val="tx1"/>
                </a:solidFill>
                <a:latin typeface="Times New Roman" panose="02020603050405020304" pitchFamily="18" charset="0"/>
                <a:cs typeface="Times New Roman" panose="02020603050405020304" pitchFamily="18" charset="0"/>
              </a:rPr>
              <a:t>On </a:t>
            </a:r>
            <a:r>
              <a:rPr lang="en-US" dirty="0">
                <a:solidFill>
                  <a:schemeClr val="tx1"/>
                </a:solidFill>
                <a:latin typeface="Times New Roman" panose="02020603050405020304" pitchFamily="18" charset="0"/>
                <a:cs typeface="Times New Roman" panose="02020603050405020304" pitchFamily="18" charset="0"/>
              </a:rPr>
              <a:t>the other hand if we remove all the weights at once the piston will be kicked up by the gas pressure.(This is unrestrained expansion) but we don’t consider that the work is done -because it is not in a sustained </a:t>
            </a:r>
            <a:r>
              <a:rPr lang="en-US" dirty="0" smtClean="0">
                <a:solidFill>
                  <a:schemeClr val="tx1"/>
                </a:solidFill>
                <a:latin typeface="Times New Roman" panose="02020603050405020304" pitchFamily="18" charset="0"/>
                <a:cs typeface="Times New Roman" panose="02020603050405020304" pitchFamily="18" charset="0"/>
              </a:rPr>
              <a:t>manner</a:t>
            </a:r>
          </a:p>
          <a:p>
            <a:pPr marL="45720" indent="0" algn="just">
              <a:buNone/>
            </a:pPr>
            <a:r>
              <a:rPr lang="en-US" dirty="0" smtClean="0">
                <a:solidFill>
                  <a:schemeClr val="tx1"/>
                </a:solidFill>
                <a:latin typeface="Times New Roman" panose="02020603050405020304" pitchFamily="18" charset="0"/>
                <a:cs typeface="Times New Roman" panose="02020603050405020304" pitchFamily="18" charset="0"/>
              </a:rPr>
              <a:t>In </a:t>
            </a:r>
            <a:r>
              <a:rPr lang="en-US" dirty="0">
                <a:solidFill>
                  <a:schemeClr val="tx1"/>
                </a:solidFill>
                <a:latin typeface="Times New Roman" panose="02020603050405020304" pitchFamily="18" charset="0"/>
                <a:cs typeface="Times New Roman" panose="02020603050405020304" pitchFamily="18" charset="0"/>
              </a:rPr>
              <a:t>both cases the systems have undergone a change of state</a:t>
            </a:r>
            <a:r>
              <a:rPr lang="en-US" dirty="0" smtClean="0">
                <a:solidFill>
                  <a:schemeClr val="tx1"/>
                </a:solidFill>
                <a:latin typeface="Times New Roman" panose="02020603050405020304" pitchFamily="18" charset="0"/>
                <a:cs typeface="Times New Roman" panose="02020603050405020304" pitchFamily="18" charset="0"/>
              </a:rPr>
              <a:t>.</a:t>
            </a:r>
          </a:p>
          <a:p>
            <a:pPr marL="45720" indent="0" algn="just">
              <a:buNone/>
            </a:pPr>
            <a:r>
              <a:rPr lang="en-US" dirty="0">
                <a:solidFill>
                  <a:schemeClr val="tx1"/>
                </a:solidFill>
                <a:latin typeface="Times New Roman" panose="02020603050405020304" pitchFamily="18" charset="0"/>
                <a:cs typeface="Times New Roman" panose="02020603050405020304" pitchFamily="18" charset="0"/>
              </a:rPr>
              <a:t>Another </a:t>
            </a:r>
            <a:r>
              <a:rPr lang="en-US" dirty="0" err="1">
                <a:solidFill>
                  <a:schemeClr val="tx1"/>
                </a:solidFill>
                <a:latin typeface="Times New Roman" panose="02020603050405020304" pitchFamily="18" charset="0"/>
                <a:cs typeface="Times New Roman" panose="02020603050405020304" pitchFamily="18" charset="0"/>
              </a:rPr>
              <a:t>eg</a:t>
            </a:r>
            <a:r>
              <a:rPr lang="en-US" dirty="0">
                <a:solidFill>
                  <a:schemeClr val="tx1"/>
                </a:solidFill>
                <a:latin typeface="Times New Roman" panose="02020603050405020304" pitchFamily="18" charset="0"/>
                <a:cs typeface="Times New Roman" panose="02020603050405020304" pitchFamily="18" charset="0"/>
              </a:rPr>
              <a:t>: if a person climbs down a ladder from roof to ground, it is a </a:t>
            </a:r>
            <a:r>
              <a:rPr lang="en-US" dirty="0" smtClean="0">
                <a:solidFill>
                  <a:schemeClr val="tx1"/>
                </a:solidFill>
                <a:latin typeface="Times New Roman" panose="02020603050405020304" pitchFamily="18" charset="0"/>
                <a:cs typeface="Times New Roman" panose="02020603050405020304" pitchFamily="18" charset="0"/>
              </a:rPr>
              <a:t>quasi-static </a:t>
            </a:r>
            <a:r>
              <a:rPr lang="en-US" dirty="0">
                <a:solidFill>
                  <a:schemeClr val="tx1"/>
                </a:solidFill>
                <a:latin typeface="Times New Roman" panose="02020603050405020304" pitchFamily="18" charset="0"/>
                <a:cs typeface="Times New Roman" panose="02020603050405020304" pitchFamily="18" charset="0"/>
              </a:rPr>
              <a:t>process. On the other hand if he jumps then it is not a </a:t>
            </a:r>
            <a:r>
              <a:rPr lang="en-US" dirty="0" smtClean="0">
                <a:solidFill>
                  <a:schemeClr val="tx1"/>
                </a:solidFill>
                <a:latin typeface="Times New Roman" panose="02020603050405020304" pitchFamily="18" charset="0"/>
                <a:cs typeface="Times New Roman" panose="02020603050405020304" pitchFamily="18" charset="0"/>
              </a:rPr>
              <a:t>quasi-static </a:t>
            </a:r>
            <a:r>
              <a:rPr lang="en-US" dirty="0">
                <a:solidFill>
                  <a:schemeClr val="tx1"/>
                </a:solidFill>
                <a:latin typeface="Times New Roman" panose="02020603050405020304" pitchFamily="18" charset="0"/>
                <a:cs typeface="Times New Roman" panose="02020603050405020304" pitchFamily="18" charset="0"/>
              </a:rPr>
              <a:t>process.</a:t>
            </a:r>
          </a:p>
        </p:txBody>
      </p:sp>
      <p:pic>
        <p:nvPicPr>
          <p:cNvPr id="5" name="Picture 4"/>
          <p:cNvPicPr>
            <a:picLocks noChangeAspect="1"/>
          </p:cNvPicPr>
          <p:nvPr/>
        </p:nvPicPr>
        <p:blipFill>
          <a:blip r:embed="rId2"/>
          <a:stretch>
            <a:fillRect/>
          </a:stretch>
        </p:blipFill>
        <p:spPr>
          <a:xfrm>
            <a:off x="4343400" y="1600200"/>
            <a:ext cx="3673490" cy="3591838"/>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20040"/>
            <a:ext cx="7467600" cy="441960"/>
          </a:xfrm>
        </p:spPr>
        <p:txBody>
          <a:bodyPr>
            <a:normAutofit/>
          </a:bodyPr>
          <a:lstStyle/>
          <a:p>
            <a:r>
              <a:rPr lang="en-US" sz="2400" dirty="0" smtClean="0">
                <a:solidFill>
                  <a:srgbClr val="002060"/>
                </a:solidFill>
              </a:rPr>
              <a:t>               Reversible &amp; Irreversible process</a:t>
            </a:r>
            <a:endParaRPr lang="en-US" sz="2400" dirty="0"/>
          </a:p>
        </p:txBody>
      </p:sp>
      <p:sp>
        <p:nvSpPr>
          <p:cNvPr id="4" name="Content Placeholder 2"/>
          <p:cNvSpPr>
            <a:spLocks noGrp="1"/>
          </p:cNvSpPr>
          <p:nvPr>
            <p:ph idx="1"/>
          </p:nvPr>
        </p:nvSpPr>
        <p:spPr>
          <a:xfrm>
            <a:off x="381000" y="914401"/>
            <a:ext cx="3810000" cy="5334000"/>
          </a:xfrm>
        </p:spPr>
        <p:txBody>
          <a:bodyPr>
            <a:normAutofit fontScale="92500" lnSpcReduction="20000"/>
          </a:bodyPr>
          <a:lstStyle/>
          <a:p>
            <a:pPr marL="45720" indent="0" algn="just">
              <a:buNone/>
            </a:pPr>
            <a:r>
              <a:rPr lang="en-US" b="1" dirty="0">
                <a:solidFill>
                  <a:schemeClr val="tx1"/>
                </a:solidFill>
                <a:latin typeface="Times New Roman" panose="02020603050405020304" pitchFamily="18" charset="0"/>
                <a:cs typeface="Times New Roman" panose="02020603050405020304" pitchFamily="18" charset="0"/>
              </a:rPr>
              <a:t>Reversible Process </a:t>
            </a:r>
            <a:r>
              <a:rPr lang="en-US" dirty="0">
                <a:solidFill>
                  <a:schemeClr val="tx1"/>
                </a:solidFill>
                <a:latin typeface="Times New Roman" panose="02020603050405020304" pitchFamily="18" charset="0"/>
                <a:cs typeface="Times New Roman" panose="02020603050405020304" pitchFamily="18" charset="0"/>
              </a:rPr>
              <a:t>The process having the same path (traces of states) travel while reversed. Both the system and the surroundings may be restored to their initial states, without effect in the rest of universe. </a:t>
            </a:r>
          </a:p>
          <a:p>
            <a:pPr marL="45720" indent="0" algn="just">
              <a:buNone/>
            </a:pPr>
            <a:r>
              <a:rPr lang="en-US" dirty="0">
                <a:solidFill>
                  <a:schemeClr val="tx1"/>
                </a:solidFill>
                <a:latin typeface="Times New Roman" panose="02020603050405020304" pitchFamily="18" charset="0"/>
                <a:cs typeface="Times New Roman" panose="02020603050405020304" pitchFamily="18" charset="0"/>
              </a:rPr>
              <a:t>In a reversible process the system changes in such a way that the system and surroundings can be put back in their original states by exactly reversing the process.</a:t>
            </a:r>
          </a:p>
          <a:p>
            <a:pPr marL="45720" indent="0" algn="just">
              <a:buNone/>
            </a:pPr>
            <a:r>
              <a:rPr lang="en-US" dirty="0">
                <a:solidFill>
                  <a:schemeClr val="tx1"/>
                </a:solidFill>
                <a:latin typeface="Times New Roman" panose="02020603050405020304" pitchFamily="18" charset="0"/>
                <a:cs typeface="Times New Roman" panose="02020603050405020304" pitchFamily="18" charset="0"/>
              </a:rPr>
              <a:t>Changes are infinitesimally </a:t>
            </a:r>
            <a:r>
              <a:rPr lang="en-US" b="1" dirty="0">
                <a:solidFill>
                  <a:schemeClr val="tx1"/>
                </a:solidFill>
                <a:latin typeface="Times New Roman" panose="02020603050405020304" pitchFamily="18" charset="0"/>
                <a:cs typeface="Times New Roman" panose="02020603050405020304" pitchFamily="18" charset="0"/>
              </a:rPr>
              <a:t>small </a:t>
            </a:r>
            <a:r>
              <a:rPr lang="en-US" dirty="0">
                <a:solidFill>
                  <a:schemeClr val="tx1"/>
                </a:solidFill>
                <a:latin typeface="Times New Roman" panose="02020603050405020304" pitchFamily="18" charset="0"/>
                <a:cs typeface="Times New Roman" panose="02020603050405020304" pitchFamily="18" charset="0"/>
              </a:rPr>
              <a:t>in a reversible process.</a:t>
            </a:r>
          </a:p>
          <a:p>
            <a:pPr marL="45720" indent="0">
              <a:buNone/>
            </a:pPr>
            <a:endParaRPr lang="en-US" dirty="0"/>
          </a:p>
        </p:txBody>
      </p:sp>
      <p:pic>
        <p:nvPicPr>
          <p:cNvPr id="5" name="Picture 4" descr="19_04ab"/>
          <p:cNvPicPr/>
          <p:nvPr/>
        </p:nvPicPr>
        <p:blipFill>
          <a:blip r:embed="rId2">
            <a:extLst>
              <a:ext uri="{28A0092B-C50C-407E-A947-70E740481C1C}">
                <a14:useLocalDpi xmlns:a14="http://schemas.microsoft.com/office/drawing/2010/main" xmlns="" val="0"/>
              </a:ext>
            </a:extLst>
          </a:blip>
          <a:srcRect b="9120"/>
          <a:stretch>
            <a:fillRect/>
          </a:stretch>
        </p:blipFill>
        <p:spPr bwMode="auto">
          <a:xfrm>
            <a:off x="4648200" y="1143000"/>
            <a:ext cx="2833370" cy="46983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457200" y="304800"/>
            <a:ext cx="7467600" cy="6150936"/>
          </a:xfrm>
        </p:spPr>
        <p:txBody>
          <a:bodyPr>
            <a:normAutofit/>
          </a:bodyPr>
          <a:lstStyle/>
          <a:p>
            <a:pPr marL="45720" indent="0">
              <a:buNone/>
            </a:pPr>
            <a:endParaRPr lang="en-US" b="1" dirty="0" smtClean="0"/>
          </a:p>
          <a:p>
            <a:pPr marL="45720" indent="0">
              <a:buNone/>
            </a:pPr>
            <a:r>
              <a:rPr lang="en-US" b="1" dirty="0" smtClean="0">
                <a:solidFill>
                  <a:schemeClr val="tx1"/>
                </a:solidFill>
                <a:latin typeface="Times New Roman" panose="02020603050405020304" pitchFamily="18" charset="0"/>
                <a:cs typeface="Times New Roman" panose="02020603050405020304" pitchFamily="18" charset="0"/>
              </a:rPr>
              <a:t>Irreversible </a:t>
            </a:r>
            <a:r>
              <a:rPr lang="en-US" b="1" dirty="0">
                <a:solidFill>
                  <a:schemeClr val="tx1"/>
                </a:solidFill>
                <a:latin typeface="Times New Roman" panose="02020603050405020304" pitchFamily="18" charset="0"/>
                <a:cs typeface="Times New Roman" panose="02020603050405020304" pitchFamily="18" charset="0"/>
              </a:rPr>
              <a:t>Process </a:t>
            </a:r>
            <a:r>
              <a:rPr lang="en-US" dirty="0">
                <a:solidFill>
                  <a:schemeClr val="tx1"/>
                </a:solidFill>
                <a:latin typeface="Times New Roman" panose="02020603050405020304" pitchFamily="18" charset="0"/>
                <a:cs typeface="Times New Roman" panose="02020603050405020304" pitchFamily="18" charset="0"/>
              </a:rPr>
              <a:t>Almost all the real or actual processes are irreversible. (Non-equilibrium</a:t>
            </a:r>
            <a:r>
              <a:rPr lang="en-US" dirty="0" smtClean="0">
                <a:solidFill>
                  <a:schemeClr val="tx1"/>
                </a:solidFill>
                <a:latin typeface="Times New Roman" panose="02020603050405020304" pitchFamily="18" charset="0"/>
                <a:cs typeface="Times New Roman" panose="02020603050405020304" pitchFamily="18" charset="0"/>
              </a:rPr>
              <a:t>). Energy </a:t>
            </a:r>
            <a:r>
              <a:rPr lang="en-US" dirty="0">
                <a:solidFill>
                  <a:schemeClr val="tx1"/>
                </a:solidFill>
                <a:latin typeface="Times New Roman" panose="02020603050405020304" pitchFamily="18" charset="0"/>
                <a:cs typeface="Times New Roman" panose="02020603050405020304" pitchFamily="18" charset="0"/>
              </a:rPr>
              <a:t>Loss occurs during the real processes.</a:t>
            </a:r>
          </a:p>
          <a:p>
            <a:pPr lvl="0"/>
            <a:endParaRPr lang="en-US" dirty="0" smtClean="0">
              <a:solidFill>
                <a:schemeClr val="tx1"/>
              </a:solidFill>
              <a:latin typeface="Times New Roman" panose="02020603050405020304" pitchFamily="18" charset="0"/>
              <a:cs typeface="Times New Roman" panose="02020603050405020304" pitchFamily="18" charset="0"/>
            </a:endParaRPr>
          </a:p>
          <a:p>
            <a:pPr lvl="0"/>
            <a:endParaRPr lang="en-US" dirty="0">
              <a:solidFill>
                <a:schemeClr val="tx1"/>
              </a:solidFill>
              <a:latin typeface="Times New Roman" panose="02020603050405020304" pitchFamily="18" charset="0"/>
              <a:cs typeface="Times New Roman" panose="02020603050405020304" pitchFamily="18" charset="0"/>
            </a:endParaRPr>
          </a:p>
          <a:p>
            <a:pPr lvl="0"/>
            <a:endParaRPr lang="en-US" dirty="0" smtClean="0">
              <a:solidFill>
                <a:schemeClr val="tx1"/>
              </a:solidFill>
              <a:latin typeface="Times New Roman" panose="02020603050405020304" pitchFamily="18" charset="0"/>
              <a:cs typeface="Times New Roman" panose="02020603050405020304" pitchFamily="18" charset="0"/>
            </a:endParaRPr>
          </a:p>
          <a:p>
            <a:pPr lvl="0"/>
            <a:endParaRPr lang="en-US" dirty="0">
              <a:solidFill>
                <a:schemeClr val="tx1"/>
              </a:solidFill>
              <a:latin typeface="Times New Roman" panose="02020603050405020304" pitchFamily="18" charset="0"/>
              <a:cs typeface="Times New Roman" panose="02020603050405020304" pitchFamily="18" charset="0"/>
            </a:endParaRPr>
          </a:p>
          <a:p>
            <a:pPr lvl="0"/>
            <a:endParaRPr lang="en-US" dirty="0" smtClean="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solidFill>
                  <a:schemeClr val="tx1"/>
                </a:solidFill>
                <a:latin typeface="Times New Roman" panose="02020603050405020304" pitchFamily="18" charset="0"/>
                <a:cs typeface="Times New Roman" panose="02020603050405020304" pitchFamily="18" charset="0"/>
              </a:rPr>
              <a:t>Irreversible </a:t>
            </a:r>
            <a:r>
              <a:rPr lang="en-US" dirty="0">
                <a:solidFill>
                  <a:schemeClr val="tx1"/>
                </a:solidFill>
                <a:latin typeface="Times New Roman" panose="02020603050405020304" pitchFamily="18" charset="0"/>
                <a:cs typeface="Times New Roman" panose="02020603050405020304" pitchFamily="18" charset="0"/>
              </a:rPr>
              <a:t>processes cannot be undone by exactly reversing the change to the system.</a:t>
            </a:r>
          </a:p>
          <a:p>
            <a:pPr lvl="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All </a:t>
            </a:r>
            <a:r>
              <a:rPr lang="en-US" b="1" dirty="0">
                <a:solidFill>
                  <a:schemeClr val="tx1"/>
                </a:solidFill>
                <a:latin typeface="Times New Roman" panose="02020603050405020304" pitchFamily="18" charset="0"/>
                <a:cs typeface="Times New Roman" panose="02020603050405020304" pitchFamily="18" charset="0"/>
              </a:rPr>
              <a:t>Spontaneous</a:t>
            </a:r>
            <a:r>
              <a:rPr lang="en-US" dirty="0">
                <a:solidFill>
                  <a:schemeClr val="tx1"/>
                </a:solidFill>
                <a:latin typeface="Times New Roman" panose="02020603050405020304" pitchFamily="18" charset="0"/>
                <a:cs typeface="Times New Roman" panose="02020603050405020304" pitchFamily="18" charset="0"/>
              </a:rPr>
              <a:t> processes are </a:t>
            </a:r>
            <a:r>
              <a:rPr lang="en-US" b="1" dirty="0">
                <a:solidFill>
                  <a:schemeClr val="tx1"/>
                </a:solidFill>
                <a:latin typeface="Times New Roman" panose="02020603050405020304" pitchFamily="18" charset="0"/>
                <a:cs typeface="Times New Roman" panose="02020603050405020304" pitchFamily="18" charset="0"/>
              </a:rPr>
              <a:t>irreversible</a:t>
            </a:r>
            <a:r>
              <a:rPr lang="en-US" dirty="0">
                <a:solidFill>
                  <a:schemeClr val="tx1"/>
                </a:solidFill>
                <a:latin typeface="Times New Roman" panose="02020603050405020304" pitchFamily="18" charset="0"/>
                <a:cs typeface="Times New Roman" panose="02020603050405020304" pitchFamily="18" charset="0"/>
              </a:rPr>
              <a:t>.</a:t>
            </a:r>
          </a:p>
          <a:p>
            <a:pPr lvl="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All </a:t>
            </a:r>
            <a:r>
              <a:rPr lang="en-US" b="1" dirty="0">
                <a:solidFill>
                  <a:schemeClr val="tx1"/>
                </a:solidFill>
                <a:latin typeface="Times New Roman" panose="02020603050405020304" pitchFamily="18" charset="0"/>
                <a:cs typeface="Times New Roman" panose="02020603050405020304" pitchFamily="18" charset="0"/>
              </a:rPr>
              <a:t>Real</a:t>
            </a:r>
            <a:r>
              <a:rPr lang="en-US" dirty="0">
                <a:solidFill>
                  <a:schemeClr val="tx1"/>
                </a:solidFill>
                <a:latin typeface="Times New Roman" panose="02020603050405020304" pitchFamily="18" charset="0"/>
                <a:cs typeface="Times New Roman" panose="02020603050405020304" pitchFamily="18" charset="0"/>
              </a:rPr>
              <a:t> processes are </a:t>
            </a:r>
            <a:r>
              <a:rPr lang="en-US" b="1" dirty="0">
                <a:solidFill>
                  <a:schemeClr val="tx1"/>
                </a:solidFill>
                <a:latin typeface="Times New Roman" panose="02020603050405020304" pitchFamily="18" charset="0"/>
                <a:cs typeface="Times New Roman" panose="02020603050405020304" pitchFamily="18" charset="0"/>
              </a:rPr>
              <a:t>irreversible</a:t>
            </a:r>
            <a:r>
              <a:rPr lang="en-US" dirty="0">
                <a:solidFill>
                  <a:schemeClr val="tx1"/>
                </a:solidFill>
                <a:latin typeface="Times New Roman" panose="02020603050405020304" pitchFamily="18" charset="0"/>
                <a:cs typeface="Times New Roman" panose="02020603050405020304" pitchFamily="18" charset="0"/>
              </a:rPr>
              <a:t>. </a:t>
            </a:r>
          </a:p>
          <a:p>
            <a:pPr marL="45720" indent="0">
              <a:buNone/>
            </a:pPr>
            <a:endParaRPr lang="en-US" dirty="0"/>
          </a:p>
        </p:txBody>
      </p:sp>
      <p:pic>
        <p:nvPicPr>
          <p:cNvPr id="5" name="Picture 4" descr="19_05a-c"/>
          <p:cNvPicPr/>
          <p:nvPr/>
        </p:nvPicPr>
        <p:blipFill>
          <a:blip r:embed="rId2" cstate="print">
            <a:extLst>
              <a:ext uri="{28A0092B-C50C-407E-A947-70E740481C1C}">
                <a14:useLocalDpi xmlns:a14="http://schemas.microsoft.com/office/drawing/2010/main" xmlns="" val="0"/>
              </a:ext>
            </a:extLst>
          </a:blip>
          <a:srcRect b="19183"/>
          <a:stretch>
            <a:fillRect/>
          </a:stretch>
        </p:blipFill>
        <p:spPr bwMode="auto">
          <a:xfrm>
            <a:off x="533400" y="2362200"/>
            <a:ext cx="7068855" cy="1492564"/>
          </a:xfrm>
          <a:prstGeom prst="rect">
            <a:avLst/>
          </a:prstGeom>
          <a:noFill/>
          <a:ln>
            <a:noFill/>
          </a:ln>
          <a:effectLst/>
          <a:ex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Temperature </a:t>
            </a:r>
            <a:endParaRPr lang="en-US" dirty="0"/>
          </a:p>
        </p:txBody>
      </p:sp>
      <p:sp>
        <p:nvSpPr>
          <p:cNvPr id="3" name="Content Placeholder 2"/>
          <p:cNvSpPr>
            <a:spLocks noGrp="1"/>
          </p:cNvSpPr>
          <p:nvPr>
            <p:ph idx="1"/>
          </p:nvPr>
        </p:nvSpPr>
        <p:spPr/>
        <p:txBody>
          <a:bodyPr/>
          <a:lstStyle/>
          <a:p>
            <a:r>
              <a:rPr lang="en-US" dirty="0" smtClean="0"/>
              <a:t>Thermodynamics – science of temperature </a:t>
            </a:r>
          </a:p>
          <a:p>
            <a:r>
              <a:rPr lang="en-US" dirty="0" smtClean="0"/>
              <a:t>Temperature – is associated with ability to differentiate the hot from cold. </a:t>
            </a:r>
          </a:p>
          <a:p>
            <a:r>
              <a:rPr lang="en-US" dirty="0" smtClean="0"/>
              <a:t>Thermal equilibrium – When two bodies at deferent temperature are brought into contact, some time later they attain a common temperature – now they are in thermal equilibrium.</a:t>
            </a:r>
            <a:endParaRPr lang="en-US" dirty="0"/>
          </a:p>
        </p:txBody>
      </p:sp>
    </p:spTree>
    <p:extLst>
      <p:ext uri="{BB962C8B-B14F-4D97-AF65-F5344CB8AC3E}">
        <p14:creationId xmlns="" xmlns:p14="http://schemas.microsoft.com/office/powerpoint/2010/main" val="73249954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57200"/>
            <a:ext cx="7848600" cy="624840"/>
          </a:xfrm>
        </p:spPr>
        <p:txBody>
          <a:bodyPr>
            <a:normAutofit fontScale="90000"/>
          </a:bodyPr>
          <a:lstStyle/>
          <a:p>
            <a:r>
              <a:rPr lang="en-US" sz="4000" dirty="0" err="1" smtClean="0"/>
              <a:t>Zeroth</a:t>
            </a:r>
            <a:r>
              <a:rPr lang="en-US" sz="4000" dirty="0" smtClean="0"/>
              <a:t> law of Thermodynamics</a:t>
            </a:r>
            <a:endParaRPr lang="en-US" sz="4000" dirty="0"/>
          </a:p>
        </p:txBody>
      </p:sp>
      <p:sp>
        <p:nvSpPr>
          <p:cNvPr id="3" name="Content Placeholder 2"/>
          <p:cNvSpPr>
            <a:spLocks noGrp="1"/>
          </p:cNvSpPr>
          <p:nvPr>
            <p:ph idx="1"/>
          </p:nvPr>
        </p:nvSpPr>
        <p:spPr/>
        <p:txBody>
          <a:bodyPr/>
          <a:lstStyle/>
          <a:p>
            <a:r>
              <a:rPr lang="en-US" dirty="0" smtClean="0"/>
              <a:t>Base for all temperature measurement. </a:t>
            </a:r>
          </a:p>
          <a:p>
            <a:r>
              <a:rPr lang="en-US" dirty="0" smtClean="0"/>
              <a:t>Thermal equilibrium is the key word for </a:t>
            </a:r>
            <a:r>
              <a:rPr lang="en-US" dirty="0" err="1" smtClean="0"/>
              <a:t>zeroth</a:t>
            </a:r>
            <a:r>
              <a:rPr lang="en-US" dirty="0" smtClean="0"/>
              <a:t> law.</a:t>
            </a:r>
          </a:p>
          <a:p>
            <a:endParaRPr lang="en-US" dirty="0" smtClean="0"/>
          </a:p>
          <a:p>
            <a:pPr marL="0" indent="0">
              <a:spcBef>
                <a:spcPts val="568"/>
              </a:spcBef>
              <a:buNone/>
            </a:pPr>
            <a:r>
              <a:rPr lang="en-US" dirty="0" smtClean="0"/>
              <a:t>Definition: When a body A is in thermal equilibrium with a body B, and also separately with a body C, then B and C will be in thermal equilibrium with each other</a:t>
            </a:r>
            <a:endParaRPr lang="en-US" dirty="0"/>
          </a:p>
        </p:txBody>
      </p:sp>
    </p:spTree>
    <p:extLst>
      <p:ext uri="{BB962C8B-B14F-4D97-AF65-F5344CB8AC3E}">
        <p14:creationId xmlns="" xmlns:p14="http://schemas.microsoft.com/office/powerpoint/2010/main" val="25341324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Thermodynamic </a:t>
            </a:r>
            <a:r>
              <a:rPr lang="en-US" dirty="0" err="1" smtClean="0"/>
              <a:t>Equillibirium</a:t>
            </a:r>
            <a:endParaRPr lang="en-US" dirty="0"/>
          </a:p>
        </p:txBody>
      </p:sp>
      <p:pic>
        <p:nvPicPr>
          <p:cNvPr id="4" name="Content Placeholder 3"/>
          <p:cNvPicPr>
            <a:picLocks noGrp="1" noChangeAspect="1"/>
          </p:cNvPicPr>
          <p:nvPr>
            <p:ph idx="1"/>
          </p:nvPr>
        </p:nvPicPr>
        <p:blipFill rotWithShape="1">
          <a:blip r:embed="rId2">
            <a:extLst>
              <a:ext uri="{28A0092B-C50C-407E-A947-70E740481C1C}">
                <a14:useLocalDpi xmlns="" xmlns:a14="http://schemas.microsoft.com/office/drawing/2010/main" val="0"/>
              </a:ext>
            </a:extLst>
          </a:blip>
          <a:srcRect l="17725" t="28292" r="21362" b="6055"/>
          <a:stretch/>
        </p:blipFill>
        <p:spPr>
          <a:xfrm>
            <a:off x="381000" y="1828800"/>
            <a:ext cx="7632930" cy="4406245"/>
          </a:xfrm>
        </p:spPr>
      </p:pic>
    </p:spTree>
    <p:extLst>
      <p:ext uri="{BB962C8B-B14F-4D97-AF65-F5344CB8AC3E}">
        <p14:creationId xmlns="" xmlns:p14="http://schemas.microsoft.com/office/powerpoint/2010/main" val="383967856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Temperature Scales </a:t>
            </a:r>
            <a:endParaRPr lang="en-US" dirty="0"/>
          </a:p>
        </p:txBody>
      </p:sp>
      <p:sp>
        <p:nvSpPr>
          <p:cNvPr id="3" name="Content Placeholder 2"/>
          <p:cNvSpPr>
            <a:spLocks noGrp="1"/>
          </p:cNvSpPr>
          <p:nvPr>
            <p:ph idx="1"/>
          </p:nvPr>
        </p:nvSpPr>
        <p:spPr/>
        <p:txBody>
          <a:bodyPr>
            <a:normAutofit/>
          </a:bodyPr>
          <a:lstStyle/>
          <a:p>
            <a:r>
              <a:rPr lang="en-US" dirty="0" smtClean="0"/>
              <a:t> All temperature scales are based on some easily reproducible states such as the freezing and boiling points of water, which are also called the ice point and the steam point</a:t>
            </a:r>
          </a:p>
          <a:p>
            <a:pPr>
              <a:buFont typeface="Courier New" pitchFamily="49" charset="0"/>
              <a:buChar char="o"/>
            </a:pPr>
            <a:r>
              <a:rPr lang="en-US" dirty="0" smtClean="0"/>
              <a:t>Celsius Temperature Scale</a:t>
            </a:r>
          </a:p>
          <a:p>
            <a:pPr>
              <a:buFont typeface="Courier New" pitchFamily="49" charset="0"/>
              <a:buChar char="o"/>
            </a:pPr>
            <a:r>
              <a:rPr lang="en-US" dirty="0" smtClean="0"/>
              <a:t>Fahrenheit scale </a:t>
            </a:r>
          </a:p>
          <a:p>
            <a:pPr>
              <a:buFont typeface="Courier New" pitchFamily="49" charset="0"/>
              <a:buChar char="o"/>
            </a:pPr>
            <a:r>
              <a:rPr lang="en-US" dirty="0" smtClean="0"/>
              <a:t>Kelvin scale</a:t>
            </a:r>
          </a:p>
          <a:p>
            <a:endParaRPr lang="en-US" dirty="0"/>
          </a:p>
        </p:txBody>
      </p:sp>
    </p:spTree>
    <p:extLst>
      <p:ext uri="{BB962C8B-B14F-4D97-AF65-F5344CB8AC3E}">
        <p14:creationId xmlns="" xmlns:p14="http://schemas.microsoft.com/office/powerpoint/2010/main" val="89018491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Celsius Temperature Scale</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 Celsius temperature scale employs a degree of the same magnitude as that of the ideal gas scale, but its zero point is shifted, so that the Celsius temperature of the triple point of water is 0.01 degree Celsius or 0.01°C. If t denotes the Celsius temperature, </a:t>
            </a:r>
          </a:p>
          <a:p>
            <a:pPr marL="0" indent="0">
              <a:buNone/>
            </a:pPr>
            <a:r>
              <a:rPr lang="en-US" dirty="0"/>
              <a:t> </a:t>
            </a:r>
            <a:r>
              <a:rPr lang="en-US" dirty="0" smtClean="0"/>
              <a:t>    then t = T- 273.15</a:t>
            </a:r>
          </a:p>
          <a:p>
            <a:r>
              <a:rPr lang="en-US" dirty="0" smtClean="0"/>
              <a:t>Thus the Celsius temperature </a:t>
            </a:r>
            <a:r>
              <a:rPr lang="en-US" dirty="0" err="1" smtClean="0"/>
              <a:t>ts</a:t>
            </a:r>
            <a:r>
              <a:rPr lang="en-US" dirty="0" smtClean="0"/>
              <a:t> at which steam condenses at I atm. pressure </a:t>
            </a:r>
          </a:p>
          <a:p>
            <a:r>
              <a:rPr lang="en-US" dirty="0" err="1" smtClean="0"/>
              <a:t>ts</a:t>
            </a:r>
            <a:r>
              <a:rPr lang="en-US" dirty="0" smtClean="0"/>
              <a:t> = </a:t>
            </a:r>
            <a:r>
              <a:rPr lang="en-US" dirty="0" err="1" smtClean="0"/>
              <a:t>Ts</a:t>
            </a:r>
            <a:r>
              <a:rPr lang="en-US" dirty="0" smtClean="0"/>
              <a:t> - 273.15 = 373.15 - 273.15= 100.00°C</a:t>
            </a:r>
          </a:p>
          <a:p>
            <a:r>
              <a:rPr lang="en-US" dirty="0" smtClean="0"/>
              <a:t>Similar measurements for ice points show this temperature on the Celsius scale to be 0.00°C. The only Celsius temperature which is fixed by definition is that of the triple point</a:t>
            </a:r>
            <a:endParaRPr lang="en-US" dirty="0"/>
          </a:p>
        </p:txBody>
      </p:sp>
    </p:spTree>
    <p:extLst>
      <p:ext uri="{BB962C8B-B14F-4D97-AF65-F5344CB8AC3E}">
        <p14:creationId xmlns="" xmlns:p14="http://schemas.microsoft.com/office/powerpoint/2010/main" val="413604720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Fahrenheit scale</a:t>
            </a:r>
          </a:p>
        </p:txBody>
      </p:sp>
      <p:sp>
        <p:nvSpPr>
          <p:cNvPr id="3" name="Content Placeholder 2"/>
          <p:cNvSpPr>
            <a:spLocks noGrp="1"/>
          </p:cNvSpPr>
          <p:nvPr>
            <p:ph idx="1"/>
          </p:nvPr>
        </p:nvSpPr>
        <p:spPr/>
        <p:txBody>
          <a:bodyPr>
            <a:normAutofit/>
          </a:bodyPr>
          <a:lstStyle/>
          <a:p>
            <a:r>
              <a:rPr lang="en-US" dirty="0"/>
              <a:t>the freezing point of water </a:t>
            </a:r>
            <a:r>
              <a:rPr lang="en-US" dirty="0" smtClean="0"/>
              <a:t>is 32 degrees Fahrenheit </a:t>
            </a:r>
            <a:r>
              <a:rPr lang="en-US" dirty="0"/>
              <a:t>(°F) and the </a:t>
            </a:r>
            <a:r>
              <a:rPr lang="en-US" dirty="0" smtClean="0"/>
              <a:t>boiling point is </a:t>
            </a:r>
            <a:r>
              <a:rPr lang="en-US" dirty="0"/>
              <a:t>212 °</a:t>
            </a:r>
            <a:r>
              <a:rPr lang="en-US" dirty="0" smtClean="0"/>
              <a:t>F.</a:t>
            </a:r>
          </a:p>
          <a:p>
            <a:r>
              <a:rPr lang="en-US" dirty="0"/>
              <a:t>On the Celsius scale, the freezing and boiling points of water are 100 degrees apart. A temperature interval of 1 °F is equal to an interval of ​</a:t>
            </a:r>
            <a:r>
              <a:rPr lang="en-US" baseline="30000" dirty="0"/>
              <a:t>5</a:t>
            </a:r>
            <a:r>
              <a:rPr lang="en-US" dirty="0"/>
              <a:t>⁄</a:t>
            </a:r>
            <a:r>
              <a:rPr lang="en-US" baseline="-25000" dirty="0"/>
              <a:t>9</a:t>
            </a:r>
            <a:r>
              <a:rPr lang="en-US" dirty="0"/>
              <a:t> degrees Celsius. The Fahrenheit and Celsius scales intersect at −40° (i.e., −40 °F = −40 °C</a:t>
            </a:r>
            <a:r>
              <a:rPr lang="en-US" dirty="0" smtClean="0"/>
              <a:t>).</a:t>
            </a:r>
          </a:p>
          <a:p>
            <a:r>
              <a:rPr lang="en-US" i="1" dirty="0"/>
              <a:t>f</a:t>
            </a:r>
            <a:r>
              <a:rPr lang="en-US" dirty="0"/>
              <a:t> °Fahrenheit to </a:t>
            </a:r>
            <a:r>
              <a:rPr lang="en-US" i="1" dirty="0"/>
              <a:t>c</a:t>
            </a:r>
            <a:r>
              <a:rPr lang="en-US" dirty="0"/>
              <a:t> °Celsius : (</a:t>
            </a:r>
            <a:r>
              <a:rPr lang="en-US" b="1" i="1" dirty="0"/>
              <a:t>f</a:t>
            </a:r>
            <a:r>
              <a:rPr lang="en-US" dirty="0"/>
              <a:t> − 32) °F × 5°C/9°F = </a:t>
            </a:r>
            <a:r>
              <a:rPr lang="en-US" b="1" dirty="0"/>
              <a:t>(</a:t>
            </a:r>
            <a:r>
              <a:rPr lang="en-US" b="1" i="1" dirty="0"/>
              <a:t>f</a:t>
            </a:r>
            <a:r>
              <a:rPr lang="en-US" b="1" dirty="0"/>
              <a:t> </a:t>
            </a:r>
            <a:r>
              <a:rPr lang="en-US" dirty="0"/>
              <a:t>− 32)/1.8 °C = </a:t>
            </a:r>
            <a:r>
              <a:rPr lang="en-US" b="1" i="1" dirty="0"/>
              <a:t>c</a:t>
            </a:r>
            <a:r>
              <a:rPr lang="en-US" b="1" dirty="0"/>
              <a:t> </a:t>
            </a:r>
            <a:r>
              <a:rPr lang="en-US" dirty="0"/>
              <a:t>°C </a:t>
            </a:r>
          </a:p>
        </p:txBody>
      </p:sp>
    </p:spTree>
    <p:extLst>
      <p:ext uri="{BB962C8B-B14F-4D97-AF65-F5344CB8AC3E}">
        <p14:creationId xmlns="" xmlns:p14="http://schemas.microsoft.com/office/powerpoint/2010/main" val="403926562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Kelvin Scale</a:t>
            </a:r>
            <a:br>
              <a:rPr lang="en-US" dirty="0"/>
            </a:br>
            <a:endParaRPr lang="en-US" dirty="0"/>
          </a:p>
        </p:txBody>
      </p:sp>
      <p:sp>
        <p:nvSpPr>
          <p:cNvPr id="3" name="Content Placeholder 2"/>
          <p:cNvSpPr>
            <a:spLocks noGrp="1"/>
          </p:cNvSpPr>
          <p:nvPr>
            <p:ph idx="1"/>
          </p:nvPr>
        </p:nvSpPr>
        <p:spPr>
          <a:xfrm>
            <a:off x="457200" y="1066800"/>
            <a:ext cx="7543800" cy="5715000"/>
          </a:xfrm>
        </p:spPr>
        <p:txBody>
          <a:bodyPr>
            <a:normAutofit fontScale="77500" lnSpcReduction="20000"/>
          </a:bodyPr>
          <a:lstStyle/>
          <a:p>
            <a:pPr marL="0" indent="0">
              <a:buNone/>
            </a:pPr>
            <a:r>
              <a:rPr lang="en-US" dirty="0"/>
              <a:t>T</a:t>
            </a:r>
            <a:r>
              <a:rPr lang="en-US" dirty="0" smtClean="0"/>
              <a:t>he </a:t>
            </a:r>
            <a:r>
              <a:rPr lang="en-US" dirty="0"/>
              <a:t>lower standard point on this scale is 273K and upper standard point is 373K. There 273 divisions below lower standard point. Its 0K is equal to -273</a:t>
            </a:r>
            <a:r>
              <a:rPr lang="en-US" baseline="30000" dirty="0"/>
              <a:t>o</a:t>
            </a:r>
            <a:r>
              <a:rPr lang="en-US" dirty="0"/>
              <a:t>C. To convert </a:t>
            </a:r>
            <a:r>
              <a:rPr lang="en-US" dirty="0" err="1"/>
              <a:t>celsius</a:t>
            </a:r>
            <a:r>
              <a:rPr lang="en-US" dirty="0"/>
              <a:t> temperature to kelvin temperature following formulas is used.</a:t>
            </a:r>
          </a:p>
          <a:p>
            <a:pPr marL="0" indent="0">
              <a:buNone/>
            </a:pPr>
            <a:r>
              <a:rPr lang="en-US" dirty="0"/>
              <a:t>Temperature in Kelvin = Temperature in </a:t>
            </a:r>
            <a:r>
              <a:rPr lang="en-US" baseline="30000" dirty="0" err="1"/>
              <a:t>o</a:t>
            </a:r>
            <a:r>
              <a:rPr lang="en-US" dirty="0" err="1"/>
              <a:t>C</a:t>
            </a:r>
            <a:r>
              <a:rPr lang="en-US" dirty="0"/>
              <a:t> + 273</a:t>
            </a:r>
          </a:p>
          <a:p>
            <a:pPr marL="0" indent="0">
              <a:buNone/>
            </a:pPr>
            <a:r>
              <a:rPr lang="en-US" dirty="0"/>
              <a:t>For example, 30</a:t>
            </a:r>
            <a:r>
              <a:rPr lang="en-US" baseline="30000" dirty="0"/>
              <a:t>o</a:t>
            </a:r>
            <a:r>
              <a:rPr lang="en-US" dirty="0"/>
              <a:t>C = (30+273) = 303K</a:t>
            </a:r>
          </a:p>
          <a:p>
            <a:pPr marL="0" indent="0">
              <a:buNone/>
            </a:pPr>
            <a:r>
              <a:rPr lang="en-US" dirty="0"/>
              <a:t>Conversely, (353-273) = 80</a:t>
            </a:r>
            <a:r>
              <a:rPr lang="en-US" baseline="30000" dirty="0"/>
              <a:t>o</a:t>
            </a:r>
            <a:r>
              <a:rPr lang="en-US" dirty="0"/>
              <a:t>C</a:t>
            </a:r>
          </a:p>
          <a:p>
            <a:pPr marL="0" indent="0">
              <a:buNone/>
            </a:pPr>
            <a:r>
              <a:rPr lang="en-US" dirty="0"/>
              <a:t>To convert temperature from </a:t>
            </a:r>
            <a:r>
              <a:rPr lang="en-US" dirty="0" err="1"/>
              <a:t>celsius</a:t>
            </a:r>
            <a:r>
              <a:rPr lang="en-US" dirty="0"/>
              <a:t> scale to kelvin scale the value is increased numerically by 273. Therefore, the temperature on the kelvin scale and </a:t>
            </a:r>
            <a:r>
              <a:rPr lang="en-US" dirty="0" err="1"/>
              <a:t>celsius</a:t>
            </a:r>
            <a:r>
              <a:rPr lang="en-US" dirty="0"/>
              <a:t> scale are related to each other as follows.</a:t>
            </a:r>
          </a:p>
          <a:p>
            <a:pPr marL="0" indent="0">
              <a:buNone/>
            </a:pPr>
            <a:r>
              <a:rPr lang="en-US" b="1" dirty="0"/>
              <a:t>T(K) = T(</a:t>
            </a:r>
            <a:r>
              <a:rPr lang="en-US" b="1" baseline="30000" dirty="0" err="1"/>
              <a:t>o</a:t>
            </a:r>
            <a:r>
              <a:rPr lang="en-US" b="1" dirty="0" err="1"/>
              <a:t>C</a:t>
            </a:r>
            <a:r>
              <a:rPr lang="en-US" b="1" dirty="0"/>
              <a:t>) + 273</a:t>
            </a:r>
            <a:endParaRPr lang="en-US" dirty="0"/>
          </a:p>
          <a:p>
            <a:pPr marL="0" indent="0">
              <a:buNone/>
            </a:pPr>
            <a:r>
              <a:rPr lang="en-US" dirty="0"/>
              <a:t>The </a:t>
            </a:r>
            <a:r>
              <a:rPr lang="en-US" dirty="0" err="1"/>
              <a:t>celsius</a:t>
            </a:r>
            <a:r>
              <a:rPr lang="en-US" dirty="0"/>
              <a:t> and the kelvin scales are used all over the world for scientific measurements. These scales are also found to be more convenient than the scales introduced by Fahrenheit and </a:t>
            </a:r>
            <a:r>
              <a:rPr lang="en-US" dirty="0" err="1"/>
              <a:t>Reaumer</a:t>
            </a:r>
            <a:r>
              <a:rPr lang="en-US" dirty="0"/>
              <a:t> which were commonly used till recently.</a:t>
            </a:r>
          </a:p>
          <a:p>
            <a:pPr marL="0" indent="0">
              <a:buNone/>
            </a:pPr>
            <a:r>
              <a:rPr lang="en-US" dirty="0"/>
              <a:t>The following formula is used for the conversion between different temperature scales.</a:t>
            </a:r>
          </a:p>
          <a:p>
            <a:pPr marL="0" indent="0">
              <a:buNone/>
            </a:pPr>
            <a:r>
              <a:rPr lang="en-US" b="1" dirty="0"/>
              <a:t>K-273/100 = C/100 = F-32/180 = R/80</a:t>
            </a:r>
            <a:endParaRPr lang="en-US" dirty="0"/>
          </a:p>
          <a:p>
            <a:endParaRPr lang="en-US" dirty="0"/>
          </a:p>
        </p:txBody>
      </p:sp>
    </p:spTree>
    <p:extLst>
      <p:ext uri="{BB962C8B-B14F-4D97-AF65-F5344CB8AC3E}">
        <p14:creationId xmlns="" xmlns:p14="http://schemas.microsoft.com/office/powerpoint/2010/main" val="200001478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411</TotalTime>
  <Words>1879</Words>
  <Application>Microsoft Office PowerPoint</Application>
  <PresentationFormat>On-screen Show (4:3)</PresentationFormat>
  <Paragraphs>265</Paragraphs>
  <Slides>53</Slides>
  <Notes>0</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Opulent</vt:lpstr>
      <vt:lpstr>WHAT IS THERMODYNAMICS?</vt:lpstr>
      <vt:lpstr>Applications of Engineering Thermodynamics</vt:lpstr>
      <vt:lpstr>  Scope of Thermodynamics</vt:lpstr>
      <vt:lpstr>Macroscopic Vs. microscopic approach</vt:lpstr>
      <vt:lpstr>Slide 5</vt:lpstr>
      <vt:lpstr>Slide 6</vt:lpstr>
      <vt:lpstr>Slide 7</vt:lpstr>
      <vt:lpstr>Slide 8</vt:lpstr>
      <vt:lpstr>Slide 9</vt:lpstr>
      <vt:lpstr>Types of system</vt:lpstr>
      <vt:lpstr>Control volume &amp; Control surface</vt:lpstr>
      <vt:lpstr>Thermodynamic properties</vt:lpstr>
      <vt:lpstr>Slide 13</vt:lpstr>
      <vt:lpstr>Slide 14</vt:lpstr>
      <vt:lpstr>       State, path, Process</vt:lpstr>
      <vt:lpstr>Point function &amp; path function</vt:lpstr>
      <vt:lpstr>  Path and Point Function</vt:lpstr>
      <vt:lpstr>               Heat &amp; Work</vt:lpstr>
      <vt:lpstr>           Sign Conventions</vt:lpstr>
      <vt:lpstr>Slide 20</vt:lpstr>
      <vt:lpstr>Closed system  System Interact with surroundings   Work transfer            Heat transfer </vt:lpstr>
      <vt:lpstr>Mechanics Definition</vt:lpstr>
      <vt:lpstr>Thermodynamic point view:</vt:lpstr>
      <vt:lpstr>Slide 24</vt:lpstr>
      <vt:lpstr>Displacement wWork done during Quasi – static process and Work:</vt:lpstr>
      <vt:lpstr>Limitations of integral P dv</vt:lpstr>
      <vt:lpstr>Mechanical Work Transfer</vt:lpstr>
      <vt:lpstr>Displacement PdV work</vt:lpstr>
      <vt:lpstr>Paddle Wheel work </vt:lpstr>
      <vt:lpstr>Flow Work </vt:lpstr>
      <vt:lpstr>Shaft Work </vt:lpstr>
      <vt:lpstr>Forms of Work</vt:lpstr>
      <vt:lpstr>P dv work in various Thermodynamic process (Reversible)</vt:lpstr>
      <vt:lpstr>P dv work in various Thermodynamic process (Reversible)</vt:lpstr>
      <vt:lpstr>Slide 35</vt:lpstr>
      <vt:lpstr>Slide 36</vt:lpstr>
      <vt:lpstr>Slide 37</vt:lpstr>
      <vt:lpstr>Heat</vt:lpstr>
      <vt:lpstr>Heat</vt:lpstr>
      <vt:lpstr>Similarities between Heat and Work</vt:lpstr>
      <vt:lpstr>Thermodynamic equilibrium</vt:lpstr>
      <vt:lpstr>       Quasi-static Process</vt:lpstr>
      <vt:lpstr>Slide 43</vt:lpstr>
      <vt:lpstr>               Reversible &amp; Irreversible process</vt:lpstr>
      <vt:lpstr>Slide 45</vt:lpstr>
      <vt:lpstr>Temperature </vt:lpstr>
      <vt:lpstr>Zeroth law of Thermodynamics</vt:lpstr>
      <vt:lpstr>Thermodynamic Equillibirium</vt:lpstr>
      <vt:lpstr>Temperature Scales </vt:lpstr>
      <vt:lpstr>Celsius Temperature Scale </vt:lpstr>
      <vt:lpstr>Fahrenheit scale</vt:lpstr>
      <vt:lpstr>Kelvin Scale </vt:lpstr>
      <vt:lpstr>Slide 53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concepts of thermodynamics</dc:title>
  <dc:creator>chiku</dc:creator>
  <cp:lastModifiedBy>91600</cp:lastModifiedBy>
  <cp:revision>51</cp:revision>
  <dcterms:created xsi:type="dcterms:W3CDTF">2018-08-12T09:34:21Z</dcterms:created>
  <dcterms:modified xsi:type="dcterms:W3CDTF">2026-08-21T06:32:22Z</dcterms:modified>
</cp:coreProperties>
</file>